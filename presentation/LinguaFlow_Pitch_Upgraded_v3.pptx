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15" d="100"/>
          <a:sy n="115" d="100"/>
        </p:scale>
        <p:origin x="70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Visual reference: user-provided LinguaFlow login screenshot at C:/Users/Admin/AppData/Local/Temp/codex-clipboard-70609fe4-503a-451b-93eb-303a79884f27.png</a:t>
            </a:r>
          </a:p>
          <a:p>
            <a:endParaRPr/>
          </a:p>
          <a:p>
            <a:r>
              <a:t>[Sources]</a:t>
            </a:r>
          </a:p>
          <a:p>
            <a:r>
              <a:t>- Visual reference: user-provided LinguaFlow login screenshot at C:/Users/Admin/AppData/Local/Temp/codex-clipboard-70609fe4-503a-451b-93eb-303a79884f27.png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Pain point chính không phải thiếu công cụ dịch, mà là bản dịch không hiểu người nhận, lĩnh vực và mạch hội thoại. Ba lỗi này làm người dùng phải tự sửa và dễ hiểu nhầm trong công việc.</a:t>
            </a:r>
          </a:p>
          <a:p>
            <a:endParaRPr/>
          </a:p>
          <a:p>
            <a:r>
              <a:t>[Sources]</a:t>
            </a:r>
          </a:p>
          <a:p>
            <a:r>
              <a:t>User mentor feedback in this task: emphasize role-aware address, domain terminology, and contextual translation.</a:t>
            </a:r>
          </a:p>
          <a:p>
            <a:r>
              <a:t>C:/Users/Admin/AppData/Local/Temp/codex-clipboard-5814da10-c5f6-450c-987d-7d93c9461aab.png</a:t>
            </a:r>
          </a:p>
          <a:p>
            <a:r>
              <a:t>C:/Users/Admin/AppData/Local/Temp/codex-clipboard-35b0e656-e5b4-4275-b023-cc68199e68bd.png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Market figures inherited from the user-provided deck E:/Downloads/LinguaFlow_Pitch.pptx.</a:t>
            </a:r>
          </a:p>
          <a:p>
            <a:r>
              <a:t>- These figures should be independently verified before an external investor or public presentation.</a:t>
            </a:r>
          </a:p>
          <a:p>
            <a:endParaRPr/>
          </a:p>
          <a:p>
            <a:r>
              <a:t>[Sources]</a:t>
            </a:r>
          </a:p>
          <a:p>
            <a:r>
              <a:t>- Market figures inherited from the user-provided deck E:/Downloads/LinguaFlow_Pitch.pptx.</a:t>
            </a:r>
          </a:p>
          <a:p>
            <a:r>
              <a:t>- These figures should be independently verified before an external investor or public presentation.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LinguaFlow dựng context theo từng người nhận trước khi dịch: quan hệ để chọn xưng hô, domain để chọn thuật ngữ, và lịch sử chat để giữ đúng mạch. Vì vậy cùng một tin nhắn có thể fan-out thành bản dịch phù hợp cho từng nhóm người đọc.</a:t>
            </a:r>
          </a:p>
          <a:p>
            <a:endParaRPr/>
          </a:p>
          <a:p>
            <a:r>
              <a:t>[Sources]</a:t>
            </a:r>
          </a:p>
          <a:p>
            <a:r>
              <a:t>D:/code/AITHUCCHIEN/project/P-217/src/services/context_builder.py</a:t>
            </a:r>
          </a:p>
          <a:p>
            <a:r>
              <a:t>D:/code/AITHUCCHIEN/project/P-217/src/services/translation_service.py</a:t>
            </a:r>
          </a:p>
          <a:p>
            <a:r>
              <a:t>D:/code/AITHUCCHIEN/project/P-217/src/services/glossary_service.py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 sánh cùng một đoạn chat. Teams cho bản dịch cứng và mất ngữ cảnh; LinguaFlow giữ đúng ngôn ngữ kỹ thuật như push, fix, staging và cách nói tự nhiên như ping mình. Câu đầu tiên được giữ trọn trong ảnh để người xem thấy bằng chứng ngay.</a:t>
            </a:r>
          </a:p>
          <a:p>
            <a:endParaRPr/>
          </a:p>
          <a:p>
            <a:r>
              <a:t>[Sources]</a:t>
            </a:r>
          </a:p>
          <a:p>
            <a:r>
              <a:t>C:/Users/Admin/AppData/Local/Temp/codex-clipboard-5814da10-c5f6-450c-987d-7d93c9461aab.png</a:t>
            </a:r>
          </a:p>
          <a:p>
            <a:r>
              <a:t>C:/Users/Admin/AppData/Local/Temp/codex-clipboard-35b0e656-e5b4-4275-b023-cc68199e68bd.png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Luồng agent gồm năm bước: nhận tin, đọc profile người nhận, chọn glossary theo domain, tạo bản dịch với LLM, rồi kiểm định và fallback. Điểm khác biệt là context được dựng trước khi gọi model, không chỉ ném một câu vào LLM.</a:t>
            </a:r>
          </a:p>
          <a:p>
            <a:endParaRPr/>
          </a:p>
          <a:p>
            <a:r>
              <a:t>[Sources]</a:t>
            </a:r>
          </a:p>
          <a:p>
            <a:r>
              <a:t>D:/code/AITHUCCHIEN/project/P-217/src/services/context_builder.py</a:t>
            </a:r>
          </a:p>
          <a:p>
            <a:r>
              <a:t>D:/code/AITHUCCHIEN/project/P-217/src/services/translation_service.py</a:t>
            </a:r>
          </a:p>
          <a:p>
            <a:r>
              <a:t>D:/code/AITHUCCHIEN/project/P-217/src/services/glossary_service.py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Local code: honorific profiles senior/peer/junior/client and relative-standing logic.</a:t>
            </a:r>
          </a:p>
          <a:p>
            <a:r>
              <a:t>- Local database inspection: 88 active glossary terms.</a:t>
            </a:r>
          </a:p>
          <a:p>
            <a:r>
              <a:t>- Glossary selection supports domain and audience scoping.</a:t>
            </a:r>
          </a:p>
          <a:p>
            <a:r>
              <a:t>- Current demo data has empty conversation domain/audience and peer profiles; automatic inference is implemented but should be demonstrated with seeded role/domain data.</a:t>
            </a:r>
          </a:p>
          <a:p>
            <a:endParaRPr/>
          </a:p>
          <a:p>
            <a:r>
              <a:t>[Sources]</a:t>
            </a:r>
          </a:p>
          <a:p>
            <a:r>
              <a:t>- Local code: honorific profiles senior/peer/junior/client and relative-standing logic.</a:t>
            </a:r>
          </a:p>
          <a:p>
            <a:r>
              <a:t>- Local database inspection: 88 active glossary terms.</a:t>
            </a:r>
          </a:p>
          <a:p>
            <a:r>
              <a:t>- Glossary selection supports domain and audience scoping.</a:t>
            </a:r>
          </a:p>
          <a:p>
            <a:r>
              <a:t>- Current demo data has empty conversation domain/audience and peer profiles; automatic inference is implemented but should be demonstrated with seeded role/domain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Local focused test run performed during this review: 43 passed, 1 warning.</a:t>
            </a:r>
          </a:p>
          <a:p>
            <a:r>
              <a:t>- Local eval report: eval/results/report.md — 62 samples, average judge score 0.912, target-language rate 96.6%.</a:t>
            </a:r>
          </a:p>
          <a:p>
            <a:r>
              <a:t>- Evaluation uses an LLM-as-judge, not human raters.</a:t>
            </a:r>
          </a:p>
          <a:p>
            <a:r>
              <a:t>- Production/deployment status inherited from the source deck and user-provided live-product screenshots.</a:t>
            </a:r>
          </a:p>
          <a:p>
            <a:endParaRPr/>
          </a:p>
          <a:p>
            <a:r>
              <a:t>[Sources]</a:t>
            </a:r>
          </a:p>
          <a:p>
            <a:r>
              <a:t>- Local focused test run performed during this review: 43 passed, 1 warning.</a:t>
            </a:r>
          </a:p>
          <a:p>
            <a:r>
              <a:t>- Local eval report: eval/results/report.md — 62 samples, average judge score 0.912, target-language rate 96.6%.</a:t>
            </a:r>
          </a:p>
          <a:p>
            <a:r>
              <a:t>- Evaluation uses an LLM-as-judge, not human raters.</a:t>
            </a:r>
          </a:p>
          <a:p>
            <a:r>
              <a:t>- Production/deployment status inherited from the source deck and user-provided live-product screenshots.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Trợ lý AI đang được nâng cấp. Backend đã có tóm tắt hội thoại, trích task/lịch hẹn, phát hiện mơ hồ và action proposal cần xác nhận; frontend vẫn còn phần state/localStorage và chưa hoàn tất tích hợp end-to-end. Hiện còn một test relative-time cần xử lý.</a:t>
            </a:r>
          </a:p>
          <a:p>
            <a:endParaRPr/>
          </a:p>
          <a:p>
            <a:r>
              <a:t>[Sources]</a:t>
            </a:r>
          </a:p>
          <a:p>
            <a:r>
              <a:t>D:/code/AITHUCCHIEN/project/P-217/src/services/assistant_mentions.py</a:t>
            </a:r>
          </a:p>
          <a:p>
            <a:r>
              <a:t>D:/code/AITHUCCHIEN/project/P-217/src/services/conversation_intelligence.py</a:t>
            </a:r>
          </a:p>
          <a:p>
            <a:r>
              <a:t>D:/code/AITHUCCHIEN/project/P-217/src/services/action_proposals.py</a:t>
            </a:r>
          </a:p>
          <a:p>
            <a:r>
              <a:t>D:/code/AITHUCCHIEN/project/P-217/frontend/src/features/chat/components/AssistantChat.tsx</a:t>
            </a:r>
          </a:p>
          <a:p>
            <a:r>
              <a:t>D:/code/AITHUCCHIEN/project/P-217/frontend/src/features/chat/components/PersonalCalendar.tsx</a:t>
            </a:r>
          </a:p>
          <a:p>
            <a:r>
              <a:t>Focused assistant test run: 54 passed, 1 failed (relative-time clarification).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Closing message and project identity based on the user-provided LinguaFlow deck.</a:t>
            </a:r>
          </a:p>
          <a:p>
            <a:endParaRPr/>
          </a:p>
          <a:p>
            <a:r>
              <a:t>[Sources]</a:t>
            </a:r>
          </a:p>
          <a:p>
            <a:r>
              <a:t>- Closing message and project identity based on the user-provided LinguaFlow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F5F7FF"/>
            </a:gs>
            <a:gs pos="52000">
              <a:srgbClr val="FFFFFF"/>
            </a:gs>
            <a:gs pos="100000">
              <a:srgbClr val="EEF2FF"/>
            </a:gs>
          </a:gsLst>
          <a:lin ang="1080000"/>
        </a:gradFill>
        <a:effectLst/>
      </p:bgPr>
    </p:bg>
    <p:spTree>
      <p:nvGrpSpPr>
        <p:cNvPr id="1" name=""/>
        <p:cNvGrpSpPr/>
        <p:nvPr/>
      </p:nvGrpSpPr>
      <p:grpSpPr>
        <a:xfrm>
          <a:off x="0" y="0"/>
          <a:ext cx="0" cy="0"/>
          <a:chOff x="0" y="0"/>
          <a:chExt cx="0" cy="0"/>
        </a:xfrm>
      </p:grpSpPr>
      <p:sp>
        <p:nvSpPr>
          <p:cNvPr id="16" name="Oval 15">
            <a:extLst>
              <a:ext uri="{FF2B5EF4-FFF2-40B4-BE49-F238E27FC236}">
                <a16:creationId xmlns:a16="http://schemas.microsoft.com/office/drawing/2014/main" id="{7863A973-7D2D-407C-9EA5-EFB301DB5F6A}"/>
              </a:ext>
            </a:extLst>
          </p:cNvPr>
          <p:cNvSpPr>
            <a:spLocks noGrp="1"/>
          </p:cNvSpPr>
          <p:nvPr/>
        </p:nvSpPr>
        <p:spPr>
          <a:xfrm>
            <a:off x="0" y="4857750"/>
            <a:ext cx="2857500" cy="2000250"/>
          </a:xfrm>
          <a:prstGeom prst="ellipse">
            <a:avLst/>
          </a:prstGeom>
          <a:gradFill>
            <a:gsLst>
              <a:gs pos="0">
                <a:srgbClr val="6D38F5">
                  <a:alpha val="18000"/>
                </a:srgbClr>
              </a:gs>
              <a:gs pos="72000">
                <a:srgbClr val="6D38F5">
                  <a:alpha val="0"/>
                </a:srgbClr>
              </a:gs>
            </a:gsLst>
            <a:path path="shape"/>
          </a:gradFill>
        </p:spPr>
        <p:txBody>
          <a:bodyPr/>
          <a:lstStyle/>
          <a:p>
            <a:endParaRPr lang="en-US"/>
          </a:p>
        </p:txBody>
      </p:sp>
      <p:sp>
        <p:nvSpPr>
          <p:cNvPr id="2" name="Oval 1">
            <a:extLst>
              <a:ext uri="{FF2B5EF4-FFF2-40B4-BE49-F238E27FC236}">
                <a16:creationId xmlns:a16="http://schemas.microsoft.com/office/drawing/2014/main" id="{B4F8DB11-AE70-4283-89E3-A526FA5A3A50}"/>
              </a:ext>
            </a:extLst>
          </p:cNvPr>
          <p:cNvSpPr>
            <a:spLocks noGrp="1"/>
          </p:cNvSpPr>
          <p:nvPr/>
        </p:nvSpPr>
        <p:spPr>
          <a:xfrm>
            <a:off x="9810750" y="0"/>
            <a:ext cx="2381250" cy="1809750"/>
          </a:xfrm>
          <a:prstGeom prst="ellipse">
            <a:avLst/>
          </a:prstGeom>
          <a:gradFill>
            <a:gsLst>
              <a:gs pos="0">
                <a:srgbClr val="246BFD">
                  <a:alpha val="18000"/>
                </a:srgbClr>
              </a:gs>
              <a:gs pos="72000">
                <a:srgbClr val="246BFD">
                  <a:alpha val="0"/>
                </a:srgbClr>
              </a:gs>
            </a:gsLst>
            <a:path path="shape"/>
          </a:gradFill>
        </p:spPr>
        <p:txBody>
          <a:bodyPr/>
          <a:lstStyle/>
          <a:p>
            <a:endParaRPr lang="en-US"/>
          </a:p>
        </p:txBody>
      </p:sp>
      <p:sp>
        <p:nvSpPr>
          <p:cNvPr id="3" name="Rectangle: Rounded Corners 2">
            <a:extLst>
              <a:ext uri="{FF2B5EF4-FFF2-40B4-BE49-F238E27FC236}">
                <a16:creationId xmlns:a16="http://schemas.microsoft.com/office/drawing/2014/main" id="{ED854639-D794-41E5-B5A0-4854BBA4AC60}"/>
              </a:ext>
            </a:extLst>
          </p:cNvPr>
          <p:cNvSpPr>
            <a:spLocks noGrp="1"/>
          </p:cNvSpPr>
          <p:nvPr/>
        </p:nvSpPr>
        <p:spPr>
          <a:xfrm>
            <a:off x="647700" y="552450"/>
            <a:ext cx="1809750" cy="304800"/>
          </a:xfrm>
          <a:prstGeom prst="roundRect">
            <a:avLst>
              <a:gd name="adj" fmla="val 50000"/>
            </a:avLst>
          </a:prstGeom>
          <a:solidFill>
            <a:srgbClr val="FFFFFF"/>
          </a:solidFill>
          <a:ln w="9525">
            <a:solidFill>
              <a:srgbClr val="DCE6F5"/>
            </a:solidFill>
            <a:prstDash val="solid"/>
          </a:ln>
        </p:spPr>
        <p:txBody>
          <a:bodyPr anchor="ctr"/>
          <a:lstStyle/>
          <a:p>
            <a:pPr algn="ctr">
              <a:buNone/>
              <a:defRPr sz="900" b="1">
                <a:solidFill>
                  <a:srgbClr val="246BFD"/>
                </a:solidFill>
                <a:latin typeface="Aptos"/>
                <a:ea typeface="Aptos"/>
                <a:cs typeface="Aptos"/>
              </a:defRPr>
            </a:pPr>
            <a:r>
              <a:rPr sz="900" b="1">
                <a:solidFill>
                  <a:srgbClr val="246BFD"/>
                </a:solidFill>
                <a:latin typeface="Aptos"/>
                <a:ea typeface="Aptos"/>
                <a:cs typeface="Aptos"/>
              </a:rPr>
              <a:t>LINGUAFLOW · P-217</a:t>
            </a:r>
          </a:p>
        </p:txBody>
      </p:sp>
      <p:sp>
        <p:nvSpPr>
          <p:cNvPr id="4" name="Rectangle 3">
            <a:extLst>
              <a:ext uri="{FF2B5EF4-FFF2-40B4-BE49-F238E27FC236}">
                <a16:creationId xmlns:a16="http://schemas.microsoft.com/office/drawing/2014/main" id="{D48362D2-E0BE-471E-939E-9DC1A3CD70E5}"/>
              </a:ext>
            </a:extLst>
          </p:cNvPr>
          <p:cNvSpPr>
            <a:spLocks noGrp="1"/>
          </p:cNvSpPr>
          <p:nvPr/>
        </p:nvSpPr>
        <p:spPr>
          <a:xfrm>
            <a:off x="647700" y="1447800"/>
            <a:ext cx="5429250" cy="1619250"/>
          </a:xfrm>
          <a:prstGeom prst="rect">
            <a:avLst/>
          </a:prstGeom>
          <a:noFill/>
        </p:spPr>
        <p:txBody>
          <a:bodyPr anchor="t"/>
          <a:lstStyle/>
          <a:p>
            <a:pPr algn="l">
              <a:buNone/>
              <a:defRPr sz="3900" b="1">
                <a:solidFill>
                  <a:srgbClr val="081B3A"/>
                </a:solidFill>
                <a:latin typeface="Aptos"/>
                <a:ea typeface="Aptos"/>
                <a:cs typeface="Aptos"/>
              </a:defRPr>
            </a:pPr>
            <a:r>
              <a:rPr sz="3900" b="1">
                <a:solidFill>
                  <a:srgbClr val="081B3A"/>
                </a:solidFill>
                <a:latin typeface="Aptos"/>
                <a:ea typeface="Aptos"/>
                <a:cs typeface="Aptos"/>
              </a:rPr>
              <a:t>Dịch đúng vai.</a:t>
            </a:r>
          </a:p>
          <a:p>
            <a:pPr algn="l">
              <a:buNone/>
              <a:defRPr sz="3900" b="1">
                <a:solidFill>
                  <a:srgbClr val="081B3A"/>
                </a:solidFill>
                <a:latin typeface="Aptos"/>
                <a:ea typeface="Aptos"/>
                <a:cs typeface="Aptos"/>
              </a:defRPr>
            </a:pPr>
            <a:r>
              <a:rPr sz="3900" b="1">
                <a:solidFill>
                  <a:srgbClr val="081B3A"/>
                </a:solidFill>
                <a:latin typeface="Aptos"/>
                <a:ea typeface="Aptos"/>
                <a:cs typeface="Aptos"/>
              </a:rPr>
              <a:t>Đúng ngành.</a:t>
            </a:r>
          </a:p>
        </p:txBody>
      </p:sp>
      <p:sp>
        <p:nvSpPr>
          <p:cNvPr id="5" name="Rectangle 4">
            <a:extLst>
              <a:ext uri="{FF2B5EF4-FFF2-40B4-BE49-F238E27FC236}">
                <a16:creationId xmlns:a16="http://schemas.microsoft.com/office/drawing/2014/main" id="{04E19E6F-7609-4BBD-A9F4-3128E61C100F}"/>
              </a:ext>
            </a:extLst>
          </p:cNvPr>
          <p:cNvSpPr>
            <a:spLocks noGrp="1"/>
          </p:cNvSpPr>
          <p:nvPr/>
        </p:nvSpPr>
        <p:spPr>
          <a:xfrm>
            <a:off x="647700" y="3143250"/>
            <a:ext cx="4953000" cy="419100"/>
          </a:xfrm>
          <a:prstGeom prst="rect">
            <a:avLst/>
          </a:prstGeom>
          <a:noFill/>
        </p:spPr>
        <p:txBody>
          <a:bodyPr anchor="t"/>
          <a:lstStyle/>
          <a:p>
            <a:pPr algn="l">
              <a:buNone/>
              <a:defRPr sz="1725" b="1">
                <a:solidFill>
                  <a:srgbClr val="6D38F5"/>
                </a:solidFill>
                <a:latin typeface="Aptos"/>
                <a:ea typeface="Aptos"/>
                <a:cs typeface="Aptos"/>
              </a:defRPr>
            </a:pPr>
            <a:r>
              <a:rPr sz="1725" b="1">
                <a:solidFill>
                  <a:srgbClr val="6D38F5"/>
                </a:solidFill>
                <a:latin typeface="Aptos"/>
                <a:ea typeface="Aptos"/>
                <a:cs typeface="Aptos"/>
              </a:rPr>
              <a:t>Ngay trong cuộc trò chuyện.</a:t>
            </a:r>
          </a:p>
        </p:txBody>
      </p:sp>
      <p:sp>
        <p:nvSpPr>
          <p:cNvPr id="6" name="Rectangle 5">
            <a:extLst>
              <a:ext uri="{FF2B5EF4-FFF2-40B4-BE49-F238E27FC236}">
                <a16:creationId xmlns:a16="http://schemas.microsoft.com/office/drawing/2014/main" id="{A3AC6C6A-0E45-4E45-97C4-61E2C4A4567A}"/>
              </a:ext>
            </a:extLst>
          </p:cNvPr>
          <p:cNvSpPr>
            <a:spLocks noGrp="1"/>
          </p:cNvSpPr>
          <p:nvPr/>
        </p:nvSpPr>
        <p:spPr>
          <a:xfrm>
            <a:off x="647700" y="3733800"/>
            <a:ext cx="4619625" cy="323850"/>
          </a:xfrm>
          <a:prstGeom prst="rect">
            <a:avLst/>
          </a:prstGeom>
          <a:noFill/>
        </p:spPr>
        <p:txBody>
          <a:bodyPr anchor="t"/>
          <a:lstStyle/>
          <a:p>
            <a:pPr algn="l">
              <a:buNone/>
              <a:defRPr sz="1350" b="0">
                <a:solidFill>
                  <a:srgbClr val="64748B"/>
                </a:solidFill>
                <a:latin typeface="Aptos"/>
                <a:ea typeface="Aptos"/>
                <a:cs typeface="Aptos"/>
              </a:defRPr>
            </a:pPr>
            <a:r>
              <a:rPr sz="1350" b="0">
                <a:solidFill>
                  <a:srgbClr val="64748B"/>
                </a:solidFill>
                <a:latin typeface="Aptos"/>
                <a:ea typeface="Aptos"/>
                <a:cs typeface="Aptos"/>
              </a:rPr>
              <a:t>AI translation cho đội ngũ đa ngôn ngữ</a:t>
            </a:r>
          </a:p>
        </p:txBody>
      </p:sp>
      <p:sp>
        <p:nvSpPr>
          <p:cNvPr id="7" name="Rectangle: Rounded Corners 6">
            <a:extLst>
              <a:ext uri="{FF2B5EF4-FFF2-40B4-BE49-F238E27FC236}">
                <a16:creationId xmlns:a16="http://schemas.microsoft.com/office/drawing/2014/main" id="{60C20833-3285-4552-9D7C-4845D8CC4E1B}"/>
              </a:ext>
            </a:extLst>
          </p:cNvPr>
          <p:cNvSpPr>
            <a:spLocks noGrp="1"/>
          </p:cNvSpPr>
          <p:nvPr/>
        </p:nvSpPr>
        <p:spPr>
          <a:xfrm>
            <a:off x="647700" y="4362450"/>
            <a:ext cx="1123950" cy="266700"/>
          </a:xfrm>
          <a:prstGeom prst="roundRect">
            <a:avLst>
              <a:gd name="adj" fmla="val 50000"/>
            </a:avLst>
          </a:prstGeom>
          <a:solidFill>
            <a:srgbClr val="246BFD">
              <a:alpha val="10000"/>
            </a:srgbClr>
          </a:solidFill>
          <a:ln w="9525">
            <a:solidFill>
              <a:srgbClr val="246BFD">
                <a:alpha val="25000"/>
              </a:srgbClr>
            </a:solidFill>
            <a:prstDash val="solid"/>
          </a:ln>
        </p:spPr>
        <p:txBody>
          <a:bodyPr anchor="ctr"/>
          <a:lstStyle/>
          <a:p>
            <a:pPr algn="ctr">
              <a:buNone/>
              <a:defRPr sz="900" b="1">
                <a:solidFill>
                  <a:srgbClr val="246BFD"/>
                </a:solidFill>
                <a:latin typeface="Aptos"/>
                <a:ea typeface="Aptos"/>
                <a:cs typeface="Aptos"/>
              </a:defRPr>
            </a:pPr>
            <a:r>
              <a:rPr sz="900" b="1">
                <a:solidFill>
                  <a:srgbClr val="246BFD"/>
                </a:solidFill>
                <a:latin typeface="Aptos"/>
                <a:ea typeface="Aptos"/>
                <a:cs typeface="Aptos"/>
              </a:rPr>
              <a:t>ROLE-AWARE</a:t>
            </a:r>
          </a:p>
        </p:txBody>
      </p:sp>
      <p:sp>
        <p:nvSpPr>
          <p:cNvPr id="8" name="Rectangle: Rounded Corners 7">
            <a:extLst>
              <a:ext uri="{FF2B5EF4-FFF2-40B4-BE49-F238E27FC236}">
                <a16:creationId xmlns:a16="http://schemas.microsoft.com/office/drawing/2014/main" id="{5F13B16D-62DC-4744-B4EF-0196E730634B}"/>
              </a:ext>
            </a:extLst>
          </p:cNvPr>
          <p:cNvSpPr>
            <a:spLocks noGrp="1"/>
          </p:cNvSpPr>
          <p:nvPr/>
        </p:nvSpPr>
        <p:spPr>
          <a:xfrm>
            <a:off x="1885950" y="4362450"/>
            <a:ext cx="1257300" cy="266700"/>
          </a:xfrm>
          <a:prstGeom prst="roundRect">
            <a:avLst>
              <a:gd name="adj" fmla="val 50000"/>
            </a:avLst>
          </a:prstGeom>
          <a:solidFill>
            <a:srgbClr val="6D38F5">
              <a:alpha val="10000"/>
            </a:srgbClr>
          </a:solidFill>
          <a:ln w="9525">
            <a:solidFill>
              <a:srgbClr val="6D38F5">
                <a:alpha val="25000"/>
              </a:srgbClr>
            </a:solidFill>
            <a:prstDash val="solid"/>
          </a:ln>
        </p:spPr>
        <p:txBody>
          <a:bodyPr anchor="ctr"/>
          <a:lstStyle/>
          <a:p>
            <a:pPr algn="ctr">
              <a:buNone/>
              <a:defRPr sz="900" b="1">
                <a:solidFill>
                  <a:srgbClr val="6D38F5"/>
                </a:solidFill>
                <a:latin typeface="Aptos"/>
                <a:ea typeface="Aptos"/>
                <a:cs typeface="Aptos"/>
              </a:defRPr>
            </a:pPr>
            <a:r>
              <a:rPr sz="900" b="1">
                <a:solidFill>
                  <a:srgbClr val="6D38F5"/>
                </a:solidFill>
                <a:latin typeface="Aptos"/>
                <a:ea typeface="Aptos"/>
                <a:cs typeface="Aptos"/>
              </a:rPr>
              <a:t>DOMAIN-AWARE</a:t>
            </a:r>
          </a:p>
        </p:txBody>
      </p:sp>
      <p:sp>
        <p:nvSpPr>
          <p:cNvPr id="9" name="Rectangle: Rounded Corners 8">
            <a:extLst>
              <a:ext uri="{FF2B5EF4-FFF2-40B4-BE49-F238E27FC236}">
                <a16:creationId xmlns:a16="http://schemas.microsoft.com/office/drawing/2014/main" id="{5FFCF99F-9F01-4708-A10A-92F3918EFCE3}"/>
              </a:ext>
            </a:extLst>
          </p:cNvPr>
          <p:cNvSpPr>
            <a:spLocks noGrp="1"/>
          </p:cNvSpPr>
          <p:nvPr/>
        </p:nvSpPr>
        <p:spPr>
          <a:xfrm>
            <a:off x="3257550" y="4362450"/>
            <a:ext cx="1314450" cy="266700"/>
          </a:xfrm>
          <a:prstGeom prst="roundRect">
            <a:avLst>
              <a:gd name="adj" fmla="val 50000"/>
            </a:avLst>
          </a:prstGeom>
          <a:solidFill>
            <a:srgbClr val="15B77E">
              <a:alpha val="10000"/>
            </a:srgbClr>
          </a:solidFill>
          <a:ln w="9525">
            <a:solidFill>
              <a:srgbClr val="15B77E">
                <a:alpha val="25000"/>
              </a:srgbClr>
            </a:solidFill>
            <a:prstDash val="solid"/>
          </a:ln>
        </p:spPr>
        <p:txBody>
          <a:bodyPr anchor="ctr"/>
          <a:lstStyle/>
          <a:p>
            <a:pPr algn="ctr">
              <a:buNone/>
              <a:defRPr sz="900" b="1">
                <a:solidFill>
                  <a:srgbClr val="15B77E"/>
                </a:solidFill>
                <a:latin typeface="Aptos"/>
                <a:ea typeface="Aptos"/>
                <a:cs typeface="Aptos"/>
              </a:defRPr>
            </a:pPr>
            <a:r>
              <a:rPr sz="900" b="1">
                <a:solidFill>
                  <a:srgbClr val="15B77E"/>
                </a:solidFill>
                <a:latin typeface="Aptos"/>
                <a:ea typeface="Aptos"/>
                <a:cs typeface="Aptos"/>
              </a:rPr>
              <a:t>REAL-TIME CHAT</a:t>
            </a:r>
          </a:p>
        </p:txBody>
      </p:sp>
      <p:sp>
        <p:nvSpPr>
          <p:cNvPr id="10" name="Rectangle: Rounded Corners 9">
            <a:extLst>
              <a:ext uri="{FF2B5EF4-FFF2-40B4-BE49-F238E27FC236}">
                <a16:creationId xmlns:a16="http://schemas.microsoft.com/office/drawing/2014/main" id="{9ECEA8F6-1EF7-4E75-8756-13464A144CED}"/>
              </a:ext>
            </a:extLst>
          </p:cNvPr>
          <p:cNvSpPr>
            <a:spLocks noGrp="1"/>
          </p:cNvSpPr>
          <p:nvPr/>
        </p:nvSpPr>
        <p:spPr>
          <a:xfrm>
            <a:off x="6115050" y="1352550"/>
            <a:ext cx="5429250" cy="3352800"/>
          </a:xfrm>
          <a:prstGeom prst="roundRect">
            <a:avLst>
              <a:gd name="adj" fmla="val 7955"/>
            </a:avLst>
          </a:prstGeom>
          <a:solidFill>
            <a:srgbClr val="FFFFFF"/>
          </a:solidFill>
          <a:ln w="9525">
            <a:solidFill>
              <a:srgbClr val="DCE6F5"/>
            </a:solidFill>
            <a:prstDash val="solid"/>
          </a:ln>
        </p:spPr>
        <p:style>
          <a:lnRef idx="0">
            <a:scrgbClr r="0" g="0" b="0"/>
          </a:lnRef>
          <a:fillRef idx="0">
            <a:scrgbClr r="0" g="0" b="0"/>
          </a:fillRef>
          <a:effectRef idx="7">
            <a:scrgbClr r="0" g="0" b="0"/>
          </a:effectRef>
          <a:fontRef idx="major"/>
        </p:style>
        <p:txBody>
          <a:bodyPr/>
          <a:lstStyle/>
          <a:p>
            <a:endParaRPr lang="en-US"/>
          </a:p>
        </p:txBody>
      </p:sp>
      <p:pic>
        <p:nvPicPr>
          <p:cNvPr id="28" name="Picture 27"/>
          <p:cNvPicPr>
            <a:picLocks noChangeAspect="1"/>
          </p:cNvPicPr>
          <p:nvPr/>
        </p:nvPicPr>
        <p:blipFill>
          <a:blip r:embed="rId3"/>
          <a:stretch/>
        </p:blipFill>
        <p:spPr>
          <a:xfrm>
            <a:off x="6286500" y="1525499"/>
            <a:ext cx="5086350" cy="2435401"/>
          </a:xfrm>
          <a:prstGeom prst="roundRect">
            <a:avLst>
              <a:gd name="adj" fmla="val 7813"/>
            </a:avLst>
          </a:prstGeom>
        </p:spPr>
      </p:pic>
      <p:sp>
        <p:nvSpPr>
          <p:cNvPr id="12" name="Rectangle 11">
            <a:extLst>
              <a:ext uri="{FF2B5EF4-FFF2-40B4-BE49-F238E27FC236}">
                <a16:creationId xmlns:a16="http://schemas.microsoft.com/office/drawing/2014/main" id="{39133F1A-2D36-472B-8637-4DB6FB952A8F}"/>
              </a:ext>
            </a:extLst>
          </p:cNvPr>
          <p:cNvSpPr>
            <a:spLocks noGrp="1"/>
          </p:cNvSpPr>
          <p:nvPr/>
        </p:nvSpPr>
        <p:spPr>
          <a:xfrm>
            <a:off x="6496050" y="4152900"/>
            <a:ext cx="4667250" cy="266700"/>
          </a:xfrm>
          <a:prstGeom prst="rect">
            <a:avLst/>
          </a:prstGeom>
          <a:noFill/>
        </p:spPr>
        <p:txBody>
          <a:bodyPr anchor="t"/>
          <a:lstStyle/>
          <a:p>
            <a:pPr algn="ctr">
              <a:buNone/>
              <a:defRPr sz="1275" b="1">
                <a:solidFill>
                  <a:srgbClr val="081B3A"/>
                </a:solidFill>
                <a:latin typeface="Aptos"/>
                <a:ea typeface="Aptos"/>
                <a:cs typeface="Aptos"/>
              </a:defRPr>
            </a:pPr>
            <a:r>
              <a:rPr sz="1275" b="1">
                <a:solidFill>
                  <a:srgbClr val="081B3A"/>
                </a:solidFill>
                <a:latin typeface="Aptos"/>
                <a:ea typeface="Aptos"/>
                <a:cs typeface="Aptos"/>
              </a:rPr>
              <a:t>Chat beyond language barriers.</a:t>
            </a:r>
          </a:p>
        </p:txBody>
      </p:sp>
      <p:sp>
        <p:nvSpPr>
          <p:cNvPr id="13" name="Rectangle 12">
            <a:extLst>
              <a:ext uri="{FF2B5EF4-FFF2-40B4-BE49-F238E27FC236}">
                <a16:creationId xmlns:a16="http://schemas.microsoft.com/office/drawing/2014/main" id="{2416C080-8070-4421-A069-8CAEF737915A}"/>
              </a:ext>
            </a:extLst>
          </p:cNvPr>
          <p:cNvSpPr>
            <a:spLocks noGrp="1"/>
          </p:cNvSpPr>
          <p:nvPr/>
        </p:nvSpPr>
        <p:spPr>
          <a:xfrm>
            <a:off x="6496050" y="4410075"/>
            <a:ext cx="4667250" cy="190500"/>
          </a:xfrm>
          <a:prstGeom prst="rect">
            <a:avLst/>
          </a:prstGeom>
          <a:noFill/>
        </p:spPr>
        <p:txBody>
          <a:bodyPr anchor="t"/>
          <a:lstStyle/>
          <a:p>
            <a:pPr algn="ctr">
              <a:buNone/>
              <a:defRPr sz="900" b="0">
                <a:solidFill>
                  <a:srgbClr val="64748B"/>
                </a:solidFill>
                <a:latin typeface="Aptos"/>
                <a:ea typeface="Aptos"/>
                <a:cs typeface="Aptos"/>
              </a:defRPr>
            </a:pPr>
            <a:r>
              <a:rPr sz="900" b="0">
                <a:solidFill>
                  <a:srgbClr val="64748B"/>
                </a:solidFill>
                <a:latin typeface="Aptos"/>
                <a:ea typeface="Aptos"/>
                <a:cs typeface="Aptos"/>
              </a:rPr>
              <a:t>Visual system lấy trực tiếp từ web đang chạy</a:t>
            </a:r>
          </a:p>
        </p:txBody>
      </p:sp>
      <p:sp>
        <p:nvSpPr>
          <p:cNvPr id="14" name="Rectangle 13">
            <a:extLst>
              <a:ext uri="{FF2B5EF4-FFF2-40B4-BE49-F238E27FC236}">
                <a16:creationId xmlns:a16="http://schemas.microsoft.com/office/drawing/2014/main" id="{A189B1D1-F86A-4550-A3FC-6845F31C8F72}"/>
              </a:ext>
            </a:extLst>
          </p:cNvPr>
          <p:cNvSpPr>
            <a:spLocks noGrp="1"/>
          </p:cNvSpPr>
          <p:nvPr/>
        </p:nvSpPr>
        <p:spPr>
          <a:xfrm>
            <a:off x="647700" y="6191250"/>
            <a:ext cx="1714500" cy="209550"/>
          </a:xfrm>
          <a:prstGeom prst="rect">
            <a:avLst/>
          </a:prstGeom>
          <a:noFill/>
        </p:spPr>
        <p:txBody>
          <a:bodyPr anchor="t"/>
          <a:lstStyle/>
          <a:p>
            <a:pPr algn="l">
              <a:buNone/>
              <a:defRPr sz="900" b="1">
                <a:solidFill>
                  <a:srgbClr val="64748B"/>
                </a:solidFill>
                <a:latin typeface="Aptos"/>
                <a:ea typeface="Aptos"/>
                <a:cs typeface="Aptos"/>
              </a:defRPr>
            </a:pPr>
            <a:r>
              <a:rPr sz="900" b="1">
                <a:solidFill>
                  <a:srgbClr val="64748B"/>
                </a:solidFill>
                <a:latin typeface="Aptos"/>
                <a:ea typeface="Aptos"/>
                <a:cs typeface="Aptos"/>
              </a:rPr>
              <a:t>NHÓM 4U</a:t>
            </a:r>
          </a:p>
        </p:txBody>
      </p:sp>
      <p:sp>
        <p:nvSpPr>
          <p:cNvPr id="15" name="Rectangle 14">
            <a:extLst>
              <a:ext uri="{FF2B5EF4-FFF2-40B4-BE49-F238E27FC236}">
                <a16:creationId xmlns:a16="http://schemas.microsoft.com/office/drawing/2014/main" id="{D03033DB-BAEB-476D-AC42-7F09048BF77E}"/>
              </a:ext>
            </a:extLst>
          </p:cNvPr>
          <p:cNvSpPr>
            <a:spLocks noGrp="1"/>
          </p:cNvSpPr>
          <p:nvPr/>
        </p:nvSpPr>
        <p:spPr>
          <a:xfrm>
            <a:off x="8724900" y="6191250"/>
            <a:ext cx="2781300" cy="209550"/>
          </a:xfrm>
          <a:prstGeom prst="rect">
            <a:avLst/>
          </a:prstGeom>
          <a:noFill/>
        </p:spPr>
        <p:txBody>
          <a:bodyPr anchor="t"/>
          <a:lstStyle/>
          <a:p>
            <a:pPr algn="r">
              <a:buNone/>
              <a:defRPr sz="900" b="1">
                <a:solidFill>
                  <a:srgbClr val="64748B"/>
                </a:solidFill>
                <a:latin typeface="Aptos"/>
                <a:ea typeface="Aptos"/>
                <a:cs typeface="Aptos"/>
              </a:defRPr>
            </a:pPr>
            <a:r>
              <a:rPr sz="900" b="1">
                <a:solidFill>
                  <a:srgbClr val="64748B"/>
                </a:solidFill>
                <a:latin typeface="Aptos"/>
                <a:ea typeface="Aptos"/>
                <a:cs typeface="Aptos"/>
              </a:rPr>
              <a:t>VINUNI AI20K BUILD PHASE</a:t>
            </a:r>
          </a:p>
        </p:txBody>
      </p:sp>
    </p:spTree>
    <p:extLst>
      <p:ext uri="{BB962C8B-B14F-4D97-AF65-F5344CB8AC3E}">
        <p14:creationId xmlns:p14="http://schemas.microsoft.com/office/powerpoint/2010/main" val="536744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F"/>
        </a:solidFill>
        <a:effectLst/>
      </p:bgPr>
    </p:bg>
    <p:spTree>
      <p:nvGrpSpPr>
        <p:cNvPr id="1" name=""/>
        <p:cNvGrpSpPr/>
        <p:nvPr/>
      </p:nvGrpSpPr>
      <p:grpSpPr>
        <a:xfrm>
          <a:off x="0" y="0"/>
          <a:ext cx="0" cy="0"/>
          <a:chOff x="0" y="0"/>
          <a:chExt cx="0" cy="0"/>
        </a:xfrm>
      </p:grpSpPr>
      <p:sp>
        <p:nvSpPr>
          <p:cNvPr id="23" name="Rectangle: Rounded Corners 22">
            <a:extLst>
              <a:ext uri="{FF2B5EF4-FFF2-40B4-BE49-F238E27FC236}">
                <a16:creationId xmlns:a16="http://schemas.microsoft.com/office/drawing/2014/main" id="{393714C1-B03F-4742-876C-B84ACD6DC273}"/>
              </a:ext>
            </a:extLst>
          </p:cNvPr>
          <p:cNvSpPr>
            <a:spLocks noGrp="1"/>
          </p:cNvSpPr>
          <p:nvPr/>
        </p:nvSpPr>
        <p:spPr>
          <a:xfrm>
            <a:off x="552450" y="361950"/>
            <a:ext cx="323850" cy="323850"/>
          </a:xfrm>
          <a:prstGeom prst="roundRect">
            <a:avLst>
              <a:gd name="adj" fmla="val 29412"/>
            </a:avLst>
          </a:prstGeom>
          <a:gradFill>
            <a:gsLst>
              <a:gs pos="0">
                <a:srgbClr val="246BFD"/>
              </a:gs>
              <a:gs pos="100000">
                <a:srgbClr val="6D38F5"/>
              </a:gs>
            </a:gsLst>
            <a:lin ang="8100000"/>
          </a:gradFill>
        </p:spPr>
        <p:txBody>
          <a:bodyPr/>
          <a:lstStyle/>
          <a:p>
            <a:endParaRPr lang="en-US"/>
          </a:p>
        </p:txBody>
      </p:sp>
      <p:sp>
        <p:nvSpPr>
          <p:cNvPr id="2" name="Rectangle 1">
            <a:extLst>
              <a:ext uri="{FF2B5EF4-FFF2-40B4-BE49-F238E27FC236}">
                <a16:creationId xmlns:a16="http://schemas.microsoft.com/office/drawing/2014/main" id="{847E919A-4C35-479A-9900-2F45B6A76B3A}"/>
              </a:ext>
            </a:extLst>
          </p:cNvPr>
          <p:cNvSpPr>
            <a:spLocks noGrp="1"/>
          </p:cNvSpPr>
          <p:nvPr/>
        </p:nvSpPr>
        <p:spPr>
          <a:xfrm>
            <a:off x="552450" y="361950"/>
            <a:ext cx="323850" cy="323850"/>
          </a:xfrm>
          <a:prstGeom prst="rect">
            <a:avLst/>
          </a:prstGeom>
          <a:noFill/>
        </p:spPr>
        <p:txBody>
          <a:bodyPr anchor="ctr"/>
          <a:lstStyle/>
          <a:p>
            <a:pPr algn="ctr">
              <a:buNone/>
              <a:defRPr sz="1350" b="1">
                <a:solidFill>
                  <a:srgbClr val="FFFFFF"/>
                </a:solidFill>
                <a:latin typeface="Aptos"/>
                <a:ea typeface="Aptos"/>
                <a:cs typeface="Aptos"/>
              </a:defRPr>
            </a:pPr>
            <a:r>
              <a:rPr sz="1350" b="1">
                <a:solidFill>
                  <a:srgbClr val="FFFFFF"/>
                </a:solidFill>
                <a:latin typeface="Aptos"/>
                <a:ea typeface="Aptos"/>
                <a:cs typeface="Aptos"/>
              </a:rPr>
              <a:t>≋</a:t>
            </a:r>
          </a:p>
        </p:txBody>
      </p:sp>
      <p:sp>
        <p:nvSpPr>
          <p:cNvPr id="3" name="Rectangle 2">
            <a:extLst>
              <a:ext uri="{FF2B5EF4-FFF2-40B4-BE49-F238E27FC236}">
                <a16:creationId xmlns:a16="http://schemas.microsoft.com/office/drawing/2014/main" id="{FB884A2E-3606-4D36-9701-E96C17D45128}"/>
              </a:ext>
            </a:extLst>
          </p:cNvPr>
          <p:cNvSpPr>
            <a:spLocks noGrp="1"/>
          </p:cNvSpPr>
          <p:nvPr/>
        </p:nvSpPr>
        <p:spPr>
          <a:xfrm>
            <a:off x="971550" y="390525"/>
            <a:ext cx="1409700" cy="266700"/>
          </a:xfrm>
          <a:prstGeom prst="rect">
            <a:avLst/>
          </a:prstGeom>
          <a:noFill/>
        </p:spPr>
        <p:txBody>
          <a:bodyPr anchor="t"/>
          <a:lstStyle/>
          <a:p>
            <a:pPr algn="l">
              <a:buNone/>
              <a:defRPr sz="1500" b="1">
                <a:solidFill>
                  <a:srgbClr val="081B3A"/>
                </a:solidFill>
                <a:latin typeface="Aptos"/>
                <a:ea typeface="Aptos"/>
                <a:cs typeface="Aptos"/>
              </a:defRPr>
            </a:pPr>
            <a:r>
              <a:rPr sz="1500" b="1">
                <a:solidFill>
                  <a:srgbClr val="081B3A"/>
                </a:solidFill>
                <a:latin typeface="Aptos"/>
                <a:ea typeface="Aptos"/>
                <a:cs typeface="Aptos"/>
              </a:rPr>
              <a:t>LinguaFlow</a:t>
            </a:r>
          </a:p>
        </p:txBody>
      </p:sp>
      <p:sp>
        <p:nvSpPr>
          <p:cNvPr id="4" name="Rectangle 3">
            <a:extLst>
              <a:ext uri="{FF2B5EF4-FFF2-40B4-BE49-F238E27FC236}">
                <a16:creationId xmlns:a16="http://schemas.microsoft.com/office/drawing/2014/main" id="{1831E23E-DF3D-4F84-9F54-E2989B5D4FA4}"/>
              </a:ext>
            </a:extLst>
          </p:cNvPr>
          <p:cNvSpPr>
            <a:spLocks noGrp="1"/>
          </p:cNvSpPr>
          <p:nvPr/>
        </p:nvSpPr>
        <p:spPr>
          <a:xfrm>
            <a:off x="8905875" y="428625"/>
            <a:ext cx="2238375" cy="190500"/>
          </a:xfrm>
          <a:prstGeom prst="rect">
            <a:avLst/>
          </a:prstGeom>
          <a:noFill/>
        </p:spPr>
        <p:txBody>
          <a:bodyPr anchor="t"/>
          <a:lstStyle/>
          <a:p>
            <a:pPr algn="r">
              <a:buNone/>
              <a:defRPr sz="825" b="1">
                <a:solidFill>
                  <a:srgbClr val="64748B"/>
                </a:solidFill>
                <a:latin typeface="Aptos"/>
                <a:ea typeface="Aptos"/>
                <a:cs typeface="Aptos"/>
              </a:defRPr>
            </a:pPr>
            <a:r>
              <a:rPr sz="825" b="1">
                <a:solidFill>
                  <a:srgbClr val="64748B"/>
                </a:solidFill>
                <a:latin typeface="Aptos"/>
                <a:ea typeface="Aptos"/>
                <a:cs typeface="Aptos"/>
              </a:rPr>
              <a:t>PAIN POINT</a:t>
            </a:r>
          </a:p>
        </p:txBody>
      </p:sp>
      <p:sp>
        <p:nvSpPr>
          <p:cNvPr id="5" name="Rectangle 4">
            <a:extLst>
              <a:ext uri="{FF2B5EF4-FFF2-40B4-BE49-F238E27FC236}">
                <a16:creationId xmlns:a16="http://schemas.microsoft.com/office/drawing/2014/main" id="{D9826A20-4E2F-4C71-AF40-5E18F200DFEF}"/>
              </a:ext>
            </a:extLst>
          </p:cNvPr>
          <p:cNvSpPr>
            <a:spLocks noGrp="1"/>
          </p:cNvSpPr>
          <p:nvPr/>
        </p:nvSpPr>
        <p:spPr>
          <a:xfrm>
            <a:off x="11334750" y="409575"/>
            <a:ext cx="361950" cy="190500"/>
          </a:xfrm>
          <a:prstGeom prst="rect">
            <a:avLst/>
          </a:prstGeom>
          <a:noFill/>
        </p:spPr>
        <p:txBody>
          <a:bodyPr anchor="t"/>
          <a:lstStyle/>
          <a:p>
            <a:pPr algn="r">
              <a:buNone/>
              <a:defRPr sz="900" b="1">
                <a:solidFill>
                  <a:srgbClr val="246BFD"/>
                </a:solidFill>
                <a:latin typeface="Aptos"/>
                <a:ea typeface="Aptos"/>
                <a:cs typeface="Aptos"/>
              </a:defRPr>
            </a:pPr>
            <a:r>
              <a:rPr sz="900" b="1">
                <a:solidFill>
                  <a:srgbClr val="246BFD"/>
                </a:solidFill>
                <a:latin typeface="Aptos"/>
                <a:ea typeface="Aptos"/>
                <a:cs typeface="Aptos"/>
              </a:rPr>
              <a:t>02</a:t>
            </a:r>
          </a:p>
        </p:txBody>
      </p:sp>
      <p:sp>
        <p:nvSpPr>
          <p:cNvPr id="6" name="Rectangle 5">
            <a:extLst>
              <a:ext uri="{FF2B5EF4-FFF2-40B4-BE49-F238E27FC236}">
                <a16:creationId xmlns:a16="http://schemas.microsoft.com/office/drawing/2014/main" id="{E770431D-D491-4031-92A9-47DA69D6E68B}"/>
              </a:ext>
            </a:extLst>
          </p:cNvPr>
          <p:cNvSpPr>
            <a:spLocks noGrp="1"/>
          </p:cNvSpPr>
          <p:nvPr/>
        </p:nvSpPr>
        <p:spPr>
          <a:xfrm>
            <a:off x="552450" y="800100"/>
            <a:ext cx="11144250" cy="9525"/>
          </a:xfrm>
          <a:prstGeom prst="rect">
            <a:avLst/>
          </a:prstGeom>
          <a:solidFill>
            <a:srgbClr val="DCE6F5"/>
          </a:solidFill>
        </p:spPr>
        <p:txBody>
          <a:bodyPr/>
          <a:lstStyle/>
          <a:p>
            <a:endParaRPr lang="en-US"/>
          </a:p>
        </p:txBody>
      </p:sp>
      <p:sp>
        <p:nvSpPr>
          <p:cNvPr id="7" name="Rectangle 6">
            <a:extLst>
              <a:ext uri="{FF2B5EF4-FFF2-40B4-BE49-F238E27FC236}">
                <a16:creationId xmlns:a16="http://schemas.microsoft.com/office/drawing/2014/main" id="{F85FC1A8-F4FD-40F7-80C9-9F860EB6BBA6}"/>
              </a:ext>
            </a:extLst>
          </p:cNvPr>
          <p:cNvSpPr>
            <a:spLocks noGrp="1"/>
          </p:cNvSpPr>
          <p:nvPr/>
        </p:nvSpPr>
        <p:spPr>
          <a:xfrm>
            <a:off x="647700" y="1257300"/>
            <a:ext cx="4953000" cy="1066800"/>
          </a:xfrm>
          <a:prstGeom prst="rect">
            <a:avLst/>
          </a:prstGeom>
          <a:noFill/>
        </p:spPr>
        <p:txBody>
          <a:bodyPr anchor="t"/>
          <a:lstStyle/>
          <a:p>
            <a:pPr algn="l">
              <a:buNone/>
              <a:defRPr sz="3225" b="1">
                <a:solidFill>
                  <a:srgbClr val="081B3A"/>
                </a:solidFill>
                <a:latin typeface="Aptos"/>
                <a:ea typeface="Aptos"/>
                <a:cs typeface="Aptos"/>
              </a:defRPr>
            </a:pPr>
            <a:r>
              <a:rPr sz="3225" b="1">
                <a:solidFill>
                  <a:srgbClr val="081B3A"/>
                </a:solidFill>
                <a:latin typeface="Aptos"/>
                <a:ea typeface="Aptos"/>
                <a:cs typeface="Aptos"/>
              </a:rPr>
              <a:t>Dịch đúng nghĩa</a:t>
            </a:r>
          </a:p>
          <a:p>
            <a:pPr algn="l">
              <a:buNone/>
              <a:defRPr sz="3225" b="1">
                <a:solidFill>
                  <a:srgbClr val="081B3A"/>
                </a:solidFill>
                <a:latin typeface="Aptos"/>
                <a:ea typeface="Aptos"/>
                <a:cs typeface="Aptos"/>
              </a:defRPr>
            </a:pPr>
            <a:r>
              <a:rPr sz="3225" b="1">
                <a:solidFill>
                  <a:srgbClr val="081B3A"/>
                </a:solidFill>
                <a:latin typeface="Aptos"/>
                <a:ea typeface="Aptos"/>
                <a:cs typeface="Aptos"/>
              </a:rPr>
              <a:t>vẫn có thể</a:t>
            </a:r>
          </a:p>
        </p:txBody>
      </p:sp>
      <p:sp>
        <p:nvSpPr>
          <p:cNvPr id="8" name="Rectangle 7">
            <a:extLst>
              <a:ext uri="{FF2B5EF4-FFF2-40B4-BE49-F238E27FC236}">
                <a16:creationId xmlns:a16="http://schemas.microsoft.com/office/drawing/2014/main" id="{6B1F85D6-50CD-4156-AA50-358D0F90961A}"/>
              </a:ext>
            </a:extLst>
          </p:cNvPr>
          <p:cNvSpPr>
            <a:spLocks noGrp="1"/>
          </p:cNvSpPr>
          <p:nvPr/>
        </p:nvSpPr>
        <p:spPr>
          <a:xfrm>
            <a:off x="647700" y="2324100"/>
            <a:ext cx="4953000" cy="590550"/>
          </a:xfrm>
          <a:prstGeom prst="rect">
            <a:avLst/>
          </a:prstGeom>
          <a:noFill/>
        </p:spPr>
        <p:txBody>
          <a:bodyPr anchor="t"/>
          <a:lstStyle/>
          <a:p>
            <a:pPr algn="l">
              <a:buNone/>
              <a:defRPr sz="3225" b="1">
                <a:solidFill>
                  <a:srgbClr val="6D38F5"/>
                </a:solidFill>
                <a:latin typeface="Aptos"/>
                <a:ea typeface="Aptos"/>
                <a:cs typeface="Aptos"/>
              </a:defRPr>
            </a:pPr>
            <a:r>
              <a:rPr sz="3225" b="1">
                <a:solidFill>
                  <a:srgbClr val="6D38F5"/>
                </a:solidFill>
                <a:latin typeface="Aptos"/>
                <a:ea typeface="Aptos"/>
                <a:cs typeface="Aptos"/>
              </a:rPr>
              <a:t>sai người, sai việc.</a:t>
            </a:r>
          </a:p>
        </p:txBody>
      </p:sp>
      <p:sp>
        <p:nvSpPr>
          <p:cNvPr id="9" name="Rectangle 8">
            <a:extLst>
              <a:ext uri="{FF2B5EF4-FFF2-40B4-BE49-F238E27FC236}">
                <a16:creationId xmlns:a16="http://schemas.microsoft.com/office/drawing/2014/main" id="{6D3944ED-F1DF-4799-9A0D-029D2F1B1BEA}"/>
              </a:ext>
            </a:extLst>
          </p:cNvPr>
          <p:cNvSpPr>
            <a:spLocks noGrp="1"/>
          </p:cNvSpPr>
          <p:nvPr/>
        </p:nvSpPr>
        <p:spPr>
          <a:xfrm>
            <a:off x="647700" y="3133725"/>
            <a:ext cx="4762500" cy="628650"/>
          </a:xfrm>
          <a:prstGeom prst="rect">
            <a:avLst/>
          </a:prstGeom>
          <a:noFill/>
        </p:spPr>
        <p:txBody>
          <a:bodyPr anchor="t"/>
          <a:lstStyle/>
          <a:p>
            <a:pPr algn="l">
              <a:buNone/>
              <a:defRPr sz="1425" b="0">
                <a:solidFill>
                  <a:srgbClr val="64748B"/>
                </a:solidFill>
                <a:latin typeface="Aptos"/>
                <a:ea typeface="Aptos"/>
                <a:cs typeface="Aptos"/>
              </a:defRPr>
            </a:pPr>
            <a:r>
              <a:rPr sz="1425" b="0">
                <a:solidFill>
                  <a:srgbClr val="64748B"/>
                </a:solidFill>
                <a:latin typeface="Aptos"/>
                <a:ea typeface="Aptos"/>
                <a:cs typeface="Aptos"/>
              </a:rPr>
              <a:t>Trong chat công việc, một câu dịch máy có thể đúng từ — nhưng sai hoàn cảnh.</a:t>
            </a:r>
          </a:p>
        </p:txBody>
      </p:sp>
      <p:sp>
        <p:nvSpPr>
          <p:cNvPr id="10" name="Rectangle: Rounded Corners 9">
            <a:extLst>
              <a:ext uri="{FF2B5EF4-FFF2-40B4-BE49-F238E27FC236}">
                <a16:creationId xmlns:a16="http://schemas.microsoft.com/office/drawing/2014/main" id="{74DBBF09-523C-48B7-A41E-8E80D986E445}"/>
              </a:ext>
            </a:extLst>
          </p:cNvPr>
          <p:cNvSpPr>
            <a:spLocks noGrp="1"/>
          </p:cNvSpPr>
          <p:nvPr/>
        </p:nvSpPr>
        <p:spPr>
          <a:xfrm>
            <a:off x="6191250" y="1314450"/>
            <a:ext cx="5334000" cy="1181100"/>
          </a:xfrm>
          <a:prstGeom prst="roundRect">
            <a:avLst>
              <a:gd name="adj" fmla="val 17742"/>
            </a:avLst>
          </a:prstGeom>
          <a:solidFill>
            <a:srgbClr val="FFFFFF"/>
          </a:solidFill>
          <a:ln w="9525">
            <a:solidFill>
              <a:srgbClr val="DCE6F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1" name="Oval 10">
            <a:extLst>
              <a:ext uri="{FF2B5EF4-FFF2-40B4-BE49-F238E27FC236}">
                <a16:creationId xmlns:a16="http://schemas.microsoft.com/office/drawing/2014/main" id="{34B7466B-EAA3-49F7-B18A-B388024FFBA8}"/>
              </a:ext>
            </a:extLst>
          </p:cNvPr>
          <p:cNvSpPr>
            <a:spLocks noGrp="1"/>
          </p:cNvSpPr>
          <p:nvPr/>
        </p:nvSpPr>
        <p:spPr>
          <a:xfrm>
            <a:off x="6457950" y="1628775"/>
            <a:ext cx="514350" cy="514350"/>
          </a:xfrm>
          <a:prstGeom prst="ellipse">
            <a:avLst/>
          </a:prstGeom>
          <a:solidFill>
            <a:srgbClr val="246BFD"/>
          </a:solidFill>
        </p:spPr>
        <p:txBody>
          <a:bodyPr anchor="ctr"/>
          <a:lstStyle/>
          <a:p>
            <a:pPr algn="ctr">
              <a:buNone/>
              <a:defRPr sz="1125" b="1">
                <a:solidFill>
                  <a:srgbClr val="FFFFFF"/>
                </a:solidFill>
                <a:latin typeface="Aptos"/>
                <a:ea typeface="Aptos"/>
                <a:cs typeface="Aptos"/>
              </a:defRPr>
            </a:pPr>
            <a:r>
              <a:rPr sz="1125" b="1">
                <a:solidFill>
                  <a:srgbClr val="FFFFFF"/>
                </a:solidFill>
                <a:latin typeface="Aptos"/>
                <a:ea typeface="Aptos"/>
                <a:cs typeface="Aptos"/>
              </a:rPr>
              <a:t>01</a:t>
            </a:r>
          </a:p>
        </p:txBody>
      </p:sp>
      <p:sp>
        <p:nvSpPr>
          <p:cNvPr id="12" name="Rectangle 11">
            <a:extLst>
              <a:ext uri="{FF2B5EF4-FFF2-40B4-BE49-F238E27FC236}">
                <a16:creationId xmlns:a16="http://schemas.microsoft.com/office/drawing/2014/main" id="{452A7E8D-9B2D-4D9E-BF40-8FC64E2F7CD2}"/>
              </a:ext>
            </a:extLst>
          </p:cNvPr>
          <p:cNvSpPr>
            <a:spLocks noGrp="1"/>
          </p:cNvSpPr>
          <p:nvPr/>
        </p:nvSpPr>
        <p:spPr>
          <a:xfrm>
            <a:off x="7181850" y="1562100"/>
            <a:ext cx="2857500" cy="266700"/>
          </a:xfrm>
          <a:prstGeom prst="rect">
            <a:avLst/>
          </a:prstGeom>
          <a:noFill/>
        </p:spPr>
        <p:txBody>
          <a:bodyPr anchor="t"/>
          <a:lstStyle/>
          <a:p>
            <a:pPr algn="l">
              <a:buNone/>
              <a:defRPr sz="1125" b="1">
                <a:solidFill>
                  <a:srgbClr val="246BFD"/>
                </a:solidFill>
                <a:latin typeface="Aptos"/>
                <a:ea typeface="Aptos"/>
                <a:cs typeface="Aptos"/>
              </a:defRPr>
            </a:pPr>
            <a:r>
              <a:rPr sz="1125" b="1">
                <a:solidFill>
                  <a:srgbClr val="246BFD"/>
                </a:solidFill>
                <a:latin typeface="Aptos"/>
                <a:ea typeface="Aptos"/>
                <a:cs typeface="Aptos"/>
              </a:rPr>
              <a:t>SAI VAI VẾ</a:t>
            </a:r>
          </a:p>
        </p:txBody>
      </p:sp>
      <p:sp>
        <p:nvSpPr>
          <p:cNvPr id="13" name="Rectangle 12">
            <a:extLst>
              <a:ext uri="{FF2B5EF4-FFF2-40B4-BE49-F238E27FC236}">
                <a16:creationId xmlns:a16="http://schemas.microsoft.com/office/drawing/2014/main" id="{D4F75DC6-436A-4CAC-BA49-1913208A14CA}"/>
              </a:ext>
            </a:extLst>
          </p:cNvPr>
          <p:cNvSpPr>
            <a:spLocks noGrp="1"/>
          </p:cNvSpPr>
          <p:nvPr/>
        </p:nvSpPr>
        <p:spPr>
          <a:xfrm>
            <a:off x="7181850" y="1905000"/>
            <a:ext cx="3905250" cy="342900"/>
          </a:xfrm>
          <a:prstGeom prst="rect">
            <a:avLst/>
          </a:prstGeom>
          <a:noFill/>
        </p:spPr>
        <p:txBody>
          <a:bodyPr anchor="t"/>
          <a:lstStyle/>
          <a:p>
            <a:pPr algn="l">
              <a:buNone/>
              <a:defRPr sz="1350" b="1">
                <a:solidFill>
                  <a:srgbClr val="12233F"/>
                </a:solidFill>
                <a:latin typeface="Aptos"/>
                <a:ea typeface="Aptos"/>
                <a:cs typeface="Aptos"/>
              </a:defRPr>
            </a:pPr>
            <a:r>
              <a:rPr sz="1350" b="1">
                <a:solidFill>
                  <a:srgbClr val="12233F"/>
                </a:solidFill>
                <a:latin typeface="Aptos"/>
                <a:ea typeface="Aptos"/>
                <a:cs typeface="Aptos"/>
              </a:rPr>
              <a:t>Xưng hô lệch quan hệ senior · peer · client</a:t>
            </a:r>
          </a:p>
        </p:txBody>
      </p:sp>
      <p:sp>
        <p:nvSpPr>
          <p:cNvPr id="14" name="Rectangle: Rounded Corners 13">
            <a:extLst>
              <a:ext uri="{FF2B5EF4-FFF2-40B4-BE49-F238E27FC236}">
                <a16:creationId xmlns:a16="http://schemas.microsoft.com/office/drawing/2014/main" id="{9CC46844-AEF9-4B9E-AC0D-734DC7533B23}"/>
              </a:ext>
            </a:extLst>
          </p:cNvPr>
          <p:cNvSpPr>
            <a:spLocks noGrp="1"/>
          </p:cNvSpPr>
          <p:nvPr/>
        </p:nvSpPr>
        <p:spPr>
          <a:xfrm>
            <a:off x="6191250" y="2752725"/>
            <a:ext cx="5334000" cy="1181100"/>
          </a:xfrm>
          <a:prstGeom prst="roundRect">
            <a:avLst>
              <a:gd name="adj" fmla="val 17742"/>
            </a:avLst>
          </a:prstGeom>
          <a:solidFill>
            <a:srgbClr val="FFFFFF"/>
          </a:solidFill>
          <a:ln w="9525">
            <a:solidFill>
              <a:srgbClr val="DCE6F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5" name="Oval 14">
            <a:extLst>
              <a:ext uri="{FF2B5EF4-FFF2-40B4-BE49-F238E27FC236}">
                <a16:creationId xmlns:a16="http://schemas.microsoft.com/office/drawing/2014/main" id="{2B62ADB4-6A46-4A64-8387-CE1532095D0B}"/>
              </a:ext>
            </a:extLst>
          </p:cNvPr>
          <p:cNvSpPr>
            <a:spLocks noGrp="1"/>
          </p:cNvSpPr>
          <p:nvPr/>
        </p:nvSpPr>
        <p:spPr>
          <a:xfrm>
            <a:off x="6457950" y="3067050"/>
            <a:ext cx="514350" cy="514350"/>
          </a:xfrm>
          <a:prstGeom prst="ellipse">
            <a:avLst/>
          </a:prstGeom>
          <a:solidFill>
            <a:srgbClr val="6D38F5"/>
          </a:solidFill>
        </p:spPr>
        <p:txBody>
          <a:bodyPr anchor="ctr"/>
          <a:lstStyle/>
          <a:p>
            <a:pPr algn="ctr">
              <a:buNone/>
              <a:defRPr sz="1125" b="1">
                <a:solidFill>
                  <a:srgbClr val="FFFFFF"/>
                </a:solidFill>
                <a:latin typeface="Aptos"/>
                <a:ea typeface="Aptos"/>
                <a:cs typeface="Aptos"/>
              </a:defRPr>
            </a:pPr>
            <a:r>
              <a:rPr sz="1125" b="1">
                <a:solidFill>
                  <a:srgbClr val="FFFFFF"/>
                </a:solidFill>
                <a:latin typeface="Aptos"/>
                <a:ea typeface="Aptos"/>
                <a:cs typeface="Aptos"/>
              </a:rPr>
              <a:t>02</a:t>
            </a:r>
          </a:p>
        </p:txBody>
      </p:sp>
      <p:sp>
        <p:nvSpPr>
          <p:cNvPr id="16" name="Rectangle 15">
            <a:extLst>
              <a:ext uri="{FF2B5EF4-FFF2-40B4-BE49-F238E27FC236}">
                <a16:creationId xmlns:a16="http://schemas.microsoft.com/office/drawing/2014/main" id="{4CA19A63-EEB0-404D-B065-A93B4D191DEE}"/>
              </a:ext>
            </a:extLst>
          </p:cNvPr>
          <p:cNvSpPr>
            <a:spLocks noGrp="1"/>
          </p:cNvSpPr>
          <p:nvPr/>
        </p:nvSpPr>
        <p:spPr>
          <a:xfrm>
            <a:off x="7181850" y="3000375"/>
            <a:ext cx="2857500" cy="266700"/>
          </a:xfrm>
          <a:prstGeom prst="rect">
            <a:avLst/>
          </a:prstGeom>
          <a:noFill/>
        </p:spPr>
        <p:txBody>
          <a:bodyPr anchor="t"/>
          <a:lstStyle/>
          <a:p>
            <a:pPr algn="l">
              <a:buNone/>
              <a:defRPr sz="1125" b="1">
                <a:solidFill>
                  <a:srgbClr val="6D38F5"/>
                </a:solidFill>
                <a:latin typeface="Aptos"/>
                <a:ea typeface="Aptos"/>
                <a:cs typeface="Aptos"/>
              </a:defRPr>
            </a:pPr>
            <a:r>
              <a:rPr sz="1125" b="1">
                <a:solidFill>
                  <a:srgbClr val="6D38F5"/>
                </a:solidFill>
                <a:latin typeface="Aptos"/>
                <a:ea typeface="Aptos"/>
                <a:cs typeface="Aptos"/>
              </a:rPr>
              <a:t>SAI THUẬT NGỮ</a:t>
            </a:r>
          </a:p>
        </p:txBody>
      </p:sp>
      <p:sp>
        <p:nvSpPr>
          <p:cNvPr id="17" name="Rectangle 16">
            <a:extLst>
              <a:ext uri="{FF2B5EF4-FFF2-40B4-BE49-F238E27FC236}">
                <a16:creationId xmlns:a16="http://schemas.microsoft.com/office/drawing/2014/main" id="{300CB129-BF35-403E-8EAA-8CE6B4C662F6}"/>
              </a:ext>
            </a:extLst>
          </p:cNvPr>
          <p:cNvSpPr>
            <a:spLocks noGrp="1"/>
          </p:cNvSpPr>
          <p:nvPr/>
        </p:nvSpPr>
        <p:spPr>
          <a:xfrm>
            <a:off x="7181850" y="3343275"/>
            <a:ext cx="3905250" cy="342900"/>
          </a:xfrm>
          <a:prstGeom prst="rect">
            <a:avLst/>
          </a:prstGeom>
          <a:noFill/>
        </p:spPr>
        <p:txBody>
          <a:bodyPr anchor="t"/>
          <a:lstStyle/>
          <a:p>
            <a:pPr algn="l">
              <a:buNone/>
              <a:defRPr sz="1350" b="1">
                <a:solidFill>
                  <a:srgbClr val="12233F"/>
                </a:solidFill>
                <a:latin typeface="Aptos"/>
                <a:ea typeface="Aptos"/>
                <a:cs typeface="Aptos"/>
              </a:defRPr>
            </a:pPr>
            <a:r>
              <a:rPr sz="1350" b="1">
                <a:solidFill>
                  <a:srgbClr val="12233F"/>
                </a:solidFill>
                <a:latin typeface="Aptos"/>
                <a:ea typeface="Aptos"/>
                <a:cs typeface="Aptos"/>
              </a:rPr>
              <a:t>fix · staging · endpoint bị dịch sai ngữ cảnh</a:t>
            </a:r>
          </a:p>
        </p:txBody>
      </p:sp>
      <p:sp>
        <p:nvSpPr>
          <p:cNvPr id="18" name="Rectangle: Rounded Corners 17">
            <a:extLst>
              <a:ext uri="{FF2B5EF4-FFF2-40B4-BE49-F238E27FC236}">
                <a16:creationId xmlns:a16="http://schemas.microsoft.com/office/drawing/2014/main" id="{33BAD79C-311F-4140-8000-161831193487}"/>
              </a:ext>
            </a:extLst>
          </p:cNvPr>
          <p:cNvSpPr>
            <a:spLocks noGrp="1"/>
          </p:cNvSpPr>
          <p:nvPr/>
        </p:nvSpPr>
        <p:spPr>
          <a:xfrm>
            <a:off x="6191250" y="4191000"/>
            <a:ext cx="5334000" cy="1181100"/>
          </a:xfrm>
          <a:prstGeom prst="roundRect">
            <a:avLst>
              <a:gd name="adj" fmla="val 17742"/>
            </a:avLst>
          </a:prstGeom>
          <a:solidFill>
            <a:srgbClr val="FFFFFF"/>
          </a:solidFill>
          <a:ln w="9525">
            <a:solidFill>
              <a:srgbClr val="DCE6F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9" name="Oval 18">
            <a:extLst>
              <a:ext uri="{FF2B5EF4-FFF2-40B4-BE49-F238E27FC236}">
                <a16:creationId xmlns:a16="http://schemas.microsoft.com/office/drawing/2014/main" id="{B0702A99-A3AC-4A7D-96E2-15DAF449880C}"/>
              </a:ext>
            </a:extLst>
          </p:cNvPr>
          <p:cNvSpPr>
            <a:spLocks noGrp="1"/>
          </p:cNvSpPr>
          <p:nvPr/>
        </p:nvSpPr>
        <p:spPr>
          <a:xfrm>
            <a:off x="6457950" y="4505325"/>
            <a:ext cx="514350" cy="514350"/>
          </a:xfrm>
          <a:prstGeom prst="ellipse">
            <a:avLst/>
          </a:prstGeom>
          <a:solidFill>
            <a:srgbClr val="EF5B5B"/>
          </a:solidFill>
        </p:spPr>
        <p:txBody>
          <a:bodyPr anchor="ctr"/>
          <a:lstStyle/>
          <a:p>
            <a:pPr algn="ctr">
              <a:buNone/>
              <a:defRPr sz="1125" b="1">
                <a:solidFill>
                  <a:srgbClr val="FFFFFF"/>
                </a:solidFill>
                <a:latin typeface="Aptos"/>
                <a:ea typeface="Aptos"/>
                <a:cs typeface="Aptos"/>
              </a:defRPr>
            </a:pPr>
            <a:r>
              <a:rPr sz="1125" b="1">
                <a:solidFill>
                  <a:srgbClr val="FFFFFF"/>
                </a:solidFill>
                <a:latin typeface="Aptos"/>
                <a:ea typeface="Aptos"/>
                <a:cs typeface="Aptos"/>
              </a:rPr>
              <a:t>03</a:t>
            </a:r>
          </a:p>
        </p:txBody>
      </p:sp>
      <p:sp>
        <p:nvSpPr>
          <p:cNvPr id="20" name="Rectangle 19">
            <a:extLst>
              <a:ext uri="{FF2B5EF4-FFF2-40B4-BE49-F238E27FC236}">
                <a16:creationId xmlns:a16="http://schemas.microsoft.com/office/drawing/2014/main" id="{99BAAF8E-C3E0-40F9-B9DD-CF59C835C200}"/>
              </a:ext>
            </a:extLst>
          </p:cNvPr>
          <p:cNvSpPr>
            <a:spLocks noGrp="1"/>
          </p:cNvSpPr>
          <p:nvPr/>
        </p:nvSpPr>
        <p:spPr>
          <a:xfrm>
            <a:off x="7181850" y="4438650"/>
            <a:ext cx="2857500" cy="266700"/>
          </a:xfrm>
          <a:prstGeom prst="rect">
            <a:avLst/>
          </a:prstGeom>
          <a:noFill/>
        </p:spPr>
        <p:txBody>
          <a:bodyPr anchor="t"/>
          <a:lstStyle/>
          <a:p>
            <a:pPr algn="l">
              <a:buNone/>
              <a:defRPr sz="1125" b="1">
                <a:solidFill>
                  <a:srgbClr val="EF5B5B"/>
                </a:solidFill>
                <a:latin typeface="Aptos"/>
                <a:ea typeface="Aptos"/>
                <a:cs typeface="Aptos"/>
              </a:defRPr>
            </a:pPr>
            <a:r>
              <a:rPr sz="1125" b="1">
                <a:solidFill>
                  <a:srgbClr val="EF5B5B"/>
                </a:solidFill>
                <a:latin typeface="Aptos"/>
                <a:ea typeface="Aptos"/>
                <a:cs typeface="Aptos"/>
              </a:rPr>
              <a:t>MẤT MẠCH CHAT</a:t>
            </a:r>
          </a:p>
        </p:txBody>
      </p:sp>
      <p:sp>
        <p:nvSpPr>
          <p:cNvPr id="21" name="Rectangle 20">
            <a:extLst>
              <a:ext uri="{FF2B5EF4-FFF2-40B4-BE49-F238E27FC236}">
                <a16:creationId xmlns:a16="http://schemas.microsoft.com/office/drawing/2014/main" id="{220E5A57-5DF4-4E27-AF50-720848A28E8F}"/>
              </a:ext>
            </a:extLst>
          </p:cNvPr>
          <p:cNvSpPr>
            <a:spLocks noGrp="1"/>
          </p:cNvSpPr>
          <p:nvPr/>
        </p:nvSpPr>
        <p:spPr>
          <a:xfrm>
            <a:off x="7181850" y="4781550"/>
            <a:ext cx="3905250" cy="342900"/>
          </a:xfrm>
          <a:prstGeom prst="rect">
            <a:avLst/>
          </a:prstGeom>
          <a:noFill/>
        </p:spPr>
        <p:txBody>
          <a:bodyPr anchor="t"/>
          <a:lstStyle/>
          <a:p>
            <a:pPr algn="l">
              <a:buNone/>
              <a:defRPr sz="1350" b="1">
                <a:solidFill>
                  <a:srgbClr val="12233F"/>
                </a:solidFill>
                <a:latin typeface="Aptos"/>
                <a:ea typeface="Aptos"/>
                <a:cs typeface="Aptos"/>
              </a:defRPr>
            </a:pPr>
            <a:r>
              <a:rPr sz="1350" b="1">
                <a:solidFill>
                  <a:srgbClr val="12233F"/>
                </a:solidFill>
                <a:latin typeface="Aptos"/>
                <a:ea typeface="Aptos"/>
                <a:cs typeface="Aptos"/>
              </a:rPr>
              <a:t>Mỗi câu bị tách khỏi mạch hội thoại</a:t>
            </a:r>
          </a:p>
        </p:txBody>
      </p:sp>
      <p:sp>
        <p:nvSpPr>
          <p:cNvPr id="22" name="Rectangle: Rounded Corners 21">
            <a:extLst>
              <a:ext uri="{FF2B5EF4-FFF2-40B4-BE49-F238E27FC236}">
                <a16:creationId xmlns:a16="http://schemas.microsoft.com/office/drawing/2014/main" id="{7B059941-431D-40F4-A037-5D2E3CCA6075}"/>
              </a:ext>
            </a:extLst>
          </p:cNvPr>
          <p:cNvSpPr>
            <a:spLocks noGrp="1"/>
          </p:cNvSpPr>
          <p:nvPr/>
        </p:nvSpPr>
        <p:spPr>
          <a:xfrm>
            <a:off x="647700" y="5715000"/>
            <a:ext cx="5715000" cy="304800"/>
          </a:xfrm>
          <a:prstGeom prst="roundRect">
            <a:avLst>
              <a:gd name="adj" fmla="val 50000"/>
            </a:avLst>
          </a:prstGeom>
          <a:solidFill>
            <a:srgbClr val="081B3A"/>
          </a:solidFill>
        </p:spPr>
        <p:txBody>
          <a:bodyPr anchor="ctr"/>
          <a:lstStyle/>
          <a:p>
            <a:pPr algn="ctr">
              <a:buNone/>
              <a:defRPr sz="975" b="1">
                <a:solidFill>
                  <a:srgbClr val="FFFFFF"/>
                </a:solidFill>
                <a:latin typeface="Aptos"/>
                <a:ea typeface="Aptos"/>
                <a:cs typeface="Aptos"/>
              </a:defRPr>
            </a:pPr>
            <a:r>
              <a:rPr sz="825" b="1">
                <a:solidFill>
                  <a:srgbClr val="FFFFFF"/>
                </a:solidFill>
                <a:latin typeface="Aptos"/>
                <a:ea typeface="Aptos"/>
                <a:cs typeface="Aptos"/>
              </a:rPr>
              <a:t>HỆ QUẢ: TỰ SỬA · RỜI LUỒNG CHAT · DỄ HIỂU NHẦM</a:t>
            </a:r>
          </a:p>
        </p:txBody>
      </p:sp>
    </p:spTree>
    <p:extLst>
      <p:ext uri="{BB962C8B-B14F-4D97-AF65-F5344CB8AC3E}">
        <p14:creationId xmlns:p14="http://schemas.microsoft.com/office/powerpoint/2010/main" val="17297652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F"/>
        </a:solidFill>
        <a:effectLst/>
      </p:bgPr>
    </p:bg>
    <p:spTree>
      <p:nvGrpSpPr>
        <p:cNvPr id="1" name=""/>
        <p:cNvGrpSpPr/>
        <p:nvPr/>
      </p:nvGrpSpPr>
      <p:grpSpPr>
        <a:xfrm>
          <a:off x="0" y="0"/>
          <a:ext cx="0" cy="0"/>
          <a:chOff x="0" y="0"/>
          <a:chExt cx="0" cy="0"/>
        </a:xfrm>
      </p:grpSpPr>
      <p:sp>
        <p:nvSpPr>
          <p:cNvPr id="27" name="Rectangle: Rounded Corners 26">
            <a:extLst>
              <a:ext uri="{FF2B5EF4-FFF2-40B4-BE49-F238E27FC236}">
                <a16:creationId xmlns:a16="http://schemas.microsoft.com/office/drawing/2014/main" id="{53914AEC-F19C-4D67-9063-C47551B23F9A}"/>
              </a:ext>
            </a:extLst>
          </p:cNvPr>
          <p:cNvSpPr>
            <a:spLocks noGrp="1"/>
          </p:cNvSpPr>
          <p:nvPr/>
        </p:nvSpPr>
        <p:spPr>
          <a:xfrm>
            <a:off x="552450" y="361950"/>
            <a:ext cx="323850" cy="323850"/>
          </a:xfrm>
          <a:prstGeom prst="roundRect">
            <a:avLst>
              <a:gd name="adj" fmla="val 29412"/>
            </a:avLst>
          </a:prstGeom>
          <a:gradFill>
            <a:gsLst>
              <a:gs pos="0">
                <a:srgbClr val="246BFD"/>
              </a:gs>
              <a:gs pos="100000">
                <a:srgbClr val="6D38F5"/>
              </a:gs>
            </a:gsLst>
            <a:lin ang="8100000"/>
          </a:gradFill>
        </p:spPr>
        <p:txBody>
          <a:bodyPr/>
          <a:lstStyle/>
          <a:p>
            <a:endParaRPr lang="en-US"/>
          </a:p>
        </p:txBody>
      </p:sp>
      <p:sp>
        <p:nvSpPr>
          <p:cNvPr id="2" name="Rectangle 1">
            <a:extLst>
              <a:ext uri="{FF2B5EF4-FFF2-40B4-BE49-F238E27FC236}">
                <a16:creationId xmlns:a16="http://schemas.microsoft.com/office/drawing/2014/main" id="{6EE3186C-6444-4990-BEF9-4423A3C487AF}"/>
              </a:ext>
            </a:extLst>
          </p:cNvPr>
          <p:cNvSpPr>
            <a:spLocks noGrp="1"/>
          </p:cNvSpPr>
          <p:nvPr/>
        </p:nvSpPr>
        <p:spPr>
          <a:xfrm>
            <a:off x="552450" y="361950"/>
            <a:ext cx="323850" cy="323850"/>
          </a:xfrm>
          <a:prstGeom prst="rect">
            <a:avLst/>
          </a:prstGeom>
          <a:noFill/>
        </p:spPr>
        <p:txBody>
          <a:bodyPr anchor="ctr"/>
          <a:lstStyle/>
          <a:p>
            <a:pPr algn="ctr">
              <a:buNone/>
              <a:defRPr sz="1350" b="1">
                <a:solidFill>
                  <a:srgbClr val="FFFFFF"/>
                </a:solidFill>
                <a:latin typeface="Aptos"/>
                <a:ea typeface="Aptos"/>
                <a:cs typeface="Aptos"/>
              </a:defRPr>
            </a:pPr>
            <a:r>
              <a:rPr sz="1350" b="1">
                <a:solidFill>
                  <a:srgbClr val="FFFFFF"/>
                </a:solidFill>
                <a:latin typeface="Aptos"/>
                <a:ea typeface="Aptos"/>
                <a:cs typeface="Aptos"/>
              </a:rPr>
              <a:t>≋</a:t>
            </a:r>
          </a:p>
        </p:txBody>
      </p:sp>
      <p:sp>
        <p:nvSpPr>
          <p:cNvPr id="3" name="Rectangle 2">
            <a:extLst>
              <a:ext uri="{FF2B5EF4-FFF2-40B4-BE49-F238E27FC236}">
                <a16:creationId xmlns:a16="http://schemas.microsoft.com/office/drawing/2014/main" id="{D6857E82-932A-44C7-9A35-834504BCE540}"/>
              </a:ext>
            </a:extLst>
          </p:cNvPr>
          <p:cNvSpPr>
            <a:spLocks noGrp="1"/>
          </p:cNvSpPr>
          <p:nvPr/>
        </p:nvSpPr>
        <p:spPr>
          <a:xfrm>
            <a:off x="971550" y="390525"/>
            <a:ext cx="1409700" cy="266700"/>
          </a:xfrm>
          <a:prstGeom prst="rect">
            <a:avLst/>
          </a:prstGeom>
          <a:noFill/>
        </p:spPr>
        <p:txBody>
          <a:bodyPr anchor="t"/>
          <a:lstStyle/>
          <a:p>
            <a:pPr algn="l">
              <a:buNone/>
              <a:defRPr sz="1500" b="1">
                <a:solidFill>
                  <a:srgbClr val="081B3A"/>
                </a:solidFill>
                <a:latin typeface="Aptos"/>
                <a:ea typeface="Aptos"/>
                <a:cs typeface="Aptos"/>
              </a:defRPr>
            </a:pPr>
            <a:r>
              <a:rPr sz="1500" b="1">
                <a:solidFill>
                  <a:srgbClr val="081B3A"/>
                </a:solidFill>
                <a:latin typeface="Aptos"/>
                <a:ea typeface="Aptos"/>
                <a:cs typeface="Aptos"/>
              </a:rPr>
              <a:t>LinguaFlow</a:t>
            </a:r>
          </a:p>
        </p:txBody>
      </p:sp>
      <p:sp>
        <p:nvSpPr>
          <p:cNvPr id="4" name="Rectangle 3">
            <a:extLst>
              <a:ext uri="{FF2B5EF4-FFF2-40B4-BE49-F238E27FC236}">
                <a16:creationId xmlns:a16="http://schemas.microsoft.com/office/drawing/2014/main" id="{EFDC166F-958B-463C-9D87-1D8010141F6D}"/>
              </a:ext>
            </a:extLst>
          </p:cNvPr>
          <p:cNvSpPr>
            <a:spLocks noGrp="1"/>
          </p:cNvSpPr>
          <p:nvPr/>
        </p:nvSpPr>
        <p:spPr>
          <a:xfrm>
            <a:off x="8905875" y="428625"/>
            <a:ext cx="2238375" cy="190500"/>
          </a:xfrm>
          <a:prstGeom prst="rect">
            <a:avLst/>
          </a:prstGeom>
          <a:noFill/>
        </p:spPr>
        <p:txBody>
          <a:bodyPr anchor="t"/>
          <a:lstStyle/>
          <a:p>
            <a:pPr algn="r">
              <a:buNone/>
              <a:defRPr sz="825" b="1">
                <a:solidFill>
                  <a:srgbClr val="64748B"/>
                </a:solidFill>
                <a:latin typeface="Aptos"/>
                <a:ea typeface="Aptos"/>
                <a:cs typeface="Aptos"/>
              </a:defRPr>
            </a:pPr>
            <a:r>
              <a:rPr sz="825" b="1">
                <a:solidFill>
                  <a:srgbClr val="64748B"/>
                </a:solidFill>
                <a:latin typeface="Aptos"/>
                <a:ea typeface="Aptos"/>
                <a:cs typeface="Aptos"/>
              </a:rPr>
              <a:t>CƠ HỘI</a:t>
            </a:r>
          </a:p>
        </p:txBody>
      </p:sp>
      <p:sp>
        <p:nvSpPr>
          <p:cNvPr id="5" name="Rectangle 4">
            <a:extLst>
              <a:ext uri="{FF2B5EF4-FFF2-40B4-BE49-F238E27FC236}">
                <a16:creationId xmlns:a16="http://schemas.microsoft.com/office/drawing/2014/main" id="{F976DD9D-2E5D-410F-B7F1-3456C05308CE}"/>
              </a:ext>
            </a:extLst>
          </p:cNvPr>
          <p:cNvSpPr>
            <a:spLocks noGrp="1"/>
          </p:cNvSpPr>
          <p:nvPr/>
        </p:nvSpPr>
        <p:spPr>
          <a:xfrm>
            <a:off x="11334750" y="409575"/>
            <a:ext cx="361950" cy="190500"/>
          </a:xfrm>
          <a:prstGeom prst="rect">
            <a:avLst/>
          </a:prstGeom>
          <a:noFill/>
        </p:spPr>
        <p:txBody>
          <a:bodyPr anchor="t"/>
          <a:lstStyle/>
          <a:p>
            <a:pPr algn="r">
              <a:buNone/>
              <a:defRPr sz="900" b="1">
                <a:solidFill>
                  <a:srgbClr val="246BFD"/>
                </a:solidFill>
                <a:latin typeface="Aptos"/>
                <a:ea typeface="Aptos"/>
                <a:cs typeface="Aptos"/>
              </a:defRPr>
            </a:pPr>
            <a:r>
              <a:rPr sz="900" b="1">
                <a:solidFill>
                  <a:srgbClr val="246BFD"/>
                </a:solidFill>
                <a:latin typeface="Aptos"/>
                <a:ea typeface="Aptos"/>
                <a:cs typeface="Aptos"/>
              </a:rPr>
              <a:t>03</a:t>
            </a:r>
          </a:p>
        </p:txBody>
      </p:sp>
      <p:sp>
        <p:nvSpPr>
          <p:cNvPr id="6" name="Rectangle 5">
            <a:extLst>
              <a:ext uri="{FF2B5EF4-FFF2-40B4-BE49-F238E27FC236}">
                <a16:creationId xmlns:a16="http://schemas.microsoft.com/office/drawing/2014/main" id="{CFE3D79D-E9CD-468E-A5FA-8830EB50DB40}"/>
              </a:ext>
            </a:extLst>
          </p:cNvPr>
          <p:cNvSpPr>
            <a:spLocks noGrp="1"/>
          </p:cNvSpPr>
          <p:nvPr/>
        </p:nvSpPr>
        <p:spPr>
          <a:xfrm>
            <a:off x="552450" y="800100"/>
            <a:ext cx="11144250" cy="9525"/>
          </a:xfrm>
          <a:prstGeom prst="rect">
            <a:avLst/>
          </a:prstGeom>
          <a:solidFill>
            <a:srgbClr val="DCE6F5"/>
          </a:solidFill>
        </p:spPr>
        <p:txBody>
          <a:bodyPr/>
          <a:lstStyle/>
          <a:p>
            <a:endParaRPr lang="en-US"/>
          </a:p>
        </p:txBody>
      </p:sp>
      <p:sp>
        <p:nvSpPr>
          <p:cNvPr id="7" name="Rectangle 6">
            <a:extLst>
              <a:ext uri="{FF2B5EF4-FFF2-40B4-BE49-F238E27FC236}">
                <a16:creationId xmlns:a16="http://schemas.microsoft.com/office/drawing/2014/main" id="{0FFFF48C-6F94-4D18-9801-341FD4CFB973}"/>
              </a:ext>
            </a:extLst>
          </p:cNvPr>
          <p:cNvSpPr>
            <a:spLocks noGrp="1"/>
          </p:cNvSpPr>
          <p:nvPr/>
        </p:nvSpPr>
        <p:spPr>
          <a:xfrm>
            <a:off x="647700" y="1066800"/>
            <a:ext cx="3333750" cy="228600"/>
          </a:xfrm>
          <a:prstGeom prst="rect">
            <a:avLst/>
          </a:prstGeom>
          <a:noFill/>
        </p:spPr>
        <p:txBody>
          <a:bodyPr anchor="t"/>
          <a:lstStyle/>
          <a:p>
            <a:pPr algn="l">
              <a:buNone/>
              <a:defRPr sz="900" b="1">
                <a:solidFill>
                  <a:srgbClr val="246BFD"/>
                </a:solidFill>
                <a:latin typeface="Aptos"/>
                <a:ea typeface="Aptos"/>
                <a:cs typeface="Aptos"/>
              </a:defRPr>
            </a:pPr>
            <a:r>
              <a:rPr sz="900" b="1">
                <a:solidFill>
                  <a:srgbClr val="246BFD"/>
                </a:solidFill>
                <a:latin typeface="Aptos"/>
                <a:ea typeface="Aptos"/>
                <a:cs typeface="Aptos"/>
              </a:rPr>
              <a:t>THỊ TRƯỜNG</a:t>
            </a:r>
          </a:p>
        </p:txBody>
      </p:sp>
      <p:sp>
        <p:nvSpPr>
          <p:cNvPr id="8" name="Rectangle 7">
            <a:extLst>
              <a:ext uri="{FF2B5EF4-FFF2-40B4-BE49-F238E27FC236}">
                <a16:creationId xmlns:a16="http://schemas.microsoft.com/office/drawing/2014/main" id="{36B22D42-7FD6-46FA-B881-438971C0CCB4}"/>
              </a:ext>
            </a:extLst>
          </p:cNvPr>
          <p:cNvSpPr>
            <a:spLocks noGrp="1"/>
          </p:cNvSpPr>
          <p:nvPr/>
        </p:nvSpPr>
        <p:spPr>
          <a:xfrm>
            <a:off x="647700" y="1333500"/>
            <a:ext cx="10896600" cy="723900"/>
          </a:xfrm>
          <a:prstGeom prst="rect">
            <a:avLst/>
          </a:prstGeom>
          <a:noFill/>
        </p:spPr>
        <p:txBody>
          <a:bodyPr anchor="t"/>
          <a:lstStyle/>
          <a:p>
            <a:pPr algn="l">
              <a:buNone/>
              <a:defRPr sz="2850" b="1">
                <a:solidFill>
                  <a:srgbClr val="081B3A"/>
                </a:solidFill>
                <a:latin typeface="Aptos"/>
                <a:ea typeface="Aptos"/>
                <a:cs typeface="Aptos"/>
              </a:defRPr>
            </a:pPr>
            <a:r>
              <a:rPr sz="2850" b="1">
                <a:solidFill>
                  <a:srgbClr val="081B3A"/>
                </a:solidFill>
                <a:latin typeface="Aptos"/>
                <a:ea typeface="Aptos"/>
                <a:cs typeface="Aptos"/>
              </a:rPr>
              <a:t>Khoảng trống nằm ngay trong luồng chat</a:t>
            </a:r>
          </a:p>
        </p:txBody>
      </p:sp>
      <p:sp>
        <p:nvSpPr>
          <p:cNvPr id="9" name="Rectangle 8">
            <a:extLst>
              <a:ext uri="{FF2B5EF4-FFF2-40B4-BE49-F238E27FC236}">
                <a16:creationId xmlns:a16="http://schemas.microsoft.com/office/drawing/2014/main" id="{BC1AA0DC-3185-4FB9-AADF-DC5B961AB679}"/>
              </a:ext>
            </a:extLst>
          </p:cNvPr>
          <p:cNvSpPr>
            <a:spLocks noGrp="1"/>
          </p:cNvSpPr>
          <p:nvPr/>
        </p:nvSpPr>
        <p:spPr>
          <a:xfrm>
            <a:off x="647700" y="2047875"/>
            <a:ext cx="9810750" cy="342900"/>
          </a:xfrm>
          <a:prstGeom prst="rect">
            <a:avLst/>
          </a:prstGeom>
          <a:noFill/>
        </p:spPr>
        <p:txBody>
          <a:bodyPr anchor="t"/>
          <a:lstStyle/>
          <a:p>
            <a:pPr algn="l">
              <a:buNone/>
              <a:defRPr sz="1350" b="0">
                <a:solidFill>
                  <a:srgbClr val="64748B"/>
                </a:solidFill>
                <a:latin typeface="Aptos"/>
                <a:ea typeface="Aptos"/>
                <a:cs typeface="Aptos"/>
              </a:defRPr>
            </a:pPr>
            <a:r>
              <a:rPr sz="1350" b="0">
                <a:solidFill>
                  <a:srgbClr val="64748B"/>
                </a:solidFill>
                <a:latin typeface="Aptos"/>
                <a:ea typeface="Aptos"/>
                <a:cs typeface="Aptos"/>
              </a:rPr>
              <a:t>Remote work và đội ngũ xuyên biên giới đang biến dịch thời gian thực thành hạ tầng giao tiếp.</a:t>
            </a:r>
          </a:p>
        </p:txBody>
      </p:sp>
      <p:sp>
        <p:nvSpPr>
          <p:cNvPr id="10" name="Rectangle: Rounded Corners 9">
            <a:extLst>
              <a:ext uri="{FF2B5EF4-FFF2-40B4-BE49-F238E27FC236}">
                <a16:creationId xmlns:a16="http://schemas.microsoft.com/office/drawing/2014/main" id="{CFAB6529-33F5-4592-944D-08467B4041F2}"/>
              </a:ext>
            </a:extLst>
          </p:cNvPr>
          <p:cNvSpPr>
            <a:spLocks noGrp="1"/>
          </p:cNvSpPr>
          <p:nvPr/>
        </p:nvSpPr>
        <p:spPr>
          <a:xfrm>
            <a:off x="647700" y="2857500"/>
            <a:ext cx="3390900" cy="2143125"/>
          </a:xfrm>
          <a:prstGeom prst="roundRect">
            <a:avLst>
              <a:gd name="adj" fmla="val 10667"/>
            </a:avLst>
          </a:prstGeom>
          <a:solidFill>
            <a:srgbClr val="FFFFFF"/>
          </a:solidFill>
          <a:ln w="9525">
            <a:solidFill>
              <a:srgbClr val="DCE6F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1" name="Rectangle: Rounded Corners 10">
            <a:extLst>
              <a:ext uri="{FF2B5EF4-FFF2-40B4-BE49-F238E27FC236}">
                <a16:creationId xmlns:a16="http://schemas.microsoft.com/office/drawing/2014/main" id="{C4522FD8-F492-4800-B0FE-92655CCAF8C7}"/>
              </a:ext>
            </a:extLst>
          </p:cNvPr>
          <p:cNvSpPr>
            <a:spLocks noGrp="1"/>
          </p:cNvSpPr>
          <p:nvPr/>
        </p:nvSpPr>
        <p:spPr>
          <a:xfrm>
            <a:off x="647700" y="2857500"/>
            <a:ext cx="3390900" cy="66675"/>
          </a:xfrm>
          <a:prstGeom prst="roundRect">
            <a:avLst>
              <a:gd name="adj" fmla="val 50000"/>
            </a:avLst>
          </a:prstGeom>
          <a:solidFill>
            <a:srgbClr val="246BFD"/>
          </a:solidFill>
        </p:spPr>
        <p:txBody>
          <a:bodyPr/>
          <a:lstStyle/>
          <a:p>
            <a:endParaRPr lang="en-US"/>
          </a:p>
        </p:txBody>
      </p:sp>
      <p:sp>
        <p:nvSpPr>
          <p:cNvPr id="12" name="Rectangle 11">
            <a:extLst>
              <a:ext uri="{FF2B5EF4-FFF2-40B4-BE49-F238E27FC236}">
                <a16:creationId xmlns:a16="http://schemas.microsoft.com/office/drawing/2014/main" id="{7843F26C-03D6-4D0A-A5B7-25165F201AD0}"/>
              </a:ext>
            </a:extLst>
          </p:cNvPr>
          <p:cNvSpPr>
            <a:spLocks noGrp="1"/>
          </p:cNvSpPr>
          <p:nvPr/>
        </p:nvSpPr>
        <p:spPr>
          <a:xfrm>
            <a:off x="895350" y="3257550"/>
            <a:ext cx="2905125" cy="523875"/>
          </a:xfrm>
          <a:prstGeom prst="rect">
            <a:avLst/>
          </a:prstGeom>
          <a:noFill/>
        </p:spPr>
        <p:txBody>
          <a:bodyPr anchor="t"/>
          <a:lstStyle/>
          <a:p>
            <a:pPr algn="l">
              <a:buNone/>
              <a:defRPr sz="2325" b="1">
                <a:solidFill>
                  <a:srgbClr val="081B3A"/>
                </a:solidFill>
                <a:latin typeface="Aptos"/>
                <a:ea typeface="Aptos"/>
                <a:cs typeface="Aptos"/>
              </a:defRPr>
            </a:pPr>
            <a:r>
              <a:rPr sz="2325" b="1">
                <a:solidFill>
                  <a:srgbClr val="081B3A"/>
                </a:solidFill>
                <a:latin typeface="Aptos"/>
                <a:ea typeface="Aptos"/>
                <a:cs typeface="Aptos"/>
              </a:rPr>
              <a:t>$1,26B → $2,19B</a:t>
            </a:r>
          </a:p>
        </p:txBody>
      </p:sp>
      <p:sp>
        <p:nvSpPr>
          <p:cNvPr id="13" name="Rectangle 12">
            <a:extLst>
              <a:ext uri="{FF2B5EF4-FFF2-40B4-BE49-F238E27FC236}">
                <a16:creationId xmlns:a16="http://schemas.microsoft.com/office/drawing/2014/main" id="{21CBA8C6-F883-4A9C-BDAE-C83EB169FD5A}"/>
              </a:ext>
            </a:extLst>
          </p:cNvPr>
          <p:cNvSpPr>
            <a:spLocks noGrp="1"/>
          </p:cNvSpPr>
          <p:nvPr/>
        </p:nvSpPr>
        <p:spPr>
          <a:xfrm>
            <a:off x="895350" y="3962400"/>
            <a:ext cx="2905125" cy="228600"/>
          </a:xfrm>
          <a:prstGeom prst="rect">
            <a:avLst/>
          </a:prstGeom>
          <a:noFill/>
        </p:spPr>
        <p:txBody>
          <a:bodyPr anchor="t"/>
          <a:lstStyle/>
          <a:p>
            <a:pPr algn="l">
              <a:buNone/>
              <a:defRPr sz="975" b="1">
                <a:solidFill>
                  <a:srgbClr val="246BFD"/>
                </a:solidFill>
                <a:latin typeface="Aptos"/>
                <a:ea typeface="Aptos"/>
                <a:cs typeface="Aptos"/>
              </a:defRPr>
            </a:pPr>
            <a:r>
              <a:rPr sz="975" b="1">
                <a:solidFill>
                  <a:srgbClr val="246BFD"/>
                </a:solidFill>
                <a:latin typeface="Aptos"/>
                <a:ea typeface="Aptos"/>
                <a:cs typeface="Aptos"/>
              </a:rPr>
              <a:t>DỊCH MÁY</a:t>
            </a:r>
          </a:p>
        </p:txBody>
      </p:sp>
      <p:sp>
        <p:nvSpPr>
          <p:cNvPr id="14" name="Rectangle 13">
            <a:extLst>
              <a:ext uri="{FF2B5EF4-FFF2-40B4-BE49-F238E27FC236}">
                <a16:creationId xmlns:a16="http://schemas.microsoft.com/office/drawing/2014/main" id="{F3E9604B-469C-48A6-92B3-137CA6C3DEAF}"/>
              </a:ext>
            </a:extLst>
          </p:cNvPr>
          <p:cNvSpPr>
            <a:spLocks noGrp="1"/>
          </p:cNvSpPr>
          <p:nvPr/>
        </p:nvSpPr>
        <p:spPr>
          <a:xfrm>
            <a:off x="895350" y="4343400"/>
            <a:ext cx="2905125" cy="285750"/>
          </a:xfrm>
          <a:prstGeom prst="rect">
            <a:avLst/>
          </a:prstGeom>
          <a:noFill/>
        </p:spPr>
        <p:txBody>
          <a:bodyPr anchor="t"/>
          <a:lstStyle/>
          <a:p>
            <a:pPr algn="l">
              <a:buNone/>
              <a:defRPr sz="1275" b="0">
                <a:solidFill>
                  <a:srgbClr val="64748B"/>
                </a:solidFill>
                <a:latin typeface="Aptos"/>
                <a:ea typeface="Aptos"/>
                <a:cs typeface="Aptos"/>
              </a:defRPr>
            </a:pPr>
            <a:r>
              <a:rPr sz="1275" b="0">
                <a:solidFill>
                  <a:srgbClr val="64748B"/>
                </a:solidFill>
                <a:latin typeface="Aptos"/>
                <a:ea typeface="Aptos"/>
                <a:cs typeface="Aptos"/>
              </a:rPr>
              <a:t>2026 → 2031</a:t>
            </a:r>
          </a:p>
        </p:txBody>
      </p:sp>
      <p:sp>
        <p:nvSpPr>
          <p:cNvPr id="15" name="Rectangle: Rounded Corners 14">
            <a:extLst>
              <a:ext uri="{FF2B5EF4-FFF2-40B4-BE49-F238E27FC236}">
                <a16:creationId xmlns:a16="http://schemas.microsoft.com/office/drawing/2014/main" id="{5FCF5A5D-5B0F-458A-95E6-94C7EEBA1BD2}"/>
              </a:ext>
            </a:extLst>
          </p:cNvPr>
          <p:cNvSpPr>
            <a:spLocks noGrp="1"/>
          </p:cNvSpPr>
          <p:nvPr/>
        </p:nvSpPr>
        <p:spPr>
          <a:xfrm>
            <a:off x="4343400" y="2857500"/>
            <a:ext cx="3390900" cy="2143125"/>
          </a:xfrm>
          <a:prstGeom prst="roundRect">
            <a:avLst>
              <a:gd name="adj" fmla="val 10667"/>
            </a:avLst>
          </a:prstGeom>
          <a:solidFill>
            <a:srgbClr val="FFFFFF"/>
          </a:solidFill>
          <a:ln w="9525">
            <a:solidFill>
              <a:srgbClr val="DCE6F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6" name="Rectangle: Rounded Corners 15">
            <a:extLst>
              <a:ext uri="{FF2B5EF4-FFF2-40B4-BE49-F238E27FC236}">
                <a16:creationId xmlns:a16="http://schemas.microsoft.com/office/drawing/2014/main" id="{53044762-4573-4A56-A18F-8877621DD192}"/>
              </a:ext>
            </a:extLst>
          </p:cNvPr>
          <p:cNvSpPr>
            <a:spLocks noGrp="1"/>
          </p:cNvSpPr>
          <p:nvPr/>
        </p:nvSpPr>
        <p:spPr>
          <a:xfrm>
            <a:off x="4343400" y="2857500"/>
            <a:ext cx="3390900" cy="66675"/>
          </a:xfrm>
          <a:prstGeom prst="roundRect">
            <a:avLst>
              <a:gd name="adj" fmla="val 50000"/>
            </a:avLst>
          </a:prstGeom>
          <a:solidFill>
            <a:srgbClr val="6D38F5"/>
          </a:solidFill>
        </p:spPr>
        <p:txBody>
          <a:bodyPr/>
          <a:lstStyle/>
          <a:p>
            <a:endParaRPr lang="en-US"/>
          </a:p>
        </p:txBody>
      </p:sp>
      <p:sp>
        <p:nvSpPr>
          <p:cNvPr id="17" name="Rectangle 16">
            <a:extLst>
              <a:ext uri="{FF2B5EF4-FFF2-40B4-BE49-F238E27FC236}">
                <a16:creationId xmlns:a16="http://schemas.microsoft.com/office/drawing/2014/main" id="{E5C3F4C7-8B1E-43F2-8E9C-0D8B19A331F0}"/>
              </a:ext>
            </a:extLst>
          </p:cNvPr>
          <p:cNvSpPr>
            <a:spLocks noGrp="1"/>
          </p:cNvSpPr>
          <p:nvPr/>
        </p:nvSpPr>
        <p:spPr>
          <a:xfrm>
            <a:off x="4591050" y="3257550"/>
            <a:ext cx="2905125" cy="523875"/>
          </a:xfrm>
          <a:prstGeom prst="rect">
            <a:avLst/>
          </a:prstGeom>
          <a:noFill/>
        </p:spPr>
        <p:txBody>
          <a:bodyPr anchor="t"/>
          <a:lstStyle/>
          <a:p>
            <a:pPr algn="l">
              <a:buNone/>
              <a:defRPr sz="2325" b="1">
                <a:solidFill>
                  <a:srgbClr val="081B3A"/>
                </a:solidFill>
                <a:latin typeface="Aptos"/>
                <a:ea typeface="Aptos"/>
                <a:cs typeface="Aptos"/>
              </a:defRPr>
            </a:pPr>
            <a:r>
              <a:rPr sz="2325" b="1">
                <a:solidFill>
                  <a:srgbClr val="081B3A"/>
                </a:solidFill>
                <a:latin typeface="Aptos"/>
                <a:ea typeface="Aptos"/>
                <a:cs typeface="Aptos"/>
              </a:rPr>
              <a:t>$6,1B → $18,9B</a:t>
            </a:r>
          </a:p>
        </p:txBody>
      </p:sp>
      <p:sp>
        <p:nvSpPr>
          <p:cNvPr id="18" name="Rectangle 17">
            <a:extLst>
              <a:ext uri="{FF2B5EF4-FFF2-40B4-BE49-F238E27FC236}">
                <a16:creationId xmlns:a16="http://schemas.microsoft.com/office/drawing/2014/main" id="{C6E7F09C-1879-4C93-B6A0-BEB1209DEB42}"/>
              </a:ext>
            </a:extLst>
          </p:cNvPr>
          <p:cNvSpPr>
            <a:spLocks noGrp="1"/>
          </p:cNvSpPr>
          <p:nvPr/>
        </p:nvSpPr>
        <p:spPr>
          <a:xfrm>
            <a:off x="4591050" y="3962400"/>
            <a:ext cx="2905125" cy="228600"/>
          </a:xfrm>
          <a:prstGeom prst="rect">
            <a:avLst/>
          </a:prstGeom>
          <a:noFill/>
        </p:spPr>
        <p:txBody>
          <a:bodyPr anchor="t"/>
          <a:lstStyle/>
          <a:p>
            <a:pPr algn="l">
              <a:buNone/>
              <a:defRPr sz="975" b="1">
                <a:solidFill>
                  <a:srgbClr val="6D38F5"/>
                </a:solidFill>
                <a:latin typeface="Aptos"/>
                <a:ea typeface="Aptos"/>
                <a:cs typeface="Aptos"/>
              </a:defRPr>
            </a:pPr>
            <a:r>
              <a:rPr sz="975" b="1">
                <a:solidFill>
                  <a:srgbClr val="6D38F5"/>
                </a:solidFill>
                <a:latin typeface="Aptos"/>
                <a:ea typeface="Aptos"/>
                <a:cs typeface="Aptos"/>
              </a:rPr>
              <a:t>REAL-TIME TEXT</a:t>
            </a:r>
          </a:p>
        </p:txBody>
      </p:sp>
      <p:sp>
        <p:nvSpPr>
          <p:cNvPr id="19" name="Rectangle 18">
            <a:extLst>
              <a:ext uri="{FF2B5EF4-FFF2-40B4-BE49-F238E27FC236}">
                <a16:creationId xmlns:a16="http://schemas.microsoft.com/office/drawing/2014/main" id="{0C390E35-575D-4468-B0F0-D6C2A0BC78D0}"/>
              </a:ext>
            </a:extLst>
          </p:cNvPr>
          <p:cNvSpPr>
            <a:spLocks noGrp="1"/>
          </p:cNvSpPr>
          <p:nvPr/>
        </p:nvSpPr>
        <p:spPr>
          <a:xfrm>
            <a:off x="4591050" y="4343400"/>
            <a:ext cx="2905125" cy="285750"/>
          </a:xfrm>
          <a:prstGeom prst="rect">
            <a:avLst/>
          </a:prstGeom>
          <a:noFill/>
        </p:spPr>
        <p:txBody>
          <a:bodyPr anchor="t"/>
          <a:lstStyle/>
          <a:p>
            <a:pPr algn="l">
              <a:buNone/>
              <a:defRPr sz="1275" b="0">
                <a:solidFill>
                  <a:srgbClr val="64748B"/>
                </a:solidFill>
                <a:latin typeface="Aptos"/>
                <a:ea typeface="Aptos"/>
                <a:cs typeface="Aptos"/>
              </a:defRPr>
            </a:pPr>
            <a:r>
              <a:rPr sz="1275" b="0">
                <a:solidFill>
                  <a:srgbClr val="64748B"/>
                </a:solidFill>
                <a:latin typeface="Aptos"/>
                <a:ea typeface="Aptos"/>
                <a:cs typeface="Aptos"/>
              </a:rPr>
              <a:t>2025 → 2034</a:t>
            </a:r>
          </a:p>
        </p:txBody>
      </p:sp>
      <p:sp>
        <p:nvSpPr>
          <p:cNvPr id="20" name="Rectangle: Rounded Corners 19">
            <a:extLst>
              <a:ext uri="{FF2B5EF4-FFF2-40B4-BE49-F238E27FC236}">
                <a16:creationId xmlns:a16="http://schemas.microsoft.com/office/drawing/2014/main" id="{55F793CA-F472-4998-AD0E-D0C9EAB29A71}"/>
              </a:ext>
            </a:extLst>
          </p:cNvPr>
          <p:cNvSpPr>
            <a:spLocks noGrp="1"/>
          </p:cNvSpPr>
          <p:nvPr/>
        </p:nvSpPr>
        <p:spPr>
          <a:xfrm>
            <a:off x="8039100" y="2857500"/>
            <a:ext cx="3390900" cy="2143125"/>
          </a:xfrm>
          <a:prstGeom prst="roundRect">
            <a:avLst>
              <a:gd name="adj" fmla="val 10667"/>
            </a:avLst>
          </a:prstGeom>
          <a:solidFill>
            <a:srgbClr val="FFFFFF"/>
          </a:solidFill>
          <a:ln w="9525">
            <a:solidFill>
              <a:srgbClr val="DCE6F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21" name="Rectangle: Rounded Corners 20">
            <a:extLst>
              <a:ext uri="{FF2B5EF4-FFF2-40B4-BE49-F238E27FC236}">
                <a16:creationId xmlns:a16="http://schemas.microsoft.com/office/drawing/2014/main" id="{921E9E35-D600-49A2-B28E-12D2B047EEEC}"/>
              </a:ext>
            </a:extLst>
          </p:cNvPr>
          <p:cNvSpPr>
            <a:spLocks noGrp="1"/>
          </p:cNvSpPr>
          <p:nvPr/>
        </p:nvSpPr>
        <p:spPr>
          <a:xfrm>
            <a:off x="8039100" y="2857500"/>
            <a:ext cx="3390900" cy="66675"/>
          </a:xfrm>
          <a:prstGeom prst="roundRect">
            <a:avLst>
              <a:gd name="adj" fmla="val 50000"/>
            </a:avLst>
          </a:prstGeom>
          <a:solidFill>
            <a:srgbClr val="15B77E"/>
          </a:solidFill>
        </p:spPr>
        <p:txBody>
          <a:bodyPr/>
          <a:lstStyle/>
          <a:p>
            <a:endParaRPr lang="en-US"/>
          </a:p>
        </p:txBody>
      </p:sp>
      <p:sp>
        <p:nvSpPr>
          <p:cNvPr id="22" name="Rectangle 21">
            <a:extLst>
              <a:ext uri="{FF2B5EF4-FFF2-40B4-BE49-F238E27FC236}">
                <a16:creationId xmlns:a16="http://schemas.microsoft.com/office/drawing/2014/main" id="{D9A1B45F-675B-4EEC-941C-A1AC9D5A59CE}"/>
              </a:ext>
            </a:extLst>
          </p:cNvPr>
          <p:cNvSpPr>
            <a:spLocks noGrp="1"/>
          </p:cNvSpPr>
          <p:nvPr/>
        </p:nvSpPr>
        <p:spPr>
          <a:xfrm>
            <a:off x="8286750" y="3257550"/>
            <a:ext cx="2905125" cy="523875"/>
          </a:xfrm>
          <a:prstGeom prst="rect">
            <a:avLst/>
          </a:prstGeom>
          <a:noFill/>
        </p:spPr>
        <p:txBody>
          <a:bodyPr anchor="t"/>
          <a:lstStyle/>
          <a:p>
            <a:pPr algn="l">
              <a:buNone/>
              <a:defRPr sz="2325" b="1">
                <a:solidFill>
                  <a:srgbClr val="081B3A"/>
                </a:solidFill>
                <a:latin typeface="Aptos"/>
                <a:ea typeface="Aptos"/>
                <a:cs typeface="Aptos"/>
              </a:defRPr>
            </a:pPr>
            <a:r>
              <a:rPr sz="2325" b="1">
                <a:solidFill>
                  <a:srgbClr val="081B3A"/>
                </a:solidFill>
                <a:latin typeface="Aptos"/>
                <a:ea typeface="Aptos"/>
                <a:cs typeface="Aptos"/>
              </a:rPr>
              <a:t>$65,5B</a:t>
            </a:r>
          </a:p>
        </p:txBody>
      </p:sp>
      <p:sp>
        <p:nvSpPr>
          <p:cNvPr id="23" name="Rectangle 22">
            <a:extLst>
              <a:ext uri="{FF2B5EF4-FFF2-40B4-BE49-F238E27FC236}">
                <a16:creationId xmlns:a16="http://schemas.microsoft.com/office/drawing/2014/main" id="{77117384-9D9D-42F8-A1A0-661F10FF630E}"/>
              </a:ext>
            </a:extLst>
          </p:cNvPr>
          <p:cNvSpPr>
            <a:spLocks noGrp="1"/>
          </p:cNvSpPr>
          <p:nvPr/>
        </p:nvSpPr>
        <p:spPr>
          <a:xfrm>
            <a:off x="8286750" y="3962400"/>
            <a:ext cx="2905125" cy="228600"/>
          </a:xfrm>
          <a:prstGeom prst="rect">
            <a:avLst/>
          </a:prstGeom>
          <a:noFill/>
        </p:spPr>
        <p:txBody>
          <a:bodyPr anchor="t"/>
          <a:lstStyle/>
          <a:p>
            <a:pPr algn="l">
              <a:buNone/>
              <a:defRPr sz="975" b="1">
                <a:solidFill>
                  <a:srgbClr val="15B77E"/>
                </a:solidFill>
                <a:latin typeface="Aptos"/>
                <a:ea typeface="Aptos"/>
                <a:cs typeface="Aptos"/>
              </a:defRPr>
            </a:pPr>
            <a:r>
              <a:rPr sz="975" b="1">
                <a:solidFill>
                  <a:srgbClr val="15B77E"/>
                </a:solidFill>
                <a:latin typeface="Aptos"/>
                <a:ea typeface="Aptos"/>
                <a:cs typeface="Aptos"/>
              </a:rPr>
              <a:t>NGÀNH DỊCH THUẬT</a:t>
            </a:r>
          </a:p>
        </p:txBody>
      </p:sp>
      <p:sp>
        <p:nvSpPr>
          <p:cNvPr id="24" name="Rectangle 23">
            <a:extLst>
              <a:ext uri="{FF2B5EF4-FFF2-40B4-BE49-F238E27FC236}">
                <a16:creationId xmlns:a16="http://schemas.microsoft.com/office/drawing/2014/main" id="{B32D8BD7-832A-4CE8-B72B-80C7BADA6958}"/>
              </a:ext>
            </a:extLst>
          </p:cNvPr>
          <p:cNvSpPr>
            <a:spLocks noGrp="1"/>
          </p:cNvSpPr>
          <p:nvPr/>
        </p:nvSpPr>
        <p:spPr>
          <a:xfrm>
            <a:off x="8286750" y="4343400"/>
            <a:ext cx="2905125" cy="285750"/>
          </a:xfrm>
          <a:prstGeom prst="rect">
            <a:avLst/>
          </a:prstGeom>
          <a:noFill/>
        </p:spPr>
        <p:txBody>
          <a:bodyPr anchor="t"/>
          <a:lstStyle/>
          <a:p>
            <a:pPr algn="l">
              <a:buNone/>
              <a:defRPr sz="1275" b="0">
                <a:solidFill>
                  <a:srgbClr val="64748B"/>
                </a:solidFill>
                <a:latin typeface="Aptos"/>
                <a:ea typeface="Aptos"/>
                <a:cs typeface="Aptos"/>
              </a:defRPr>
            </a:pPr>
            <a:r>
              <a:rPr sz="1275" b="0">
                <a:solidFill>
                  <a:srgbClr val="64748B"/>
                </a:solidFill>
                <a:latin typeface="Aptos"/>
                <a:ea typeface="Aptos"/>
                <a:cs typeface="Aptos"/>
              </a:rPr>
              <a:t>toàn cầu · 2026</a:t>
            </a:r>
          </a:p>
        </p:txBody>
      </p:sp>
      <p:sp>
        <p:nvSpPr>
          <p:cNvPr id="25" name="Rectangle: Rounded Corners 24">
            <a:extLst>
              <a:ext uri="{FF2B5EF4-FFF2-40B4-BE49-F238E27FC236}">
                <a16:creationId xmlns:a16="http://schemas.microsoft.com/office/drawing/2014/main" id="{34E10A5C-91E2-4D50-8B5B-B941D9815B1D}"/>
              </a:ext>
            </a:extLst>
          </p:cNvPr>
          <p:cNvSpPr>
            <a:spLocks noGrp="1"/>
          </p:cNvSpPr>
          <p:nvPr/>
        </p:nvSpPr>
        <p:spPr>
          <a:xfrm>
            <a:off x="647700" y="5334000"/>
            <a:ext cx="10782300" cy="800100"/>
          </a:xfrm>
          <a:prstGeom prst="roundRect">
            <a:avLst>
              <a:gd name="adj" fmla="val 23810"/>
            </a:avLst>
          </a:prstGeom>
          <a:gradFill>
            <a:gsLst>
              <a:gs pos="0">
                <a:srgbClr val="246BFD"/>
              </a:gs>
              <a:gs pos="100000">
                <a:srgbClr val="6D38F5"/>
              </a:gs>
            </a:gsLst>
            <a:lin ang="5400000"/>
          </a:gradFill>
        </p:spPr>
        <p:txBody>
          <a:bodyPr/>
          <a:lstStyle/>
          <a:p>
            <a:endParaRPr lang="en-US"/>
          </a:p>
        </p:txBody>
      </p:sp>
      <p:sp>
        <p:nvSpPr>
          <p:cNvPr id="26" name="Rectangle 25">
            <a:extLst>
              <a:ext uri="{FF2B5EF4-FFF2-40B4-BE49-F238E27FC236}">
                <a16:creationId xmlns:a16="http://schemas.microsoft.com/office/drawing/2014/main" id="{F6F92250-C1E2-4855-8588-FF037234341D}"/>
              </a:ext>
            </a:extLst>
          </p:cNvPr>
          <p:cNvSpPr>
            <a:spLocks noGrp="1"/>
          </p:cNvSpPr>
          <p:nvPr/>
        </p:nvSpPr>
        <p:spPr>
          <a:xfrm>
            <a:off x="904875" y="5505450"/>
            <a:ext cx="10287000" cy="447675"/>
          </a:xfrm>
          <a:prstGeom prst="rect">
            <a:avLst/>
          </a:prstGeom>
          <a:noFill/>
        </p:spPr>
        <p:txBody>
          <a:bodyPr anchor="ctr"/>
          <a:lstStyle/>
          <a:p>
            <a:pPr algn="ctr">
              <a:buNone/>
              <a:defRPr sz="1500" b="1">
                <a:solidFill>
                  <a:srgbClr val="FFFFFF"/>
                </a:solidFill>
                <a:latin typeface="Aptos"/>
                <a:ea typeface="Aptos"/>
                <a:cs typeface="Aptos"/>
              </a:defRPr>
            </a:pPr>
            <a:r>
              <a:rPr sz="1500" b="1">
                <a:solidFill>
                  <a:srgbClr val="FFFFFF"/>
                </a:solidFill>
                <a:latin typeface="Aptos"/>
                <a:ea typeface="Aptos"/>
                <a:cs typeface="Aptos"/>
              </a:rPr>
              <a:t>Cơ hội: dịch ngay trong công cụ giao tiếp — không kéo người dùng ra khỏi cuộc hội thoại.</a:t>
            </a:r>
          </a:p>
        </p:txBody>
      </p:sp>
    </p:spTree>
    <p:extLst>
      <p:ext uri="{BB962C8B-B14F-4D97-AF65-F5344CB8AC3E}">
        <p14:creationId xmlns:p14="http://schemas.microsoft.com/office/powerpoint/2010/main" val="5370863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F"/>
        </a:solidFill>
        <a:effectLst/>
      </p:bgPr>
    </p:bg>
    <p:spTree>
      <p:nvGrpSpPr>
        <p:cNvPr id="1" name=""/>
        <p:cNvGrpSpPr/>
        <p:nvPr/>
      </p:nvGrpSpPr>
      <p:grpSpPr>
        <a:xfrm>
          <a:off x="0" y="0"/>
          <a:ext cx="0" cy="0"/>
          <a:chOff x="0" y="0"/>
          <a:chExt cx="0" cy="0"/>
        </a:xfrm>
      </p:grpSpPr>
      <p:sp>
        <p:nvSpPr>
          <p:cNvPr id="21" name="Rectangle: Rounded Corners 20">
            <a:extLst>
              <a:ext uri="{FF2B5EF4-FFF2-40B4-BE49-F238E27FC236}">
                <a16:creationId xmlns:a16="http://schemas.microsoft.com/office/drawing/2014/main" id="{D69993C1-B0F8-4CE4-A314-19565C37BD1C}"/>
              </a:ext>
            </a:extLst>
          </p:cNvPr>
          <p:cNvSpPr>
            <a:spLocks noGrp="1"/>
          </p:cNvSpPr>
          <p:nvPr/>
        </p:nvSpPr>
        <p:spPr>
          <a:xfrm>
            <a:off x="552450" y="361950"/>
            <a:ext cx="323850" cy="323850"/>
          </a:xfrm>
          <a:prstGeom prst="roundRect">
            <a:avLst>
              <a:gd name="adj" fmla="val 29412"/>
            </a:avLst>
          </a:prstGeom>
          <a:gradFill>
            <a:gsLst>
              <a:gs pos="0">
                <a:srgbClr val="246BFD"/>
              </a:gs>
              <a:gs pos="100000">
                <a:srgbClr val="6D38F5"/>
              </a:gs>
            </a:gsLst>
            <a:lin ang="8100000"/>
          </a:gradFill>
        </p:spPr>
        <p:txBody>
          <a:bodyPr/>
          <a:lstStyle/>
          <a:p>
            <a:endParaRPr lang="en-US"/>
          </a:p>
        </p:txBody>
      </p:sp>
      <p:sp>
        <p:nvSpPr>
          <p:cNvPr id="2" name="Rectangle 1">
            <a:extLst>
              <a:ext uri="{FF2B5EF4-FFF2-40B4-BE49-F238E27FC236}">
                <a16:creationId xmlns:a16="http://schemas.microsoft.com/office/drawing/2014/main" id="{D5764835-2A25-44E2-8EEC-421D6BC6661A}"/>
              </a:ext>
            </a:extLst>
          </p:cNvPr>
          <p:cNvSpPr>
            <a:spLocks noGrp="1"/>
          </p:cNvSpPr>
          <p:nvPr/>
        </p:nvSpPr>
        <p:spPr>
          <a:xfrm>
            <a:off x="552450" y="361950"/>
            <a:ext cx="323850" cy="323850"/>
          </a:xfrm>
          <a:prstGeom prst="rect">
            <a:avLst/>
          </a:prstGeom>
          <a:noFill/>
        </p:spPr>
        <p:txBody>
          <a:bodyPr anchor="ctr"/>
          <a:lstStyle/>
          <a:p>
            <a:pPr algn="ctr">
              <a:buNone/>
              <a:defRPr sz="1350" b="1">
                <a:solidFill>
                  <a:srgbClr val="FFFFFF"/>
                </a:solidFill>
                <a:latin typeface="Aptos"/>
                <a:ea typeface="Aptos"/>
                <a:cs typeface="Aptos"/>
              </a:defRPr>
            </a:pPr>
            <a:r>
              <a:rPr sz="1350" b="1">
                <a:solidFill>
                  <a:srgbClr val="FFFFFF"/>
                </a:solidFill>
                <a:latin typeface="Aptos"/>
                <a:ea typeface="Aptos"/>
                <a:cs typeface="Aptos"/>
              </a:rPr>
              <a:t>≋</a:t>
            </a:r>
          </a:p>
        </p:txBody>
      </p:sp>
      <p:sp>
        <p:nvSpPr>
          <p:cNvPr id="3" name="Rectangle 2">
            <a:extLst>
              <a:ext uri="{FF2B5EF4-FFF2-40B4-BE49-F238E27FC236}">
                <a16:creationId xmlns:a16="http://schemas.microsoft.com/office/drawing/2014/main" id="{671F3678-F5EE-46AF-8CB3-481C9127AE1E}"/>
              </a:ext>
            </a:extLst>
          </p:cNvPr>
          <p:cNvSpPr>
            <a:spLocks noGrp="1"/>
          </p:cNvSpPr>
          <p:nvPr/>
        </p:nvSpPr>
        <p:spPr>
          <a:xfrm>
            <a:off x="971550" y="390525"/>
            <a:ext cx="1409700" cy="266700"/>
          </a:xfrm>
          <a:prstGeom prst="rect">
            <a:avLst/>
          </a:prstGeom>
          <a:noFill/>
        </p:spPr>
        <p:txBody>
          <a:bodyPr anchor="t"/>
          <a:lstStyle/>
          <a:p>
            <a:pPr algn="l">
              <a:buNone/>
              <a:defRPr sz="1500" b="1">
                <a:solidFill>
                  <a:srgbClr val="081B3A"/>
                </a:solidFill>
                <a:latin typeface="Aptos"/>
                <a:ea typeface="Aptos"/>
                <a:cs typeface="Aptos"/>
              </a:defRPr>
            </a:pPr>
            <a:r>
              <a:rPr sz="1500" b="1">
                <a:solidFill>
                  <a:srgbClr val="081B3A"/>
                </a:solidFill>
                <a:latin typeface="Aptos"/>
                <a:ea typeface="Aptos"/>
                <a:cs typeface="Aptos"/>
              </a:rPr>
              <a:t>LinguaFlow</a:t>
            </a:r>
          </a:p>
        </p:txBody>
      </p:sp>
      <p:sp>
        <p:nvSpPr>
          <p:cNvPr id="4" name="Rectangle 3">
            <a:extLst>
              <a:ext uri="{FF2B5EF4-FFF2-40B4-BE49-F238E27FC236}">
                <a16:creationId xmlns:a16="http://schemas.microsoft.com/office/drawing/2014/main" id="{E09B5EA9-CF38-4CFA-85C9-5C31C040BA60}"/>
              </a:ext>
            </a:extLst>
          </p:cNvPr>
          <p:cNvSpPr>
            <a:spLocks noGrp="1"/>
          </p:cNvSpPr>
          <p:nvPr/>
        </p:nvSpPr>
        <p:spPr>
          <a:xfrm>
            <a:off x="8905875" y="428625"/>
            <a:ext cx="2238375" cy="190500"/>
          </a:xfrm>
          <a:prstGeom prst="rect">
            <a:avLst/>
          </a:prstGeom>
          <a:noFill/>
        </p:spPr>
        <p:txBody>
          <a:bodyPr anchor="t"/>
          <a:lstStyle/>
          <a:p>
            <a:pPr algn="r">
              <a:buNone/>
              <a:defRPr sz="825" b="1">
                <a:solidFill>
                  <a:srgbClr val="64748B"/>
                </a:solidFill>
                <a:latin typeface="Aptos"/>
                <a:ea typeface="Aptos"/>
                <a:cs typeface="Aptos"/>
              </a:defRPr>
            </a:pPr>
            <a:r>
              <a:rPr sz="825" b="1">
                <a:solidFill>
                  <a:srgbClr val="64748B"/>
                </a:solidFill>
                <a:latin typeface="Aptos"/>
                <a:ea typeface="Aptos"/>
                <a:cs typeface="Aptos"/>
              </a:rPr>
              <a:t>GIẢI PHÁP</a:t>
            </a:r>
          </a:p>
        </p:txBody>
      </p:sp>
      <p:sp>
        <p:nvSpPr>
          <p:cNvPr id="5" name="Rectangle 4">
            <a:extLst>
              <a:ext uri="{FF2B5EF4-FFF2-40B4-BE49-F238E27FC236}">
                <a16:creationId xmlns:a16="http://schemas.microsoft.com/office/drawing/2014/main" id="{2CBA899A-BA9A-4BC5-BD9A-8044F65DD89E}"/>
              </a:ext>
            </a:extLst>
          </p:cNvPr>
          <p:cNvSpPr>
            <a:spLocks noGrp="1"/>
          </p:cNvSpPr>
          <p:nvPr/>
        </p:nvSpPr>
        <p:spPr>
          <a:xfrm>
            <a:off x="11334750" y="409575"/>
            <a:ext cx="361950" cy="190500"/>
          </a:xfrm>
          <a:prstGeom prst="rect">
            <a:avLst/>
          </a:prstGeom>
          <a:noFill/>
        </p:spPr>
        <p:txBody>
          <a:bodyPr anchor="t"/>
          <a:lstStyle/>
          <a:p>
            <a:pPr algn="r">
              <a:buNone/>
              <a:defRPr sz="900" b="1">
                <a:solidFill>
                  <a:srgbClr val="246BFD"/>
                </a:solidFill>
                <a:latin typeface="Aptos"/>
                <a:ea typeface="Aptos"/>
                <a:cs typeface="Aptos"/>
              </a:defRPr>
            </a:pPr>
            <a:r>
              <a:rPr sz="900" b="1">
                <a:solidFill>
                  <a:srgbClr val="246BFD"/>
                </a:solidFill>
                <a:latin typeface="Aptos"/>
                <a:ea typeface="Aptos"/>
                <a:cs typeface="Aptos"/>
              </a:rPr>
              <a:t>04</a:t>
            </a:r>
          </a:p>
        </p:txBody>
      </p:sp>
      <p:sp>
        <p:nvSpPr>
          <p:cNvPr id="6" name="Rectangle 5">
            <a:extLst>
              <a:ext uri="{FF2B5EF4-FFF2-40B4-BE49-F238E27FC236}">
                <a16:creationId xmlns:a16="http://schemas.microsoft.com/office/drawing/2014/main" id="{D6409A99-3F75-4BCC-99D5-5CE5F5A804E4}"/>
              </a:ext>
            </a:extLst>
          </p:cNvPr>
          <p:cNvSpPr>
            <a:spLocks noGrp="1"/>
          </p:cNvSpPr>
          <p:nvPr/>
        </p:nvSpPr>
        <p:spPr>
          <a:xfrm>
            <a:off x="552450" y="800100"/>
            <a:ext cx="11144250" cy="9525"/>
          </a:xfrm>
          <a:prstGeom prst="rect">
            <a:avLst/>
          </a:prstGeom>
          <a:solidFill>
            <a:srgbClr val="DCE6F5"/>
          </a:solidFill>
        </p:spPr>
        <p:txBody>
          <a:bodyPr/>
          <a:lstStyle/>
          <a:p>
            <a:endParaRPr lang="en-US"/>
          </a:p>
        </p:txBody>
      </p:sp>
      <p:sp>
        <p:nvSpPr>
          <p:cNvPr id="7" name="Rectangle: Rounded Corners 6">
            <a:extLst>
              <a:ext uri="{FF2B5EF4-FFF2-40B4-BE49-F238E27FC236}">
                <a16:creationId xmlns:a16="http://schemas.microsoft.com/office/drawing/2014/main" id="{02C826CB-6C7F-4ECF-AF70-A2C7CE0C4069}"/>
              </a:ext>
            </a:extLst>
          </p:cNvPr>
          <p:cNvSpPr>
            <a:spLocks noGrp="1"/>
          </p:cNvSpPr>
          <p:nvPr/>
        </p:nvSpPr>
        <p:spPr>
          <a:xfrm>
            <a:off x="647700" y="1104900"/>
            <a:ext cx="1162050" cy="304800"/>
          </a:xfrm>
          <a:prstGeom prst="roundRect">
            <a:avLst>
              <a:gd name="adj" fmla="val 50000"/>
            </a:avLst>
          </a:prstGeom>
          <a:solidFill>
            <a:srgbClr val="246BFD"/>
          </a:solidFill>
        </p:spPr>
        <p:txBody>
          <a:bodyPr anchor="ctr"/>
          <a:lstStyle/>
          <a:p>
            <a:pPr algn="ctr">
              <a:buNone/>
              <a:defRPr sz="900" b="1">
                <a:solidFill>
                  <a:srgbClr val="FFFFFF"/>
                </a:solidFill>
                <a:latin typeface="Aptos"/>
                <a:ea typeface="Aptos"/>
                <a:cs typeface="Aptos"/>
              </a:defRPr>
            </a:pPr>
            <a:r>
              <a:rPr sz="900" b="1">
                <a:solidFill>
                  <a:srgbClr val="FFFFFF"/>
                </a:solidFill>
                <a:latin typeface="Aptos"/>
                <a:ea typeface="Aptos"/>
                <a:cs typeface="Aptos"/>
              </a:rPr>
              <a:t>LIVE PRODUCT</a:t>
            </a:r>
          </a:p>
        </p:txBody>
      </p:sp>
      <p:sp>
        <p:nvSpPr>
          <p:cNvPr id="8" name="Rectangle 7">
            <a:extLst>
              <a:ext uri="{FF2B5EF4-FFF2-40B4-BE49-F238E27FC236}">
                <a16:creationId xmlns:a16="http://schemas.microsoft.com/office/drawing/2014/main" id="{4CBA82A4-42CD-47AC-B6A7-919B1ECF7D67}"/>
              </a:ext>
            </a:extLst>
          </p:cNvPr>
          <p:cNvSpPr>
            <a:spLocks noGrp="1"/>
          </p:cNvSpPr>
          <p:nvPr/>
        </p:nvSpPr>
        <p:spPr>
          <a:xfrm>
            <a:off x="647700" y="1562100"/>
            <a:ext cx="5286375" cy="1095375"/>
          </a:xfrm>
          <a:prstGeom prst="rect">
            <a:avLst/>
          </a:prstGeom>
          <a:noFill/>
        </p:spPr>
        <p:txBody>
          <a:bodyPr anchor="t"/>
          <a:lstStyle/>
          <a:p>
            <a:pPr algn="l">
              <a:buNone/>
              <a:defRPr sz="2775" b="1">
                <a:solidFill>
                  <a:srgbClr val="081B3A"/>
                </a:solidFill>
                <a:latin typeface="Aptos"/>
                <a:ea typeface="Aptos"/>
                <a:cs typeface="Aptos"/>
              </a:defRPr>
            </a:pPr>
            <a:r>
              <a:rPr sz="2775" b="1">
                <a:solidFill>
                  <a:srgbClr val="081B3A"/>
                </a:solidFill>
                <a:latin typeface="Aptos"/>
                <a:ea typeface="Aptos"/>
                <a:cs typeface="Aptos"/>
              </a:rPr>
              <a:t>Giải pháp: dựng bản dịch</a:t>
            </a:r>
          </a:p>
          <a:p>
            <a:pPr algn="l">
              <a:buNone/>
              <a:defRPr sz="2775" b="1">
                <a:solidFill>
                  <a:srgbClr val="081B3A"/>
                </a:solidFill>
                <a:latin typeface="Aptos"/>
                <a:ea typeface="Aptos"/>
                <a:cs typeface="Aptos"/>
              </a:defRPr>
            </a:pPr>
            <a:r>
              <a:rPr sz="2775" b="1">
                <a:solidFill>
                  <a:srgbClr val="081B3A"/>
                </a:solidFill>
                <a:latin typeface="Aptos"/>
                <a:ea typeface="Aptos"/>
                <a:cs typeface="Aptos"/>
              </a:rPr>
              <a:t>theo từng người nhận</a:t>
            </a:r>
          </a:p>
        </p:txBody>
      </p:sp>
      <p:sp>
        <p:nvSpPr>
          <p:cNvPr id="9" name="Oval 8">
            <a:extLst>
              <a:ext uri="{FF2B5EF4-FFF2-40B4-BE49-F238E27FC236}">
                <a16:creationId xmlns:a16="http://schemas.microsoft.com/office/drawing/2014/main" id="{26C924BD-C7B6-42C4-8E27-E8D052548D78}"/>
              </a:ext>
            </a:extLst>
          </p:cNvPr>
          <p:cNvSpPr>
            <a:spLocks noGrp="1"/>
          </p:cNvSpPr>
          <p:nvPr/>
        </p:nvSpPr>
        <p:spPr>
          <a:xfrm>
            <a:off x="647700" y="3171825"/>
            <a:ext cx="457200" cy="457200"/>
          </a:xfrm>
          <a:prstGeom prst="ellipse">
            <a:avLst/>
          </a:prstGeom>
          <a:solidFill>
            <a:srgbClr val="246BFD"/>
          </a:solidFill>
        </p:spPr>
        <p:txBody>
          <a:bodyPr anchor="ctr"/>
          <a:lstStyle/>
          <a:p>
            <a:pPr algn="ctr">
              <a:buNone/>
              <a:defRPr sz="1125" b="1">
                <a:solidFill>
                  <a:srgbClr val="FFFFFF"/>
                </a:solidFill>
                <a:latin typeface="Aptos"/>
                <a:ea typeface="Aptos"/>
                <a:cs typeface="Aptos"/>
              </a:defRPr>
            </a:pPr>
            <a:r>
              <a:rPr sz="1125" b="1">
                <a:solidFill>
                  <a:srgbClr val="FFFFFF"/>
                </a:solidFill>
                <a:latin typeface="Aptos"/>
                <a:ea typeface="Aptos"/>
                <a:cs typeface="Aptos"/>
              </a:rPr>
              <a:t>1</a:t>
            </a:r>
          </a:p>
        </p:txBody>
      </p:sp>
      <p:sp>
        <p:nvSpPr>
          <p:cNvPr id="10" name="Rectangle 9">
            <a:extLst>
              <a:ext uri="{FF2B5EF4-FFF2-40B4-BE49-F238E27FC236}">
                <a16:creationId xmlns:a16="http://schemas.microsoft.com/office/drawing/2014/main" id="{1F22F740-C871-4446-94FB-A193EDC2A694}"/>
              </a:ext>
            </a:extLst>
          </p:cNvPr>
          <p:cNvSpPr>
            <a:spLocks noGrp="1"/>
          </p:cNvSpPr>
          <p:nvPr/>
        </p:nvSpPr>
        <p:spPr>
          <a:xfrm>
            <a:off x="1257300" y="3162300"/>
            <a:ext cx="1619250" cy="219075"/>
          </a:xfrm>
          <a:prstGeom prst="rect">
            <a:avLst/>
          </a:prstGeom>
          <a:noFill/>
        </p:spPr>
        <p:txBody>
          <a:bodyPr anchor="t"/>
          <a:lstStyle/>
          <a:p>
            <a:pPr algn="l">
              <a:buNone/>
              <a:defRPr sz="975" b="1">
                <a:solidFill>
                  <a:srgbClr val="246BFD"/>
                </a:solidFill>
                <a:latin typeface="Aptos"/>
                <a:ea typeface="Aptos"/>
                <a:cs typeface="Aptos"/>
              </a:defRPr>
            </a:pPr>
            <a:r>
              <a:rPr sz="975" b="1">
                <a:solidFill>
                  <a:srgbClr val="246BFD"/>
                </a:solidFill>
                <a:latin typeface="Aptos"/>
                <a:ea typeface="Aptos"/>
                <a:cs typeface="Aptos"/>
              </a:rPr>
              <a:t>HIỂU QUAN HỆ</a:t>
            </a:r>
          </a:p>
        </p:txBody>
      </p:sp>
      <p:sp>
        <p:nvSpPr>
          <p:cNvPr id="11" name="Rectangle 10">
            <a:extLst>
              <a:ext uri="{FF2B5EF4-FFF2-40B4-BE49-F238E27FC236}">
                <a16:creationId xmlns:a16="http://schemas.microsoft.com/office/drawing/2014/main" id="{2A0B912E-0290-4C65-8290-1227F9F83FC5}"/>
              </a:ext>
            </a:extLst>
          </p:cNvPr>
          <p:cNvSpPr>
            <a:spLocks noGrp="1"/>
          </p:cNvSpPr>
          <p:nvPr/>
        </p:nvSpPr>
        <p:spPr>
          <a:xfrm>
            <a:off x="1257300" y="3400425"/>
            <a:ext cx="3429000" cy="285750"/>
          </a:xfrm>
          <a:prstGeom prst="rect">
            <a:avLst/>
          </a:prstGeom>
          <a:noFill/>
        </p:spPr>
        <p:txBody>
          <a:bodyPr anchor="t"/>
          <a:lstStyle/>
          <a:p>
            <a:pPr algn="l">
              <a:buNone/>
              <a:defRPr sz="1350" b="1">
                <a:solidFill>
                  <a:srgbClr val="12233F"/>
                </a:solidFill>
                <a:latin typeface="Aptos"/>
                <a:ea typeface="Aptos"/>
                <a:cs typeface="Aptos"/>
              </a:defRPr>
            </a:pPr>
            <a:r>
              <a:rPr sz="1350" b="1">
                <a:solidFill>
                  <a:srgbClr val="12233F"/>
                </a:solidFill>
                <a:latin typeface="Aptos"/>
                <a:ea typeface="Aptos"/>
                <a:cs typeface="Aptos"/>
              </a:rPr>
              <a:t>Xưng hô theo vai vế người đọc</a:t>
            </a:r>
          </a:p>
        </p:txBody>
      </p:sp>
      <p:sp>
        <p:nvSpPr>
          <p:cNvPr id="12" name="Oval 11">
            <a:extLst>
              <a:ext uri="{FF2B5EF4-FFF2-40B4-BE49-F238E27FC236}">
                <a16:creationId xmlns:a16="http://schemas.microsoft.com/office/drawing/2014/main" id="{6804B877-99BC-4EAE-9D28-88886E811EF1}"/>
              </a:ext>
            </a:extLst>
          </p:cNvPr>
          <p:cNvSpPr>
            <a:spLocks noGrp="1"/>
          </p:cNvSpPr>
          <p:nvPr/>
        </p:nvSpPr>
        <p:spPr>
          <a:xfrm>
            <a:off x="647700" y="3952875"/>
            <a:ext cx="457200" cy="457200"/>
          </a:xfrm>
          <a:prstGeom prst="ellipse">
            <a:avLst/>
          </a:prstGeom>
          <a:solidFill>
            <a:srgbClr val="6D38F5"/>
          </a:solidFill>
        </p:spPr>
        <p:txBody>
          <a:bodyPr anchor="ctr"/>
          <a:lstStyle/>
          <a:p>
            <a:pPr algn="ctr">
              <a:buNone/>
              <a:defRPr sz="1125" b="1">
                <a:solidFill>
                  <a:srgbClr val="FFFFFF"/>
                </a:solidFill>
                <a:latin typeface="Aptos"/>
                <a:ea typeface="Aptos"/>
                <a:cs typeface="Aptos"/>
              </a:defRPr>
            </a:pPr>
            <a:r>
              <a:rPr sz="1125" b="1">
                <a:solidFill>
                  <a:srgbClr val="FFFFFF"/>
                </a:solidFill>
                <a:latin typeface="Aptos"/>
                <a:ea typeface="Aptos"/>
                <a:cs typeface="Aptos"/>
              </a:rPr>
              <a:t>2</a:t>
            </a:r>
          </a:p>
        </p:txBody>
      </p:sp>
      <p:sp>
        <p:nvSpPr>
          <p:cNvPr id="13" name="Rectangle 12">
            <a:extLst>
              <a:ext uri="{FF2B5EF4-FFF2-40B4-BE49-F238E27FC236}">
                <a16:creationId xmlns:a16="http://schemas.microsoft.com/office/drawing/2014/main" id="{40A01DC6-5E1D-404F-9AE4-CDC6BF3E17E5}"/>
              </a:ext>
            </a:extLst>
          </p:cNvPr>
          <p:cNvSpPr>
            <a:spLocks noGrp="1"/>
          </p:cNvSpPr>
          <p:nvPr/>
        </p:nvSpPr>
        <p:spPr>
          <a:xfrm>
            <a:off x="1257300" y="3943350"/>
            <a:ext cx="1619250" cy="219075"/>
          </a:xfrm>
          <a:prstGeom prst="rect">
            <a:avLst/>
          </a:prstGeom>
          <a:noFill/>
        </p:spPr>
        <p:txBody>
          <a:bodyPr anchor="t"/>
          <a:lstStyle/>
          <a:p>
            <a:pPr algn="l">
              <a:buNone/>
              <a:defRPr sz="975" b="1">
                <a:solidFill>
                  <a:srgbClr val="6D38F5"/>
                </a:solidFill>
                <a:latin typeface="Aptos"/>
                <a:ea typeface="Aptos"/>
                <a:cs typeface="Aptos"/>
              </a:defRPr>
            </a:pPr>
            <a:r>
              <a:rPr sz="975" b="1">
                <a:solidFill>
                  <a:srgbClr val="6D38F5"/>
                </a:solidFill>
                <a:latin typeface="Aptos"/>
                <a:ea typeface="Aptos"/>
                <a:cs typeface="Aptos"/>
              </a:rPr>
              <a:t>HIỂU LĨNH VỰC</a:t>
            </a:r>
          </a:p>
        </p:txBody>
      </p:sp>
      <p:sp>
        <p:nvSpPr>
          <p:cNvPr id="14" name="Rectangle 13">
            <a:extLst>
              <a:ext uri="{FF2B5EF4-FFF2-40B4-BE49-F238E27FC236}">
                <a16:creationId xmlns:a16="http://schemas.microsoft.com/office/drawing/2014/main" id="{1B886EE9-ACF7-415C-8923-0E25592B935F}"/>
              </a:ext>
            </a:extLst>
          </p:cNvPr>
          <p:cNvSpPr>
            <a:spLocks noGrp="1"/>
          </p:cNvSpPr>
          <p:nvPr/>
        </p:nvSpPr>
        <p:spPr>
          <a:xfrm>
            <a:off x="1257300" y="4181475"/>
            <a:ext cx="3429000" cy="285750"/>
          </a:xfrm>
          <a:prstGeom prst="rect">
            <a:avLst/>
          </a:prstGeom>
          <a:noFill/>
        </p:spPr>
        <p:txBody>
          <a:bodyPr anchor="t"/>
          <a:lstStyle/>
          <a:p>
            <a:pPr algn="l">
              <a:buNone/>
              <a:defRPr sz="1350" b="1">
                <a:solidFill>
                  <a:srgbClr val="12233F"/>
                </a:solidFill>
                <a:latin typeface="Aptos"/>
                <a:ea typeface="Aptos"/>
                <a:cs typeface="Aptos"/>
              </a:defRPr>
            </a:pPr>
            <a:r>
              <a:rPr sz="1350" b="1">
                <a:solidFill>
                  <a:srgbClr val="12233F"/>
                </a:solidFill>
                <a:latin typeface="Aptos"/>
                <a:ea typeface="Aptos"/>
                <a:cs typeface="Aptos"/>
              </a:rPr>
              <a:t>Glossary theo domain đã chọn</a:t>
            </a:r>
          </a:p>
        </p:txBody>
      </p:sp>
      <p:sp>
        <p:nvSpPr>
          <p:cNvPr id="15" name="Oval 14">
            <a:extLst>
              <a:ext uri="{FF2B5EF4-FFF2-40B4-BE49-F238E27FC236}">
                <a16:creationId xmlns:a16="http://schemas.microsoft.com/office/drawing/2014/main" id="{338AB131-C056-4079-A527-FAD5BC1EA2B8}"/>
              </a:ext>
            </a:extLst>
          </p:cNvPr>
          <p:cNvSpPr>
            <a:spLocks noGrp="1"/>
          </p:cNvSpPr>
          <p:nvPr/>
        </p:nvSpPr>
        <p:spPr>
          <a:xfrm>
            <a:off x="647700" y="4733925"/>
            <a:ext cx="457200" cy="457200"/>
          </a:xfrm>
          <a:prstGeom prst="ellipse">
            <a:avLst/>
          </a:prstGeom>
          <a:solidFill>
            <a:srgbClr val="15B77E"/>
          </a:solidFill>
        </p:spPr>
        <p:txBody>
          <a:bodyPr anchor="ctr"/>
          <a:lstStyle/>
          <a:p>
            <a:pPr algn="ctr">
              <a:buNone/>
              <a:defRPr sz="1125" b="1">
                <a:solidFill>
                  <a:srgbClr val="FFFFFF"/>
                </a:solidFill>
                <a:latin typeface="Aptos"/>
                <a:ea typeface="Aptos"/>
                <a:cs typeface="Aptos"/>
              </a:defRPr>
            </a:pPr>
            <a:r>
              <a:rPr sz="1125" b="1">
                <a:solidFill>
                  <a:srgbClr val="FFFFFF"/>
                </a:solidFill>
                <a:latin typeface="Aptos"/>
                <a:ea typeface="Aptos"/>
                <a:cs typeface="Aptos"/>
              </a:rPr>
              <a:t>3</a:t>
            </a:r>
          </a:p>
        </p:txBody>
      </p:sp>
      <p:sp>
        <p:nvSpPr>
          <p:cNvPr id="16" name="Rectangle 15">
            <a:extLst>
              <a:ext uri="{FF2B5EF4-FFF2-40B4-BE49-F238E27FC236}">
                <a16:creationId xmlns:a16="http://schemas.microsoft.com/office/drawing/2014/main" id="{FBFE8E51-F0EF-4D47-BCA9-7D408925D7AA}"/>
              </a:ext>
            </a:extLst>
          </p:cNvPr>
          <p:cNvSpPr>
            <a:spLocks noGrp="1"/>
          </p:cNvSpPr>
          <p:nvPr/>
        </p:nvSpPr>
        <p:spPr>
          <a:xfrm>
            <a:off x="1257300" y="4724400"/>
            <a:ext cx="1619250" cy="219075"/>
          </a:xfrm>
          <a:prstGeom prst="rect">
            <a:avLst/>
          </a:prstGeom>
          <a:noFill/>
        </p:spPr>
        <p:txBody>
          <a:bodyPr anchor="t"/>
          <a:lstStyle/>
          <a:p>
            <a:pPr algn="l">
              <a:buNone/>
              <a:defRPr sz="975" b="1">
                <a:solidFill>
                  <a:srgbClr val="15B77E"/>
                </a:solidFill>
                <a:latin typeface="Aptos"/>
                <a:ea typeface="Aptos"/>
                <a:cs typeface="Aptos"/>
              </a:defRPr>
            </a:pPr>
            <a:r>
              <a:rPr sz="975" b="1">
                <a:solidFill>
                  <a:srgbClr val="15B77E"/>
                </a:solidFill>
                <a:latin typeface="Aptos"/>
                <a:ea typeface="Aptos"/>
                <a:cs typeface="Aptos"/>
              </a:rPr>
              <a:t>HIỂU HỘI THOẠI</a:t>
            </a:r>
          </a:p>
        </p:txBody>
      </p:sp>
      <p:sp>
        <p:nvSpPr>
          <p:cNvPr id="17" name="Rectangle 16">
            <a:extLst>
              <a:ext uri="{FF2B5EF4-FFF2-40B4-BE49-F238E27FC236}">
                <a16:creationId xmlns:a16="http://schemas.microsoft.com/office/drawing/2014/main" id="{4739E4AC-DD2C-49A3-AE51-72FDEF9D4A79}"/>
              </a:ext>
            </a:extLst>
          </p:cNvPr>
          <p:cNvSpPr>
            <a:spLocks noGrp="1"/>
          </p:cNvSpPr>
          <p:nvPr/>
        </p:nvSpPr>
        <p:spPr>
          <a:xfrm>
            <a:off x="1257300" y="4962525"/>
            <a:ext cx="3429000" cy="285750"/>
          </a:xfrm>
          <a:prstGeom prst="rect">
            <a:avLst/>
          </a:prstGeom>
          <a:noFill/>
        </p:spPr>
        <p:txBody>
          <a:bodyPr anchor="t"/>
          <a:lstStyle/>
          <a:p>
            <a:pPr algn="l">
              <a:buNone/>
              <a:defRPr sz="1350" b="1">
                <a:solidFill>
                  <a:srgbClr val="12233F"/>
                </a:solidFill>
                <a:latin typeface="Aptos"/>
                <a:ea typeface="Aptos"/>
                <a:cs typeface="Aptos"/>
              </a:defRPr>
            </a:pPr>
            <a:r>
              <a:rPr sz="1350" b="1">
                <a:solidFill>
                  <a:srgbClr val="12233F"/>
                </a:solidFill>
                <a:latin typeface="Aptos"/>
                <a:ea typeface="Aptos"/>
                <a:cs typeface="Aptos"/>
              </a:rPr>
              <a:t>Dùng ngữ cảnh các tin gần nhất</a:t>
            </a:r>
          </a:p>
        </p:txBody>
      </p:sp>
      <p:sp>
        <p:nvSpPr>
          <p:cNvPr id="18" name="Rectangle: Rounded Corners 17">
            <a:extLst>
              <a:ext uri="{FF2B5EF4-FFF2-40B4-BE49-F238E27FC236}">
                <a16:creationId xmlns:a16="http://schemas.microsoft.com/office/drawing/2014/main" id="{F3CD0F9E-259A-4888-B8FB-B95E1C202518}"/>
              </a:ext>
            </a:extLst>
          </p:cNvPr>
          <p:cNvSpPr>
            <a:spLocks noGrp="1"/>
          </p:cNvSpPr>
          <p:nvPr/>
        </p:nvSpPr>
        <p:spPr>
          <a:xfrm>
            <a:off x="5924550" y="1152525"/>
            <a:ext cx="5619750" cy="4762500"/>
          </a:xfrm>
          <a:prstGeom prst="roundRect">
            <a:avLst>
              <a:gd name="adj" fmla="val 5200"/>
            </a:avLst>
          </a:prstGeom>
          <a:solidFill>
            <a:srgbClr val="FFFFFF"/>
          </a:solidFill>
          <a:ln w="9525">
            <a:solidFill>
              <a:srgbClr val="DCE6F5"/>
            </a:solidFill>
            <a:prstDash val="solid"/>
          </a:ln>
        </p:spPr>
        <p:style>
          <a:lnRef idx="0">
            <a:scrgbClr r="0" g="0" b="0"/>
          </a:lnRef>
          <a:fillRef idx="0">
            <a:scrgbClr r="0" g="0" b="0"/>
          </a:fillRef>
          <a:effectRef idx="6">
            <a:scrgbClr r="0" g="0" b="0"/>
          </a:effectRef>
          <a:fontRef idx="major"/>
        </p:style>
        <p:txBody>
          <a:bodyPr/>
          <a:lstStyle/>
          <a:p>
            <a:endParaRPr lang="en-US"/>
          </a:p>
        </p:txBody>
      </p:sp>
      <p:pic>
        <p:nvPicPr>
          <p:cNvPr id="41" name="Picture 40"/>
          <p:cNvPicPr>
            <a:picLocks noChangeAspect="1"/>
          </p:cNvPicPr>
          <p:nvPr/>
        </p:nvPicPr>
        <p:blipFill>
          <a:blip r:embed="rId3"/>
          <a:srcRect l="22500" r="22500"/>
          <a:stretch>
            <a:fillRect/>
          </a:stretch>
        </p:blipFill>
        <p:spPr>
          <a:xfrm>
            <a:off x="6096000" y="1323975"/>
            <a:ext cx="5276850" cy="4419600"/>
          </a:xfrm>
          <a:prstGeom prst="roundRect">
            <a:avLst>
              <a:gd name="adj" fmla="val 4310"/>
            </a:avLst>
          </a:prstGeom>
        </p:spPr>
      </p:pic>
      <p:sp>
        <p:nvSpPr>
          <p:cNvPr id="20" name="Rectangle: Rounded Corners 19">
            <a:extLst>
              <a:ext uri="{FF2B5EF4-FFF2-40B4-BE49-F238E27FC236}">
                <a16:creationId xmlns:a16="http://schemas.microsoft.com/office/drawing/2014/main" id="{14010E5E-A843-449D-B903-9FC64231F927}"/>
              </a:ext>
            </a:extLst>
          </p:cNvPr>
          <p:cNvSpPr>
            <a:spLocks noGrp="1"/>
          </p:cNvSpPr>
          <p:nvPr/>
        </p:nvSpPr>
        <p:spPr>
          <a:xfrm>
            <a:off x="7886700" y="5572125"/>
            <a:ext cx="1952625" cy="304800"/>
          </a:xfrm>
          <a:prstGeom prst="roundRect">
            <a:avLst>
              <a:gd name="adj" fmla="val 50000"/>
            </a:avLst>
          </a:prstGeom>
          <a:solidFill>
            <a:srgbClr val="FFFFFF"/>
          </a:solidFill>
          <a:ln w="9525">
            <a:solidFill>
              <a:srgbClr val="DCE6F5"/>
            </a:solidFill>
            <a:prstDash val="solid"/>
          </a:ln>
        </p:spPr>
        <p:txBody>
          <a:bodyPr anchor="ctr"/>
          <a:lstStyle/>
          <a:p>
            <a:pPr algn="ctr">
              <a:buNone/>
              <a:defRPr sz="900" b="1">
                <a:solidFill>
                  <a:srgbClr val="246BFD"/>
                </a:solidFill>
                <a:latin typeface="Aptos"/>
                <a:ea typeface="Aptos"/>
                <a:cs typeface="Aptos"/>
              </a:defRPr>
            </a:pPr>
            <a:r>
              <a:rPr sz="900" b="1">
                <a:solidFill>
                  <a:srgbClr val="246BFD"/>
                </a:solidFill>
                <a:latin typeface="Aptos"/>
                <a:ea typeface="Aptos"/>
                <a:cs typeface="Aptos"/>
              </a:rPr>
              <a:t>DỊCH NGAY TRONG CHAT</a:t>
            </a:r>
          </a:p>
        </p:txBody>
      </p:sp>
    </p:spTree>
    <p:extLst>
      <p:ext uri="{BB962C8B-B14F-4D97-AF65-F5344CB8AC3E}">
        <p14:creationId xmlns:p14="http://schemas.microsoft.com/office/powerpoint/2010/main" val="20873731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F"/>
        </a:solidFill>
        <a:effectLst/>
      </p:bgPr>
    </p:bg>
    <p:spTree>
      <p:nvGrpSpPr>
        <p:cNvPr id="1" name=""/>
        <p:cNvGrpSpPr/>
        <p:nvPr/>
      </p:nvGrpSpPr>
      <p:grpSpPr>
        <a:xfrm>
          <a:off x="0" y="0"/>
          <a:ext cx="0" cy="0"/>
          <a:chOff x="0" y="0"/>
          <a:chExt cx="0" cy="0"/>
        </a:xfrm>
      </p:grpSpPr>
      <p:sp>
        <p:nvSpPr>
          <p:cNvPr id="25" name="Rectangle: Rounded Corners 24">
            <a:extLst>
              <a:ext uri="{FF2B5EF4-FFF2-40B4-BE49-F238E27FC236}">
                <a16:creationId xmlns:a16="http://schemas.microsoft.com/office/drawing/2014/main" id="{4B03070B-945C-4943-AC96-12F34347FC32}"/>
              </a:ext>
            </a:extLst>
          </p:cNvPr>
          <p:cNvSpPr>
            <a:spLocks noGrp="1"/>
          </p:cNvSpPr>
          <p:nvPr/>
        </p:nvSpPr>
        <p:spPr>
          <a:xfrm>
            <a:off x="552450" y="361950"/>
            <a:ext cx="323850" cy="323850"/>
          </a:xfrm>
          <a:prstGeom prst="roundRect">
            <a:avLst>
              <a:gd name="adj" fmla="val 29412"/>
            </a:avLst>
          </a:prstGeom>
          <a:gradFill>
            <a:gsLst>
              <a:gs pos="0">
                <a:srgbClr val="246BFD"/>
              </a:gs>
              <a:gs pos="100000">
                <a:srgbClr val="6D38F5"/>
              </a:gs>
            </a:gsLst>
            <a:lin ang="8100000"/>
          </a:gradFill>
        </p:spPr>
        <p:txBody>
          <a:bodyPr/>
          <a:lstStyle/>
          <a:p>
            <a:endParaRPr lang="en-US"/>
          </a:p>
        </p:txBody>
      </p:sp>
      <p:sp>
        <p:nvSpPr>
          <p:cNvPr id="2" name="Rectangle 1">
            <a:extLst>
              <a:ext uri="{FF2B5EF4-FFF2-40B4-BE49-F238E27FC236}">
                <a16:creationId xmlns:a16="http://schemas.microsoft.com/office/drawing/2014/main" id="{5DD7D0EB-0DED-4C74-8DD3-501869D8D157}"/>
              </a:ext>
            </a:extLst>
          </p:cNvPr>
          <p:cNvSpPr>
            <a:spLocks noGrp="1"/>
          </p:cNvSpPr>
          <p:nvPr/>
        </p:nvSpPr>
        <p:spPr>
          <a:xfrm>
            <a:off x="552450" y="361950"/>
            <a:ext cx="323850" cy="323850"/>
          </a:xfrm>
          <a:prstGeom prst="rect">
            <a:avLst/>
          </a:prstGeom>
          <a:noFill/>
        </p:spPr>
        <p:txBody>
          <a:bodyPr anchor="ctr"/>
          <a:lstStyle/>
          <a:p>
            <a:pPr algn="ctr">
              <a:buNone/>
              <a:defRPr sz="1350" b="1">
                <a:solidFill>
                  <a:srgbClr val="FFFFFF"/>
                </a:solidFill>
                <a:latin typeface="Aptos"/>
                <a:ea typeface="Aptos"/>
                <a:cs typeface="Aptos"/>
              </a:defRPr>
            </a:pPr>
            <a:r>
              <a:rPr sz="1350" b="1">
                <a:solidFill>
                  <a:srgbClr val="FFFFFF"/>
                </a:solidFill>
                <a:latin typeface="Aptos"/>
                <a:ea typeface="Aptos"/>
                <a:cs typeface="Aptos"/>
              </a:rPr>
              <a:t>≋</a:t>
            </a:r>
          </a:p>
        </p:txBody>
      </p:sp>
      <p:sp>
        <p:nvSpPr>
          <p:cNvPr id="3" name="Rectangle 2">
            <a:extLst>
              <a:ext uri="{FF2B5EF4-FFF2-40B4-BE49-F238E27FC236}">
                <a16:creationId xmlns:a16="http://schemas.microsoft.com/office/drawing/2014/main" id="{3D24BDB4-90AB-4CDF-941E-462297DF4247}"/>
              </a:ext>
            </a:extLst>
          </p:cNvPr>
          <p:cNvSpPr>
            <a:spLocks noGrp="1"/>
          </p:cNvSpPr>
          <p:nvPr/>
        </p:nvSpPr>
        <p:spPr>
          <a:xfrm>
            <a:off x="971550" y="390525"/>
            <a:ext cx="1409700" cy="266700"/>
          </a:xfrm>
          <a:prstGeom prst="rect">
            <a:avLst/>
          </a:prstGeom>
          <a:noFill/>
        </p:spPr>
        <p:txBody>
          <a:bodyPr anchor="t"/>
          <a:lstStyle/>
          <a:p>
            <a:pPr algn="l">
              <a:buNone/>
              <a:defRPr sz="1500" b="1">
                <a:solidFill>
                  <a:srgbClr val="081B3A"/>
                </a:solidFill>
                <a:latin typeface="Aptos"/>
                <a:ea typeface="Aptos"/>
                <a:cs typeface="Aptos"/>
              </a:defRPr>
            </a:pPr>
            <a:r>
              <a:rPr sz="1500" b="1">
                <a:solidFill>
                  <a:srgbClr val="081B3A"/>
                </a:solidFill>
                <a:latin typeface="Aptos"/>
                <a:ea typeface="Aptos"/>
                <a:cs typeface="Aptos"/>
              </a:rPr>
              <a:t>LinguaFlow</a:t>
            </a:r>
          </a:p>
        </p:txBody>
      </p:sp>
      <p:sp>
        <p:nvSpPr>
          <p:cNvPr id="4" name="Rectangle 3">
            <a:extLst>
              <a:ext uri="{FF2B5EF4-FFF2-40B4-BE49-F238E27FC236}">
                <a16:creationId xmlns:a16="http://schemas.microsoft.com/office/drawing/2014/main" id="{4CE3972D-8F99-456F-B580-35B4AA40F39F}"/>
              </a:ext>
            </a:extLst>
          </p:cNvPr>
          <p:cNvSpPr>
            <a:spLocks noGrp="1"/>
          </p:cNvSpPr>
          <p:nvPr/>
        </p:nvSpPr>
        <p:spPr>
          <a:xfrm>
            <a:off x="8905875" y="428625"/>
            <a:ext cx="2238375" cy="190500"/>
          </a:xfrm>
          <a:prstGeom prst="rect">
            <a:avLst/>
          </a:prstGeom>
          <a:noFill/>
        </p:spPr>
        <p:txBody>
          <a:bodyPr anchor="t"/>
          <a:lstStyle/>
          <a:p>
            <a:pPr algn="r">
              <a:buNone/>
              <a:defRPr sz="825" b="1">
                <a:solidFill>
                  <a:srgbClr val="64748B"/>
                </a:solidFill>
                <a:latin typeface="Aptos"/>
                <a:ea typeface="Aptos"/>
                <a:cs typeface="Aptos"/>
              </a:defRPr>
            </a:pPr>
            <a:r>
              <a:rPr sz="825" b="1">
                <a:solidFill>
                  <a:srgbClr val="64748B"/>
                </a:solidFill>
                <a:latin typeface="Aptos"/>
                <a:ea typeface="Aptos"/>
                <a:cs typeface="Aptos"/>
              </a:rPr>
              <a:t>SO SÁNH</a:t>
            </a:r>
          </a:p>
        </p:txBody>
      </p:sp>
      <p:sp>
        <p:nvSpPr>
          <p:cNvPr id="5" name="Rectangle 4">
            <a:extLst>
              <a:ext uri="{FF2B5EF4-FFF2-40B4-BE49-F238E27FC236}">
                <a16:creationId xmlns:a16="http://schemas.microsoft.com/office/drawing/2014/main" id="{ACB8B77C-4B82-4D64-A4DB-40E169F48717}"/>
              </a:ext>
            </a:extLst>
          </p:cNvPr>
          <p:cNvSpPr>
            <a:spLocks noGrp="1"/>
          </p:cNvSpPr>
          <p:nvPr/>
        </p:nvSpPr>
        <p:spPr>
          <a:xfrm>
            <a:off x="11334750" y="409575"/>
            <a:ext cx="361950" cy="190500"/>
          </a:xfrm>
          <a:prstGeom prst="rect">
            <a:avLst/>
          </a:prstGeom>
          <a:noFill/>
        </p:spPr>
        <p:txBody>
          <a:bodyPr anchor="t"/>
          <a:lstStyle/>
          <a:p>
            <a:pPr algn="r">
              <a:buNone/>
              <a:defRPr sz="900" b="1">
                <a:solidFill>
                  <a:srgbClr val="246BFD"/>
                </a:solidFill>
                <a:latin typeface="Aptos"/>
                <a:ea typeface="Aptos"/>
                <a:cs typeface="Aptos"/>
              </a:defRPr>
            </a:pPr>
            <a:r>
              <a:rPr sz="900" b="1">
                <a:solidFill>
                  <a:srgbClr val="246BFD"/>
                </a:solidFill>
                <a:latin typeface="Aptos"/>
                <a:ea typeface="Aptos"/>
                <a:cs typeface="Aptos"/>
              </a:rPr>
              <a:t>05</a:t>
            </a:r>
          </a:p>
        </p:txBody>
      </p:sp>
      <p:sp>
        <p:nvSpPr>
          <p:cNvPr id="6" name="Rectangle 5">
            <a:extLst>
              <a:ext uri="{FF2B5EF4-FFF2-40B4-BE49-F238E27FC236}">
                <a16:creationId xmlns:a16="http://schemas.microsoft.com/office/drawing/2014/main" id="{AB3FAAF6-D31F-4181-9938-48DB9415CEA5}"/>
              </a:ext>
            </a:extLst>
          </p:cNvPr>
          <p:cNvSpPr>
            <a:spLocks noGrp="1"/>
          </p:cNvSpPr>
          <p:nvPr/>
        </p:nvSpPr>
        <p:spPr>
          <a:xfrm>
            <a:off x="552450" y="800100"/>
            <a:ext cx="11144250" cy="9525"/>
          </a:xfrm>
          <a:prstGeom prst="rect">
            <a:avLst/>
          </a:prstGeom>
          <a:solidFill>
            <a:srgbClr val="DCE6F5"/>
          </a:solidFill>
        </p:spPr>
        <p:txBody>
          <a:bodyPr/>
          <a:lstStyle/>
          <a:p>
            <a:endParaRPr lang="en-US"/>
          </a:p>
        </p:txBody>
      </p:sp>
      <p:sp>
        <p:nvSpPr>
          <p:cNvPr id="7" name="Rectangle 6">
            <a:extLst>
              <a:ext uri="{FF2B5EF4-FFF2-40B4-BE49-F238E27FC236}">
                <a16:creationId xmlns:a16="http://schemas.microsoft.com/office/drawing/2014/main" id="{79101516-614B-44D8-9FF7-313B549DC7AC}"/>
              </a:ext>
            </a:extLst>
          </p:cNvPr>
          <p:cNvSpPr>
            <a:spLocks noGrp="1"/>
          </p:cNvSpPr>
          <p:nvPr/>
        </p:nvSpPr>
        <p:spPr>
          <a:xfrm>
            <a:off x="647700" y="1066800"/>
            <a:ext cx="3333750" cy="228600"/>
          </a:xfrm>
          <a:prstGeom prst="rect">
            <a:avLst/>
          </a:prstGeom>
          <a:noFill/>
        </p:spPr>
        <p:txBody>
          <a:bodyPr anchor="t"/>
          <a:lstStyle/>
          <a:p>
            <a:pPr algn="l">
              <a:buNone/>
              <a:defRPr sz="900" b="1">
                <a:solidFill>
                  <a:srgbClr val="246BFD"/>
                </a:solidFill>
                <a:latin typeface="Aptos"/>
                <a:ea typeface="Aptos"/>
                <a:cs typeface="Aptos"/>
              </a:defRPr>
            </a:pPr>
            <a:r>
              <a:rPr sz="900" b="1">
                <a:solidFill>
                  <a:srgbClr val="246BFD"/>
                </a:solidFill>
                <a:latin typeface="Aptos"/>
                <a:ea typeface="Aptos"/>
                <a:cs typeface="Aptos"/>
              </a:rPr>
              <a:t>BEFORE / AFTER</a:t>
            </a:r>
          </a:p>
        </p:txBody>
      </p:sp>
      <p:sp>
        <p:nvSpPr>
          <p:cNvPr id="8" name="Rectangle 7">
            <a:extLst>
              <a:ext uri="{FF2B5EF4-FFF2-40B4-BE49-F238E27FC236}">
                <a16:creationId xmlns:a16="http://schemas.microsoft.com/office/drawing/2014/main" id="{173EEF69-DDC7-4282-A937-541A66034C42}"/>
              </a:ext>
            </a:extLst>
          </p:cNvPr>
          <p:cNvSpPr>
            <a:spLocks noGrp="1"/>
          </p:cNvSpPr>
          <p:nvPr/>
        </p:nvSpPr>
        <p:spPr>
          <a:xfrm>
            <a:off x="647700" y="1333500"/>
            <a:ext cx="10896600" cy="723900"/>
          </a:xfrm>
          <a:prstGeom prst="rect">
            <a:avLst/>
          </a:prstGeom>
          <a:noFill/>
        </p:spPr>
        <p:txBody>
          <a:bodyPr anchor="t"/>
          <a:lstStyle/>
          <a:p>
            <a:pPr algn="l">
              <a:buNone/>
              <a:defRPr sz="2850" b="1">
                <a:solidFill>
                  <a:srgbClr val="081B3A"/>
                </a:solidFill>
                <a:latin typeface="Aptos"/>
                <a:ea typeface="Aptos"/>
                <a:cs typeface="Aptos"/>
              </a:defRPr>
            </a:pPr>
            <a:r>
              <a:rPr sz="2850" b="1">
                <a:solidFill>
                  <a:srgbClr val="081B3A"/>
                </a:solidFill>
                <a:latin typeface="Aptos"/>
                <a:ea typeface="Aptos"/>
                <a:cs typeface="Aptos"/>
              </a:rPr>
              <a:t>Cùng một đoạn chat IT — khác biệt nằm ở ngữ cảnh</a:t>
            </a:r>
          </a:p>
        </p:txBody>
      </p:sp>
      <p:sp>
        <p:nvSpPr>
          <p:cNvPr id="9" name="Rectangle 8">
            <a:extLst>
              <a:ext uri="{FF2B5EF4-FFF2-40B4-BE49-F238E27FC236}">
                <a16:creationId xmlns:a16="http://schemas.microsoft.com/office/drawing/2014/main" id="{F4E69488-13DF-4BD0-8458-53D487D81717}"/>
              </a:ext>
            </a:extLst>
          </p:cNvPr>
          <p:cNvSpPr>
            <a:spLocks noGrp="1"/>
          </p:cNvSpPr>
          <p:nvPr/>
        </p:nvSpPr>
        <p:spPr>
          <a:xfrm>
            <a:off x="647700" y="2047875"/>
            <a:ext cx="9810750" cy="342900"/>
          </a:xfrm>
          <a:prstGeom prst="rect">
            <a:avLst/>
          </a:prstGeom>
          <a:noFill/>
        </p:spPr>
        <p:txBody>
          <a:bodyPr anchor="t"/>
          <a:lstStyle/>
          <a:p>
            <a:pPr algn="l">
              <a:buNone/>
              <a:defRPr sz="1350" b="0">
                <a:solidFill>
                  <a:srgbClr val="64748B"/>
                </a:solidFill>
                <a:latin typeface="Aptos"/>
                <a:ea typeface="Aptos"/>
                <a:cs typeface="Aptos"/>
              </a:defRPr>
            </a:pPr>
            <a:r>
              <a:rPr sz="1350" b="0">
                <a:solidFill>
                  <a:srgbClr val="64748B"/>
                </a:solidFill>
                <a:latin typeface="Aptos"/>
                <a:ea typeface="Aptos"/>
                <a:cs typeface="Aptos"/>
              </a:rPr>
              <a:t>So sánh giới hạn trong ví dụ thực tế do nhóm cung cấp.</a:t>
            </a:r>
          </a:p>
        </p:txBody>
      </p:sp>
      <p:sp>
        <p:nvSpPr>
          <p:cNvPr id="10" name="Rectangle: Rounded Corners 9">
            <a:extLst>
              <a:ext uri="{FF2B5EF4-FFF2-40B4-BE49-F238E27FC236}">
                <a16:creationId xmlns:a16="http://schemas.microsoft.com/office/drawing/2014/main" id="{3799016A-659F-4C1A-85AD-AA3CDDA3419B}"/>
              </a:ext>
            </a:extLst>
          </p:cNvPr>
          <p:cNvSpPr>
            <a:spLocks noGrp="1"/>
          </p:cNvSpPr>
          <p:nvPr/>
        </p:nvSpPr>
        <p:spPr>
          <a:xfrm>
            <a:off x="647700" y="2647950"/>
            <a:ext cx="5219700" cy="2724150"/>
          </a:xfrm>
          <a:prstGeom prst="roundRect">
            <a:avLst>
              <a:gd name="adj" fmla="val 7692"/>
            </a:avLst>
          </a:prstGeom>
          <a:solidFill>
            <a:srgbClr val="1F1F1F"/>
          </a:solidFill>
          <a:ln w="9525">
            <a:solidFill>
              <a:srgbClr val="333333"/>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1" name="Rectangle: Rounded Corners 10">
            <a:extLst>
              <a:ext uri="{FF2B5EF4-FFF2-40B4-BE49-F238E27FC236}">
                <a16:creationId xmlns:a16="http://schemas.microsoft.com/office/drawing/2014/main" id="{A0AD2514-2935-43F8-807F-750008774919}"/>
              </a:ext>
            </a:extLst>
          </p:cNvPr>
          <p:cNvSpPr>
            <a:spLocks noGrp="1"/>
          </p:cNvSpPr>
          <p:nvPr/>
        </p:nvSpPr>
        <p:spPr>
          <a:xfrm>
            <a:off x="6096000" y="2647950"/>
            <a:ext cx="5448300" cy="2724150"/>
          </a:xfrm>
          <a:prstGeom prst="roundRect">
            <a:avLst>
              <a:gd name="adj" fmla="val 7692"/>
            </a:avLst>
          </a:prstGeom>
          <a:solidFill>
            <a:srgbClr val="FFFFFF"/>
          </a:solidFill>
          <a:ln w="9525">
            <a:solidFill>
              <a:srgbClr val="DCE6F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2" name="Rectangle: Rounded Corners 11">
            <a:extLst>
              <a:ext uri="{FF2B5EF4-FFF2-40B4-BE49-F238E27FC236}">
                <a16:creationId xmlns:a16="http://schemas.microsoft.com/office/drawing/2014/main" id="{5CE24B9D-F4B8-42C5-9609-CC7956D57172}"/>
              </a:ext>
            </a:extLst>
          </p:cNvPr>
          <p:cNvSpPr>
            <a:spLocks noGrp="1"/>
          </p:cNvSpPr>
          <p:nvPr/>
        </p:nvSpPr>
        <p:spPr>
          <a:xfrm>
            <a:off x="838200" y="2800350"/>
            <a:ext cx="1562100" cy="304800"/>
          </a:xfrm>
          <a:prstGeom prst="roundRect">
            <a:avLst>
              <a:gd name="adj" fmla="val 50000"/>
            </a:avLst>
          </a:prstGeom>
          <a:solidFill>
            <a:srgbClr val="2B2B2B"/>
          </a:solidFill>
          <a:ln w="9525">
            <a:solidFill>
              <a:srgbClr val="464646"/>
            </a:solidFill>
            <a:prstDash val="solid"/>
          </a:ln>
        </p:spPr>
        <p:txBody>
          <a:bodyPr anchor="ctr"/>
          <a:lstStyle/>
          <a:p>
            <a:pPr algn="ctr">
              <a:buNone/>
              <a:defRPr sz="900" b="1">
                <a:solidFill>
                  <a:srgbClr val="C6C8FF"/>
                </a:solidFill>
                <a:latin typeface="Aptos"/>
                <a:ea typeface="Aptos"/>
                <a:cs typeface="Aptos"/>
              </a:defRPr>
            </a:pPr>
            <a:r>
              <a:rPr sz="900" b="1">
                <a:solidFill>
                  <a:srgbClr val="C6C8FF"/>
                </a:solidFill>
                <a:latin typeface="Aptos"/>
                <a:ea typeface="Aptos"/>
                <a:cs typeface="Aptos"/>
              </a:rPr>
              <a:t>MICROSOFT TEAMS</a:t>
            </a:r>
          </a:p>
        </p:txBody>
      </p:sp>
      <p:sp>
        <p:nvSpPr>
          <p:cNvPr id="13" name="Rectangle: Rounded Corners 12">
            <a:extLst>
              <a:ext uri="{FF2B5EF4-FFF2-40B4-BE49-F238E27FC236}">
                <a16:creationId xmlns:a16="http://schemas.microsoft.com/office/drawing/2014/main" id="{FBC60357-3D42-4BC0-845B-691CCBFB0730}"/>
              </a:ext>
            </a:extLst>
          </p:cNvPr>
          <p:cNvSpPr>
            <a:spLocks noGrp="1"/>
          </p:cNvSpPr>
          <p:nvPr/>
        </p:nvSpPr>
        <p:spPr>
          <a:xfrm>
            <a:off x="6286500" y="2800350"/>
            <a:ext cx="1314450" cy="304800"/>
          </a:xfrm>
          <a:prstGeom prst="roundRect">
            <a:avLst>
              <a:gd name="adj" fmla="val 50000"/>
            </a:avLst>
          </a:prstGeom>
          <a:solidFill>
            <a:srgbClr val="EFF4FF"/>
          </a:solidFill>
          <a:ln w="9525">
            <a:solidFill>
              <a:srgbClr val="DCE6F5"/>
            </a:solidFill>
            <a:prstDash val="solid"/>
          </a:ln>
        </p:spPr>
        <p:txBody>
          <a:bodyPr anchor="ctr"/>
          <a:lstStyle/>
          <a:p>
            <a:pPr algn="ctr">
              <a:buNone/>
              <a:defRPr sz="900" b="1">
                <a:solidFill>
                  <a:srgbClr val="246BFD"/>
                </a:solidFill>
                <a:latin typeface="Aptos"/>
                <a:ea typeface="Aptos"/>
                <a:cs typeface="Aptos"/>
              </a:defRPr>
            </a:pPr>
            <a:r>
              <a:rPr sz="900" b="1">
                <a:solidFill>
                  <a:srgbClr val="246BFD"/>
                </a:solidFill>
                <a:latin typeface="Aptos"/>
                <a:ea typeface="Aptos"/>
                <a:cs typeface="Aptos"/>
              </a:rPr>
              <a:t>LINGUAFLOW</a:t>
            </a:r>
          </a:p>
        </p:txBody>
      </p:sp>
      <p:pic>
        <p:nvPicPr>
          <p:cNvPr id="41" name="Picture 40"/>
          <p:cNvPicPr>
            <a:picLocks noChangeAspect="1"/>
          </p:cNvPicPr>
          <p:nvPr/>
        </p:nvPicPr>
        <p:blipFill>
          <a:blip r:embed="rId3"/>
          <a:srcRect t="23146" b="23146"/>
          <a:stretch>
            <a:fillRect/>
          </a:stretch>
        </p:blipFill>
        <p:spPr>
          <a:xfrm>
            <a:off x="819150" y="3200400"/>
            <a:ext cx="4876800" cy="2000250"/>
          </a:xfrm>
          <a:prstGeom prst="roundRect">
            <a:avLst>
              <a:gd name="adj" fmla="val 5714"/>
            </a:avLst>
          </a:prstGeom>
        </p:spPr>
      </p:pic>
      <p:pic>
        <p:nvPicPr>
          <p:cNvPr id="42" name="Picture 41"/>
          <p:cNvPicPr>
            <a:picLocks noChangeAspect="1"/>
          </p:cNvPicPr>
          <p:nvPr/>
        </p:nvPicPr>
        <p:blipFill>
          <a:blip r:embed="rId4"/>
          <a:srcRect l="1000" r="2000" b="18000"/>
          <a:stretch>
            <a:fillRect/>
          </a:stretch>
        </p:blipFill>
        <p:spPr>
          <a:xfrm>
            <a:off x="6267450" y="3200400"/>
            <a:ext cx="5105400" cy="2000250"/>
          </a:xfrm>
          <a:prstGeom prst="roundRect">
            <a:avLst>
              <a:gd name="adj" fmla="val 5714"/>
            </a:avLst>
          </a:prstGeom>
        </p:spPr>
      </p:pic>
      <p:sp>
        <p:nvSpPr>
          <p:cNvPr id="19" name="Rectangle: Rounded Corners 18">
            <a:extLst>
              <a:ext uri="{FF2B5EF4-FFF2-40B4-BE49-F238E27FC236}">
                <a16:creationId xmlns:a16="http://schemas.microsoft.com/office/drawing/2014/main" id="{9E9B07CC-8107-49BC-86BE-BE17B560AB0F}"/>
              </a:ext>
            </a:extLst>
          </p:cNvPr>
          <p:cNvSpPr>
            <a:spLocks noGrp="1"/>
          </p:cNvSpPr>
          <p:nvPr/>
        </p:nvSpPr>
        <p:spPr>
          <a:xfrm>
            <a:off x="857250" y="5476875"/>
            <a:ext cx="2286000" cy="266700"/>
          </a:xfrm>
          <a:prstGeom prst="roundRect">
            <a:avLst>
              <a:gd name="adj" fmla="val 50000"/>
            </a:avLst>
          </a:prstGeom>
          <a:solidFill>
            <a:srgbClr val="EF5B5B">
              <a:alpha val="10000"/>
            </a:srgbClr>
          </a:solidFill>
          <a:ln w="9525">
            <a:solidFill>
              <a:srgbClr val="EF5B5B">
                <a:alpha val="25000"/>
              </a:srgbClr>
            </a:solidFill>
            <a:prstDash val="solid"/>
          </a:ln>
        </p:spPr>
        <p:txBody>
          <a:bodyPr anchor="ctr"/>
          <a:lstStyle/>
          <a:p>
            <a:pPr algn="ctr">
              <a:buNone/>
              <a:defRPr sz="900" b="1">
                <a:solidFill>
                  <a:srgbClr val="EF5B5B"/>
                </a:solidFill>
                <a:latin typeface="Aptos"/>
                <a:ea typeface="Aptos"/>
                <a:cs typeface="Aptos"/>
              </a:defRPr>
            </a:pPr>
            <a:r>
              <a:rPr sz="900" b="1">
                <a:solidFill>
                  <a:srgbClr val="EF5B5B"/>
                </a:solidFill>
                <a:latin typeface="Aptos"/>
                <a:ea typeface="Aptos"/>
                <a:cs typeface="Aptos"/>
              </a:rPr>
              <a:t>“đẩy việc sửa sang giai đoạn”</a:t>
            </a:r>
          </a:p>
        </p:txBody>
      </p:sp>
      <p:sp>
        <p:nvSpPr>
          <p:cNvPr id="20" name="Rectangle: Rounded Corners 19">
            <a:extLst>
              <a:ext uri="{FF2B5EF4-FFF2-40B4-BE49-F238E27FC236}">
                <a16:creationId xmlns:a16="http://schemas.microsoft.com/office/drawing/2014/main" id="{21C22906-F404-4F9E-9441-263CEFD16999}"/>
              </a:ext>
            </a:extLst>
          </p:cNvPr>
          <p:cNvSpPr>
            <a:spLocks noGrp="1"/>
          </p:cNvSpPr>
          <p:nvPr/>
        </p:nvSpPr>
        <p:spPr>
          <a:xfrm>
            <a:off x="3276600" y="5476875"/>
            <a:ext cx="1524000" cy="266700"/>
          </a:xfrm>
          <a:prstGeom prst="roundRect">
            <a:avLst>
              <a:gd name="adj" fmla="val 50000"/>
            </a:avLst>
          </a:prstGeom>
          <a:solidFill>
            <a:srgbClr val="EF5B5B">
              <a:alpha val="10000"/>
            </a:srgbClr>
          </a:solidFill>
          <a:ln w="9525">
            <a:solidFill>
              <a:srgbClr val="EF5B5B">
                <a:alpha val="25000"/>
              </a:srgbClr>
            </a:solidFill>
            <a:prstDash val="solid"/>
          </a:ln>
        </p:spPr>
        <p:txBody>
          <a:bodyPr anchor="ctr"/>
          <a:lstStyle/>
          <a:p>
            <a:pPr algn="ctr">
              <a:buNone/>
              <a:defRPr sz="900" b="1">
                <a:solidFill>
                  <a:srgbClr val="EF5B5B"/>
                </a:solidFill>
                <a:latin typeface="Aptos"/>
                <a:ea typeface="Aptos"/>
                <a:cs typeface="Aptos"/>
              </a:defRPr>
            </a:pPr>
            <a:r>
              <a:rPr sz="900" b="1">
                <a:solidFill>
                  <a:srgbClr val="EF5B5B"/>
                </a:solidFill>
                <a:latin typeface="Aptos"/>
                <a:ea typeface="Aptos"/>
                <a:cs typeface="Aptos"/>
              </a:rPr>
              <a:t>“nhắn nhé nhé”</a:t>
            </a:r>
          </a:p>
        </p:txBody>
      </p:sp>
      <p:sp>
        <p:nvSpPr>
          <p:cNvPr id="21" name="Rectangle: Rounded Corners 20">
            <a:extLst>
              <a:ext uri="{FF2B5EF4-FFF2-40B4-BE49-F238E27FC236}">
                <a16:creationId xmlns:a16="http://schemas.microsoft.com/office/drawing/2014/main" id="{257A9EA4-2ABE-4E00-9915-C95854D7CB42}"/>
              </a:ext>
            </a:extLst>
          </p:cNvPr>
          <p:cNvSpPr>
            <a:spLocks noGrp="1"/>
          </p:cNvSpPr>
          <p:nvPr/>
        </p:nvSpPr>
        <p:spPr>
          <a:xfrm>
            <a:off x="6343650" y="5476875"/>
            <a:ext cx="3105150" cy="266700"/>
          </a:xfrm>
          <a:prstGeom prst="roundRect">
            <a:avLst>
              <a:gd name="adj" fmla="val 50000"/>
            </a:avLst>
          </a:prstGeom>
          <a:solidFill>
            <a:srgbClr val="15B77E">
              <a:alpha val="10000"/>
            </a:srgbClr>
          </a:solidFill>
          <a:ln w="9525">
            <a:solidFill>
              <a:srgbClr val="15B77E">
                <a:alpha val="25000"/>
              </a:srgbClr>
            </a:solidFill>
            <a:prstDash val="solid"/>
          </a:ln>
        </p:spPr>
        <p:txBody>
          <a:bodyPr lIns="47625" tIns="0" rIns="47625" bIns="0" anchor="ctr"/>
          <a:lstStyle/>
          <a:p>
            <a:pPr algn="ctr">
              <a:buNone/>
              <a:defRPr sz="900" b="1">
                <a:solidFill>
                  <a:srgbClr val="15B77E"/>
                </a:solidFill>
                <a:latin typeface="Aptos"/>
                <a:ea typeface="Aptos"/>
                <a:cs typeface="Aptos"/>
              </a:defRPr>
            </a:pPr>
            <a:r>
              <a:rPr sz="788" b="1">
                <a:solidFill>
                  <a:srgbClr val="15B77E"/>
                </a:solidFill>
                <a:latin typeface="Aptos"/>
                <a:ea typeface="Aptos"/>
                <a:cs typeface="Aptos"/>
              </a:rPr>
              <a:t>Tôi đã push bản fix lên staging sáng nay.</a:t>
            </a:r>
          </a:p>
        </p:txBody>
      </p:sp>
      <p:sp>
        <p:nvSpPr>
          <p:cNvPr id="22" name="Rectangle: Rounded Corners 21">
            <a:extLst>
              <a:ext uri="{FF2B5EF4-FFF2-40B4-BE49-F238E27FC236}">
                <a16:creationId xmlns:a16="http://schemas.microsoft.com/office/drawing/2014/main" id="{CCD29841-2529-4900-95F9-8EDCD714AF75}"/>
              </a:ext>
            </a:extLst>
          </p:cNvPr>
          <p:cNvSpPr>
            <a:spLocks noGrp="1"/>
          </p:cNvSpPr>
          <p:nvPr/>
        </p:nvSpPr>
        <p:spPr>
          <a:xfrm>
            <a:off x="9563100" y="5476875"/>
            <a:ext cx="1428750" cy="266700"/>
          </a:xfrm>
          <a:prstGeom prst="roundRect">
            <a:avLst>
              <a:gd name="adj" fmla="val 50000"/>
            </a:avLst>
          </a:prstGeom>
          <a:solidFill>
            <a:srgbClr val="15B77E">
              <a:alpha val="10000"/>
            </a:srgbClr>
          </a:solidFill>
          <a:ln w="9525">
            <a:solidFill>
              <a:srgbClr val="15B77E">
                <a:alpha val="25000"/>
              </a:srgbClr>
            </a:solidFill>
            <a:prstDash val="solid"/>
          </a:ln>
        </p:spPr>
        <p:txBody>
          <a:bodyPr lIns="47625" tIns="0" rIns="47625" bIns="0" anchor="ctr"/>
          <a:lstStyle/>
          <a:p>
            <a:pPr algn="ctr">
              <a:buNone/>
              <a:defRPr sz="900" b="1">
                <a:solidFill>
                  <a:srgbClr val="15B77E"/>
                </a:solidFill>
                <a:latin typeface="Aptos"/>
                <a:ea typeface="Aptos"/>
                <a:cs typeface="Aptos"/>
              </a:defRPr>
            </a:pPr>
            <a:r>
              <a:rPr sz="825" b="1">
                <a:solidFill>
                  <a:srgbClr val="15B77E"/>
                </a:solidFill>
                <a:latin typeface="Aptos"/>
                <a:ea typeface="Aptos"/>
                <a:cs typeface="Aptos"/>
              </a:rPr>
              <a:t>ping mình</a:t>
            </a:r>
          </a:p>
        </p:txBody>
      </p:sp>
      <p:sp>
        <p:nvSpPr>
          <p:cNvPr id="23" name="Rectangle: Rounded Corners 22">
            <a:extLst>
              <a:ext uri="{FF2B5EF4-FFF2-40B4-BE49-F238E27FC236}">
                <a16:creationId xmlns:a16="http://schemas.microsoft.com/office/drawing/2014/main" id="{E1CB5759-E965-4C3B-91D4-79A21129D204}"/>
              </a:ext>
            </a:extLst>
          </p:cNvPr>
          <p:cNvSpPr>
            <a:spLocks noGrp="1"/>
          </p:cNvSpPr>
          <p:nvPr/>
        </p:nvSpPr>
        <p:spPr>
          <a:xfrm>
            <a:off x="647700" y="5953125"/>
            <a:ext cx="10896600" cy="476250"/>
          </a:xfrm>
          <a:prstGeom prst="roundRect">
            <a:avLst>
              <a:gd name="adj" fmla="val 36000"/>
            </a:avLst>
          </a:prstGeom>
          <a:gradFill>
            <a:gsLst>
              <a:gs pos="0">
                <a:srgbClr val="EEF4FF"/>
              </a:gs>
              <a:gs pos="100000">
                <a:srgbClr val="F3EEFF"/>
              </a:gs>
            </a:gsLst>
            <a:lin ang="5400000"/>
          </a:gradFill>
          <a:ln w="9525">
            <a:solidFill>
              <a:srgbClr val="DCE6F5"/>
            </a:solidFill>
            <a:prstDash val="solid"/>
          </a:ln>
        </p:spPr>
        <p:txBody>
          <a:bodyPr/>
          <a:lstStyle/>
          <a:p>
            <a:endParaRPr lang="en-US"/>
          </a:p>
        </p:txBody>
      </p:sp>
      <p:sp>
        <p:nvSpPr>
          <p:cNvPr id="24" name="Rectangle 23">
            <a:extLst>
              <a:ext uri="{FF2B5EF4-FFF2-40B4-BE49-F238E27FC236}">
                <a16:creationId xmlns:a16="http://schemas.microsoft.com/office/drawing/2014/main" id="{A568C243-4C9D-4289-B6DD-F1D370EE11E7}"/>
              </a:ext>
            </a:extLst>
          </p:cNvPr>
          <p:cNvSpPr>
            <a:spLocks noGrp="1"/>
          </p:cNvSpPr>
          <p:nvPr/>
        </p:nvSpPr>
        <p:spPr>
          <a:xfrm>
            <a:off x="904875" y="6048375"/>
            <a:ext cx="10363200" cy="285750"/>
          </a:xfrm>
          <a:prstGeom prst="rect">
            <a:avLst/>
          </a:prstGeom>
          <a:noFill/>
        </p:spPr>
        <p:txBody>
          <a:bodyPr anchor="ctr"/>
          <a:lstStyle/>
          <a:p>
            <a:pPr algn="ctr">
              <a:buNone/>
              <a:defRPr sz="1350" b="1">
                <a:solidFill>
                  <a:srgbClr val="081B3A"/>
                </a:solidFill>
                <a:latin typeface="Aptos"/>
                <a:ea typeface="Aptos"/>
                <a:cs typeface="Aptos"/>
              </a:defRPr>
            </a:pPr>
            <a:r>
              <a:rPr sz="1350" b="1">
                <a:solidFill>
                  <a:srgbClr val="081B3A"/>
                </a:solidFill>
                <a:latin typeface="Aptos"/>
                <a:ea typeface="Aptos"/>
                <a:cs typeface="Aptos"/>
              </a:rPr>
              <a:t>Trong ví dụ này, LinguaFlow giữ thuật ngữ IT và diễn đạt tự nhiên hơn Teams.</a:t>
            </a:r>
          </a:p>
        </p:txBody>
      </p:sp>
    </p:spTree>
    <p:extLst>
      <p:ext uri="{BB962C8B-B14F-4D97-AF65-F5344CB8AC3E}">
        <p14:creationId xmlns:p14="http://schemas.microsoft.com/office/powerpoint/2010/main" val="12365693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F"/>
        </a:solidFill>
        <a:effectLst/>
      </p:bgPr>
    </p:bg>
    <p:spTree>
      <p:nvGrpSpPr>
        <p:cNvPr id="1" name=""/>
        <p:cNvGrpSpPr/>
        <p:nvPr/>
      </p:nvGrpSpPr>
      <p:grpSpPr>
        <a:xfrm>
          <a:off x="0" y="0"/>
          <a:ext cx="0" cy="0"/>
          <a:chOff x="0" y="0"/>
          <a:chExt cx="0" cy="0"/>
        </a:xfrm>
      </p:grpSpPr>
      <p:sp>
        <p:nvSpPr>
          <p:cNvPr id="36" name="Rectangle: Rounded Corners 35">
            <a:extLst>
              <a:ext uri="{FF2B5EF4-FFF2-40B4-BE49-F238E27FC236}">
                <a16:creationId xmlns:a16="http://schemas.microsoft.com/office/drawing/2014/main" id="{A2DE907C-37BF-4BAF-938E-5B14B23B2852}"/>
              </a:ext>
            </a:extLst>
          </p:cNvPr>
          <p:cNvSpPr>
            <a:spLocks noGrp="1"/>
          </p:cNvSpPr>
          <p:nvPr/>
        </p:nvSpPr>
        <p:spPr>
          <a:xfrm>
            <a:off x="552450" y="361950"/>
            <a:ext cx="323850" cy="323850"/>
          </a:xfrm>
          <a:prstGeom prst="roundRect">
            <a:avLst>
              <a:gd name="adj" fmla="val 29412"/>
            </a:avLst>
          </a:prstGeom>
          <a:gradFill>
            <a:gsLst>
              <a:gs pos="0">
                <a:srgbClr val="246BFD"/>
              </a:gs>
              <a:gs pos="100000">
                <a:srgbClr val="6D38F5"/>
              </a:gs>
            </a:gsLst>
            <a:lin ang="8100000"/>
          </a:gradFill>
        </p:spPr>
        <p:txBody>
          <a:bodyPr/>
          <a:lstStyle/>
          <a:p>
            <a:endParaRPr lang="en-US"/>
          </a:p>
        </p:txBody>
      </p:sp>
      <p:sp>
        <p:nvSpPr>
          <p:cNvPr id="2" name="Rectangle 1">
            <a:extLst>
              <a:ext uri="{FF2B5EF4-FFF2-40B4-BE49-F238E27FC236}">
                <a16:creationId xmlns:a16="http://schemas.microsoft.com/office/drawing/2014/main" id="{75C46A8E-A095-4FEC-8183-0CF4E8CBC8F6}"/>
              </a:ext>
            </a:extLst>
          </p:cNvPr>
          <p:cNvSpPr>
            <a:spLocks noGrp="1"/>
          </p:cNvSpPr>
          <p:nvPr/>
        </p:nvSpPr>
        <p:spPr>
          <a:xfrm>
            <a:off x="552450" y="361950"/>
            <a:ext cx="323850" cy="323850"/>
          </a:xfrm>
          <a:prstGeom prst="rect">
            <a:avLst/>
          </a:prstGeom>
          <a:noFill/>
        </p:spPr>
        <p:txBody>
          <a:bodyPr anchor="ctr"/>
          <a:lstStyle/>
          <a:p>
            <a:pPr algn="ctr">
              <a:buNone/>
              <a:defRPr sz="1350" b="1">
                <a:solidFill>
                  <a:srgbClr val="FFFFFF"/>
                </a:solidFill>
                <a:latin typeface="Aptos"/>
                <a:ea typeface="Aptos"/>
                <a:cs typeface="Aptos"/>
              </a:defRPr>
            </a:pPr>
            <a:r>
              <a:rPr sz="1350" b="1">
                <a:solidFill>
                  <a:srgbClr val="FFFFFF"/>
                </a:solidFill>
                <a:latin typeface="Aptos"/>
                <a:ea typeface="Aptos"/>
                <a:cs typeface="Aptos"/>
              </a:rPr>
              <a:t>≋</a:t>
            </a:r>
          </a:p>
        </p:txBody>
      </p:sp>
      <p:sp>
        <p:nvSpPr>
          <p:cNvPr id="3" name="Rectangle 2">
            <a:extLst>
              <a:ext uri="{FF2B5EF4-FFF2-40B4-BE49-F238E27FC236}">
                <a16:creationId xmlns:a16="http://schemas.microsoft.com/office/drawing/2014/main" id="{7CFC0FCF-49F1-4D09-8321-3F9F92D028F0}"/>
              </a:ext>
            </a:extLst>
          </p:cNvPr>
          <p:cNvSpPr>
            <a:spLocks noGrp="1"/>
          </p:cNvSpPr>
          <p:nvPr/>
        </p:nvSpPr>
        <p:spPr>
          <a:xfrm>
            <a:off x="971550" y="390525"/>
            <a:ext cx="1409700" cy="266700"/>
          </a:xfrm>
          <a:prstGeom prst="rect">
            <a:avLst/>
          </a:prstGeom>
          <a:noFill/>
        </p:spPr>
        <p:txBody>
          <a:bodyPr anchor="t"/>
          <a:lstStyle/>
          <a:p>
            <a:pPr algn="l">
              <a:buNone/>
              <a:defRPr sz="1500" b="1">
                <a:solidFill>
                  <a:srgbClr val="081B3A"/>
                </a:solidFill>
                <a:latin typeface="Aptos"/>
                <a:ea typeface="Aptos"/>
                <a:cs typeface="Aptos"/>
              </a:defRPr>
            </a:pPr>
            <a:r>
              <a:rPr sz="1500" b="1">
                <a:solidFill>
                  <a:srgbClr val="081B3A"/>
                </a:solidFill>
                <a:latin typeface="Aptos"/>
                <a:ea typeface="Aptos"/>
                <a:cs typeface="Aptos"/>
              </a:rPr>
              <a:t>LinguaFlow</a:t>
            </a:r>
          </a:p>
        </p:txBody>
      </p:sp>
      <p:sp>
        <p:nvSpPr>
          <p:cNvPr id="4" name="Rectangle 3">
            <a:extLst>
              <a:ext uri="{FF2B5EF4-FFF2-40B4-BE49-F238E27FC236}">
                <a16:creationId xmlns:a16="http://schemas.microsoft.com/office/drawing/2014/main" id="{F303BDE7-09A6-4018-9316-320984EB4F9E}"/>
              </a:ext>
            </a:extLst>
          </p:cNvPr>
          <p:cNvSpPr>
            <a:spLocks noGrp="1"/>
          </p:cNvSpPr>
          <p:nvPr/>
        </p:nvSpPr>
        <p:spPr>
          <a:xfrm>
            <a:off x="8905875" y="428625"/>
            <a:ext cx="2238375" cy="190500"/>
          </a:xfrm>
          <a:prstGeom prst="rect">
            <a:avLst/>
          </a:prstGeom>
          <a:noFill/>
        </p:spPr>
        <p:txBody>
          <a:bodyPr anchor="t"/>
          <a:lstStyle/>
          <a:p>
            <a:pPr algn="r">
              <a:buNone/>
              <a:defRPr sz="825" b="1">
                <a:solidFill>
                  <a:srgbClr val="64748B"/>
                </a:solidFill>
                <a:latin typeface="Aptos"/>
                <a:ea typeface="Aptos"/>
                <a:cs typeface="Aptos"/>
              </a:defRPr>
            </a:pPr>
            <a:r>
              <a:rPr sz="825" b="1">
                <a:solidFill>
                  <a:srgbClr val="64748B"/>
                </a:solidFill>
                <a:latin typeface="Aptos"/>
                <a:ea typeface="Aptos"/>
                <a:cs typeface="Aptos"/>
              </a:rPr>
              <a:t>LUỒNG AGENT</a:t>
            </a:r>
          </a:p>
        </p:txBody>
      </p:sp>
      <p:sp>
        <p:nvSpPr>
          <p:cNvPr id="5" name="Rectangle 4">
            <a:extLst>
              <a:ext uri="{FF2B5EF4-FFF2-40B4-BE49-F238E27FC236}">
                <a16:creationId xmlns:a16="http://schemas.microsoft.com/office/drawing/2014/main" id="{04FE8EBE-9612-424F-A453-BA96945A2963}"/>
              </a:ext>
            </a:extLst>
          </p:cNvPr>
          <p:cNvSpPr>
            <a:spLocks noGrp="1"/>
          </p:cNvSpPr>
          <p:nvPr/>
        </p:nvSpPr>
        <p:spPr>
          <a:xfrm>
            <a:off x="11334750" y="409575"/>
            <a:ext cx="361950" cy="190500"/>
          </a:xfrm>
          <a:prstGeom prst="rect">
            <a:avLst/>
          </a:prstGeom>
          <a:noFill/>
        </p:spPr>
        <p:txBody>
          <a:bodyPr anchor="t"/>
          <a:lstStyle/>
          <a:p>
            <a:pPr algn="r">
              <a:buNone/>
              <a:defRPr sz="900" b="1">
                <a:solidFill>
                  <a:srgbClr val="246BFD"/>
                </a:solidFill>
                <a:latin typeface="Aptos"/>
                <a:ea typeface="Aptos"/>
                <a:cs typeface="Aptos"/>
              </a:defRPr>
            </a:pPr>
            <a:r>
              <a:rPr sz="900" b="1">
                <a:solidFill>
                  <a:srgbClr val="246BFD"/>
                </a:solidFill>
                <a:latin typeface="Aptos"/>
                <a:ea typeface="Aptos"/>
                <a:cs typeface="Aptos"/>
              </a:rPr>
              <a:t>06</a:t>
            </a:r>
          </a:p>
        </p:txBody>
      </p:sp>
      <p:sp>
        <p:nvSpPr>
          <p:cNvPr id="6" name="Rectangle 5">
            <a:extLst>
              <a:ext uri="{FF2B5EF4-FFF2-40B4-BE49-F238E27FC236}">
                <a16:creationId xmlns:a16="http://schemas.microsoft.com/office/drawing/2014/main" id="{BA905353-E780-42FD-A5FB-24A2CFF74CB5}"/>
              </a:ext>
            </a:extLst>
          </p:cNvPr>
          <p:cNvSpPr>
            <a:spLocks noGrp="1"/>
          </p:cNvSpPr>
          <p:nvPr/>
        </p:nvSpPr>
        <p:spPr>
          <a:xfrm>
            <a:off x="552450" y="800100"/>
            <a:ext cx="11144250" cy="9525"/>
          </a:xfrm>
          <a:prstGeom prst="rect">
            <a:avLst/>
          </a:prstGeom>
          <a:solidFill>
            <a:srgbClr val="DCE6F5"/>
          </a:solidFill>
        </p:spPr>
        <p:txBody>
          <a:bodyPr/>
          <a:lstStyle/>
          <a:p>
            <a:endParaRPr lang="en-US"/>
          </a:p>
        </p:txBody>
      </p:sp>
      <p:sp>
        <p:nvSpPr>
          <p:cNvPr id="7" name="Rectangle 6">
            <a:extLst>
              <a:ext uri="{FF2B5EF4-FFF2-40B4-BE49-F238E27FC236}">
                <a16:creationId xmlns:a16="http://schemas.microsoft.com/office/drawing/2014/main" id="{22492F8D-57DA-4F37-93D0-366BD074EBDC}"/>
              </a:ext>
            </a:extLst>
          </p:cNvPr>
          <p:cNvSpPr>
            <a:spLocks noGrp="1"/>
          </p:cNvSpPr>
          <p:nvPr/>
        </p:nvSpPr>
        <p:spPr>
          <a:xfrm>
            <a:off x="647700" y="1066800"/>
            <a:ext cx="3333750" cy="228600"/>
          </a:xfrm>
          <a:prstGeom prst="rect">
            <a:avLst/>
          </a:prstGeom>
          <a:noFill/>
        </p:spPr>
        <p:txBody>
          <a:bodyPr anchor="t"/>
          <a:lstStyle/>
          <a:p>
            <a:pPr algn="l">
              <a:buNone/>
              <a:defRPr sz="900" b="1">
                <a:solidFill>
                  <a:srgbClr val="246BFD"/>
                </a:solidFill>
                <a:latin typeface="Aptos"/>
                <a:ea typeface="Aptos"/>
                <a:cs typeface="Aptos"/>
              </a:defRPr>
            </a:pPr>
            <a:r>
              <a:rPr sz="900" b="1">
                <a:solidFill>
                  <a:srgbClr val="246BFD"/>
                </a:solidFill>
                <a:latin typeface="Aptos"/>
                <a:ea typeface="Aptos"/>
                <a:cs typeface="Aptos"/>
              </a:rPr>
              <a:t>AGENT PIPELINE</a:t>
            </a:r>
          </a:p>
        </p:txBody>
      </p:sp>
      <p:sp>
        <p:nvSpPr>
          <p:cNvPr id="8" name="Rectangle 7">
            <a:extLst>
              <a:ext uri="{FF2B5EF4-FFF2-40B4-BE49-F238E27FC236}">
                <a16:creationId xmlns:a16="http://schemas.microsoft.com/office/drawing/2014/main" id="{D96E91CB-80D6-4A8C-A1B4-8E97451B56C2}"/>
              </a:ext>
            </a:extLst>
          </p:cNvPr>
          <p:cNvSpPr>
            <a:spLocks noGrp="1"/>
          </p:cNvSpPr>
          <p:nvPr/>
        </p:nvSpPr>
        <p:spPr>
          <a:xfrm>
            <a:off x="647700" y="1333500"/>
            <a:ext cx="10896600" cy="723900"/>
          </a:xfrm>
          <a:prstGeom prst="rect">
            <a:avLst/>
          </a:prstGeom>
          <a:noFill/>
        </p:spPr>
        <p:txBody>
          <a:bodyPr anchor="t"/>
          <a:lstStyle/>
          <a:p>
            <a:pPr algn="l">
              <a:buNone/>
              <a:defRPr sz="2850" b="1">
                <a:solidFill>
                  <a:srgbClr val="081B3A"/>
                </a:solidFill>
                <a:latin typeface="Aptos"/>
                <a:ea typeface="Aptos"/>
                <a:cs typeface="Aptos"/>
              </a:defRPr>
            </a:pPr>
            <a:r>
              <a:rPr sz="2850" b="1">
                <a:solidFill>
                  <a:srgbClr val="081B3A"/>
                </a:solidFill>
                <a:latin typeface="Aptos"/>
                <a:ea typeface="Aptos"/>
                <a:cs typeface="Aptos"/>
              </a:rPr>
              <a:t>Agent dựng context trước khi gọi LLM</a:t>
            </a:r>
          </a:p>
        </p:txBody>
      </p:sp>
      <p:sp>
        <p:nvSpPr>
          <p:cNvPr id="9" name="Rectangle 8">
            <a:extLst>
              <a:ext uri="{FF2B5EF4-FFF2-40B4-BE49-F238E27FC236}">
                <a16:creationId xmlns:a16="http://schemas.microsoft.com/office/drawing/2014/main" id="{B635A9D6-4C13-45BA-8FDE-327D9E5F9EF8}"/>
              </a:ext>
            </a:extLst>
          </p:cNvPr>
          <p:cNvSpPr>
            <a:spLocks noGrp="1"/>
          </p:cNvSpPr>
          <p:nvPr/>
        </p:nvSpPr>
        <p:spPr>
          <a:xfrm>
            <a:off x="647700" y="2047875"/>
            <a:ext cx="9810750" cy="342900"/>
          </a:xfrm>
          <a:prstGeom prst="rect">
            <a:avLst/>
          </a:prstGeom>
          <a:noFill/>
        </p:spPr>
        <p:txBody>
          <a:bodyPr anchor="t"/>
          <a:lstStyle/>
          <a:p>
            <a:pPr algn="l">
              <a:buNone/>
              <a:defRPr sz="1350" b="0">
                <a:solidFill>
                  <a:srgbClr val="64748B"/>
                </a:solidFill>
                <a:latin typeface="Aptos"/>
                <a:ea typeface="Aptos"/>
                <a:cs typeface="Aptos"/>
              </a:defRPr>
            </a:pPr>
            <a:r>
              <a:rPr sz="1350" b="0">
                <a:solidFill>
                  <a:srgbClr val="64748B"/>
                </a:solidFill>
                <a:latin typeface="Aptos"/>
                <a:ea typeface="Aptos"/>
                <a:cs typeface="Aptos"/>
              </a:rPr>
              <a:t>Mỗi người nhận một bản dịch theo ngôn ngữ · vai vế · tone riêng.</a:t>
            </a:r>
          </a:p>
        </p:txBody>
      </p:sp>
      <p:sp>
        <p:nvSpPr>
          <p:cNvPr id="10" name="Rectangle: Rounded Corners 9">
            <a:extLst>
              <a:ext uri="{FF2B5EF4-FFF2-40B4-BE49-F238E27FC236}">
                <a16:creationId xmlns:a16="http://schemas.microsoft.com/office/drawing/2014/main" id="{38CA44DC-D5B8-4E37-A42A-A6ECACFA74E6}"/>
              </a:ext>
            </a:extLst>
          </p:cNvPr>
          <p:cNvSpPr>
            <a:spLocks noGrp="1"/>
          </p:cNvSpPr>
          <p:nvPr/>
        </p:nvSpPr>
        <p:spPr>
          <a:xfrm>
            <a:off x="571500" y="3067050"/>
            <a:ext cx="1943100" cy="1714500"/>
          </a:xfrm>
          <a:prstGeom prst="roundRect">
            <a:avLst>
              <a:gd name="adj" fmla="val 12222"/>
            </a:avLst>
          </a:prstGeom>
          <a:solidFill>
            <a:srgbClr val="FFFFFF"/>
          </a:solidFill>
          <a:ln w="9525">
            <a:solidFill>
              <a:srgbClr val="DCE6F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1" name="Rectangle: Rounded Corners 10">
            <a:extLst>
              <a:ext uri="{FF2B5EF4-FFF2-40B4-BE49-F238E27FC236}">
                <a16:creationId xmlns:a16="http://schemas.microsoft.com/office/drawing/2014/main" id="{A5A060B4-2EDB-4822-B7FF-A621DA1D3AA2}"/>
              </a:ext>
            </a:extLst>
          </p:cNvPr>
          <p:cNvSpPr>
            <a:spLocks noGrp="1"/>
          </p:cNvSpPr>
          <p:nvPr/>
        </p:nvSpPr>
        <p:spPr>
          <a:xfrm>
            <a:off x="2781300" y="3067050"/>
            <a:ext cx="1943100" cy="1714500"/>
          </a:xfrm>
          <a:prstGeom prst="roundRect">
            <a:avLst>
              <a:gd name="adj" fmla="val 12222"/>
            </a:avLst>
          </a:prstGeom>
          <a:solidFill>
            <a:srgbClr val="FFFFFF"/>
          </a:solidFill>
          <a:ln w="9525">
            <a:solidFill>
              <a:srgbClr val="DCE6F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2" name="Rectangle: Rounded Corners 11">
            <a:extLst>
              <a:ext uri="{FF2B5EF4-FFF2-40B4-BE49-F238E27FC236}">
                <a16:creationId xmlns:a16="http://schemas.microsoft.com/office/drawing/2014/main" id="{22025FC9-C5D7-49F8-89F5-7B3CDA8B0F9B}"/>
              </a:ext>
            </a:extLst>
          </p:cNvPr>
          <p:cNvSpPr>
            <a:spLocks noGrp="1"/>
          </p:cNvSpPr>
          <p:nvPr/>
        </p:nvSpPr>
        <p:spPr>
          <a:xfrm>
            <a:off x="4991100" y="3067050"/>
            <a:ext cx="1943100" cy="1714500"/>
          </a:xfrm>
          <a:prstGeom prst="roundRect">
            <a:avLst>
              <a:gd name="adj" fmla="val 12222"/>
            </a:avLst>
          </a:prstGeom>
          <a:solidFill>
            <a:srgbClr val="FFFFFF"/>
          </a:solidFill>
          <a:ln w="9525">
            <a:solidFill>
              <a:srgbClr val="DCE6F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Rectangle: Rounded Corners 12">
            <a:extLst>
              <a:ext uri="{FF2B5EF4-FFF2-40B4-BE49-F238E27FC236}">
                <a16:creationId xmlns:a16="http://schemas.microsoft.com/office/drawing/2014/main" id="{EFD88711-C002-4BD9-81A7-877C4CDE7CDA}"/>
              </a:ext>
            </a:extLst>
          </p:cNvPr>
          <p:cNvSpPr>
            <a:spLocks noGrp="1"/>
          </p:cNvSpPr>
          <p:nvPr/>
        </p:nvSpPr>
        <p:spPr>
          <a:xfrm>
            <a:off x="7200900" y="3067050"/>
            <a:ext cx="1943100" cy="1714500"/>
          </a:xfrm>
          <a:prstGeom prst="roundRect">
            <a:avLst>
              <a:gd name="adj" fmla="val 12222"/>
            </a:avLst>
          </a:prstGeom>
          <a:solidFill>
            <a:srgbClr val="FFFFFF"/>
          </a:solidFill>
          <a:ln w="9525">
            <a:solidFill>
              <a:srgbClr val="DCE6F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4" name="Rectangle: Rounded Corners 13">
            <a:extLst>
              <a:ext uri="{FF2B5EF4-FFF2-40B4-BE49-F238E27FC236}">
                <a16:creationId xmlns:a16="http://schemas.microsoft.com/office/drawing/2014/main" id="{27F8B54A-D50C-4B18-8094-867BB2F331A8}"/>
              </a:ext>
            </a:extLst>
          </p:cNvPr>
          <p:cNvSpPr>
            <a:spLocks noGrp="1"/>
          </p:cNvSpPr>
          <p:nvPr/>
        </p:nvSpPr>
        <p:spPr>
          <a:xfrm>
            <a:off x="9410700" y="3067050"/>
            <a:ext cx="1943100" cy="1714500"/>
          </a:xfrm>
          <a:prstGeom prst="roundRect">
            <a:avLst>
              <a:gd name="adj" fmla="val 12222"/>
            </a:avLst>
          </a:prstGeom>
          <a:solidFill>
            <a:srgbClr val="FFFFFF"/>
          </a:solidFill>
          <a:ln w="9525">
            <a:solidFill>
              <a:srgbClr val="DCE6F5"/>
            </a:solidFill>
            <a:prstDash val="solid"/>
          </a:ln>
        </p:spPr>
        <p:style>
          <a:lnRef idx="0">
            <a:scrgbClr r="0" g="0" b="0"/>
          </a:lnRef>
          <a:fillRef idx="0">
            <a:scrgbClr r="0" g="0" b="0"/>
          </a:fillRef>
          <a:effectRef idx="4">
            <a:scrgbClr r="0" g="0" b="0"/>
          </a:effectRef>
          <a:fontRef idx="major"/>
        </p:style>
        <p:txBody>
          <a:bodyPr/>
          <a:lstStyle/>
          <a:p>
            <a:endParaRPr lang="en-US"/>
          </a:p>
        </p:txBody>
      </p:sp>
      <p:cxnSp>
        <p:nvCxnSpPr>
          <p:cNvPr id="86" name="Straight Arrow Connector 85"/>
          <p:cNvCxnSpPr>
            <a:stCxn id="10" idx="3"/>
            <a:endCxn id="11" idx="1"/>
          </p:cNvCxnSpPr>
          <p:nvPr/>
        </p:nvCxnSpPr>
        <p:spPr>
          <a:xfrm>
            <a:off x="2514600" y="3924300"/>
            <a:ext cx="266700" cy="0"/>
          </a:xfrm>
          <a:prstGeom prst="straightConnector1">
            <a:avLst/>
          </a:prstGeom>
          <a:ln w="19050">
            <a:solidFill>
              <a:srgbClr val="246BFD"/>
            </a:solidFill>
            <a:prstDash val="solid"/>
            <a:tailEnd type="triangle" w="sm" len="sm"/>
          </a:ln>
        </p:spPr>
      </p:cxnSp>
      <p:cxnSp>
        <p:nvCxnSpPr>
          <p:cNvPr id="87" name="Straight Arrow Connector 86"/>
          <p:cNvCxnSpPr>
            <a:stCxn id="11" idx="3"/>
            <a:endCxn id="12" idx="1"/>
          </p:cNvCxnSpPr>
          <p:nvPr/>
        </p:nvCxnSpPr>
        <p:spPr>
          <a:xfrm>
            <a:off x="4724400" y="3924300"/>
            <a:ext cx="266700" cy="0"/>
          </a:xfrm>
          <a:prstGeom prst="straightConnector1">
            <a:avLst/>
          </a:prstGeom>
          <a:ln w="19050">
            <a:solidFill>
              <a:srgbClr val="246BFD"/>
            </a:solidFill>
            <a:prstDash val="solid"/>
            <a:tailEnd type="triangle" w="sm" len="sm"/>
          </a:ln>
        </p:spPr>
      </p:cxnSp>
      <p:cxnSp>
        <p:nvCxnSpPr>
          <p:cNvPr id="88" name="Straight Arrow Connector 87"/>
          <p:cNvCxnSpPr>
            <a:stCxn id="12" idx="3"/>
            <a:endCxn id="13" idx="1"/>
          </p:cNvCxnSpPr>
          <p:nvPr/>
        </p:nvCxnSpPr>
        <p:spPr>
          <a:xfrm>
            <a:off x="6934200" y="3924300"/>
            <a:ext cx="266700" cy="0"/>
          </a:xfrm>
          <a:prstGeom prst="straightConnector1">
            <a:avLst/>
          </a:prstGeom>
          <a:ln w="19050">
            <a:solidFill>
              <a:srgbClr val="246BFD"/>
            </a:solidFill>
            <a:prstDash val="solid"/>
            <a:tailEnd type="triangle" w="sm" len="sm"/>
          </a:ln>
        </p:spPr>
      </p:cxnSp>
      <p:cxnSp>
        <p:nvCxnSpPr>
          <p:cNvPr id="89" name="Straight Arrow Connector 88"/>
          <p:cNvCxnSpPr>
            <a:stCxn id="13" idx="3"/>
            <a:endCxn id="14" idx="1"/>
          </p:cNvCxnSpPr>
          <p:nvPr/>
        </p:nvCxnSpPr>
        <p:spPr>
          <a:xfrm>
            <a:off x="9144000" y="3924300"/>
            <a:ext cx="266700" cy="0"/>
          </a:xfrm>
          <a:prstGeom prst="straightConnector1">
            <a:avLst/>
          </a:prstGeom>
          <a:ln w="19050">
            <a:solidFill>
              <a:srgbClr val="246BFD"/>
            </a:solidFill>
            <a:prstDash val="solid"/>
            <a:tailEnd type="triangle" w="sm" len="sm"/>
          </a:ln>
        </p:spPr>
      </p:cxnSp>
      <p:sp>
        <p:nvSpPr>
          <p:cNvPr id="19" name="Oval 18">
            <a:extLst>
              <a:ext uri="{FF2B5EF4-FFF2-40B4-BE49-F238E27FC236}">
                <a16:creationId xmlns:a16="http://schemas.microsoft.com/office/drawing/2014/main" id="{2E0E80A8-DD08-4451-8562-06F3C3214482}"/>
              </a:ext>
            </a:extLst>
          </p:cNvPr>
          <p:cNvSpPr>
            <a:spLocks noGrp="1"/>
          </p:cNvSpPr>
          <p:nvPr/>
        </p:nvSpPr>
        <p:spPr>
          <a:xfrm>
            <a:off x="676275" y="3286125"/>
            <a:ext cx="552450" cy="323850"/>
          </a:xfrm>
          <a:prstGeom prst="ellipse">
            <a:avLst/>
          </a:prstGeom>
          <a:solidFill>
            <a:srgbClr val="246BFD"/>
          </a:solidFill>
        </p:spPr>
        <p:txBody>
          <a:bodyPr lIns="19050" tIns="0" rIns="19050" bIns="0" anchor="ctr"/>
          <a:lstStyle/>
          <a:p>
            <a:pPr algn="ctr">
              <a:buNone/>
              <a:defRPr sz="1125" b="1">
                <a:solidFill>
                  <a:srgbClr val="FFFFFF"/>
                </a:solidFill>
                <a:latin typeface="Aptos"/>
                <a:ea typeface="Aptos"/>
                <a:cs typeface="Aptos"/>
              </a:defRPr>
            </a:pPr>
            <a:r>
              <a:rPr sz="975" b="1">
                <a:solidFill>
                  <a:srgbClr val="FFFFFF"/>
                </a:solidFill>
                <a:latin typeface="Aptos"/>
                <a:ea typeface="Aptos"/>
                <a:cs typeface="Aptos"/>
              </a:rPr>
              <a:t>01</a:t>
            </a:r>
          </a:p>
        </p:txBody>
      </p:sp>
      <p:sp>
        <p:nvSpPr>
          <p:cNvPr id="20" name="Rectangle 19">
            <a:extLst>
              <a:ext uri="{FF2B5EF4-FFF2-40B4-BE49-F238E27FC236}">
                <a16:creationId xmlns:a16="http://schemas.microsoft.com/office/drawing/2014/main" id="{2BF23B67-FF76-4654-8F89-B1FE4D0853A4}"/>
              </a:ext>
            </a:extLst>
          </p:cNvPr>
          <p:cNvSpPr>
            <a:spLocks noGrp="1"/>
          </p:cNvSpPr>
          <p:nvPr/>
        </p:nvSpPr>
        <p:spPr>
          <a:xfrm>
            <a:off x="742950" y="3819525"/>
            <a:ext cx="1600200" cy="409575"/>
          </a:xfrm>
          <a:prstGeom prst="rect">
            <a:avLst/>
          </a:prstGeom>
          <a:noFill/>
        </p:spPr>
        <p:txBody>
          <a:bodyPr anchor="ctr"/>
          <a:lstStyle/>
          <a:p>
            <a:pPr algn="ctr">
              <a:buNone/>
              <a:defRPr sz="1050" b="1">
                <a:solidFill>
                  <a:srgbClr val="246BFD"/>
                </a:solidFill>
                <a:latin typeface="Aptos"/>
                <a:ea typeface="Aptos"/>
                <a:cs typeface="Aptos"/>
              </a:defRPr>
            </a:pPr>
            <a:r>
              <a:rPr sz="1050" b="1">
                <a:solidFill>
                  <a:srgbClr val="246BFD"/>
                </a:solidFill>
                <a:latin typeface="Aptos"/>
                <a:ea typeface="Aptos"/>
                <a:cs typeface="Aptos"/>
              </a:rPr>
              <a:t>5 TIN GẦN NHẤT</a:t>
            </a:r>
          </a:p>
        </p:txBody>
      </p:sp>
      <p:sp>
        <p:nvSpPr>
          <p:cNvPr id="21" name="Rectangle 20">
            <a:extLst>
              <a:ext uri="{FF2B5EF4-FFF2-40B4-BE49-F238E27FC236}">
                <a16:creationId xmlns:a16="http://schemas.microsoft.com/office/drawing/2014/main" id="{462F1805-27D7-4D4B-9172-1381A6217E70}"/>
              </a:ext>
            </a:extLst>
          </p:cNvPr>
          <p:cNvSpPr>
            <a:spLocks noGrp="1"/>
          </p:cNvSpPr>
          <p:nvPr/>
        </p:nvSpPr>
        <p:spPr>
          <a:xfrm>
            <a:off x="742950" y="4295775"/>
            <a:ext cx="1600200" cy="266700"/>
          </a:xfrm>
          <a:prstGeom prst="rect">
            <a:avLst/>
          </a:prstGeom>
          <a:noFill/>
        </p:spPr>
        <p:txBody>
          <a:bodyPr anchor="ctr"/>
          <a:lstStyle/>
          <a:p>
            <a:pPr algn="ctr">
              <a:buNone/>
              <a:defRPr sz="1125" b="0">
                <a:solidFill>
                  <a:srgbClr val="64748B"/>
                </a:solidFill>
                <a:latin typeface="Aptos"/>
                <a:ea typeface="Aptos"/>
                <a:cs typeface="Aptos"/>
              </a:defRPr>
            </a:pPr>
            <a:r>
              <a:rPr sz="1125" b="0">
                <a:solidFill>
                  <a:srgbClr val="64748B"/>
                </a:solidFill>
                <a:latin typeface="Aptos"/>
                <a:ea typeface="Aptos"/>
                <a:cs typeface="Aptos"/>
              </a:rPr>
              <a:t>Giữ mạch hội thoại</a:t>
            </a:r>
          </a:p>
        </p:txBody>
      </p:sp>
      <p:sp>
        <p:nvSpPr>
          <p:cNvPr id="22" name="Oval 21">
            <a:extLst>
              <a:ext uri="{FF2B5EF4-FFF2-40B4-BE49-F238E27FC236}">
                <a16:creationId xmlns:a16="http://schemas.microsoft.com/office/drawing/2014/main" id="{9F6EEF41-FA23-4160-94D3-2E1F2822A715}"/>
              </a:ext>
            </a:extLst>
          </p:cNvPr>
          <p:cNvSpPr>
            <a:spLocks noGrp="1"/>
          </p:cNvSpPr>
          <p:nvPr/>
        </p:nvSpPr>
        <p:spPr>
          <a:xfrm>
            <a:off x="2886075" y="3286125"/>
            <a:ext cx="552450" cy="323850"/>
          </a:xfrm>
          <a:prstGeom prst="ellipse">
            <a:avLst/>
          </a:prstGeom>
          <a:solidFill>
            <a:srgbClr val="6D38F5"/>
          </a:solidFill>
        </p:spPr>
        <p:txBody>
          <a:bodyPr lIns="19050" tIns="0" rIns="19050" bIns="0" anchor="ctr"/>
          <a:lstStyle/>
          <a:p>
            <a:pPr algn="ctr">
              <a:buNone/>
              <a:defRPr sz="1125" b="1">
                <a:solidFill>
                  <a:srgbClr val="FFFFFF"/>
                </a:solidFill>
                <a:latin typeface="Aptos"/>
                <a:ea typeface="Aptos"/>
                <a:cs typeface="Aptos"/>
              </a:defRPr>
            </a:pPr>
            <a:r>
              <a:rPr sz="975" b="1">
                <a:solidFill>
                  <a:srgbClr val="FFFFFF"/>
                </a:solidFill>
                <a:latin typeface="Aptos"/>
                <a:ea typeface="Aptos"/>
                <a:cs typeface="Aptos"/>
              </a:rPr>
              <a:t>02</a:t>
            </a:r>
          </a:p>
        </p:txBody>
      </p:sp>
      <p:sp>
        <p:nvSpPr>
          <p:cNvPr id="23" name="Rectangle 22">
            <a:extLst>
              <a:ext uri="{FF2B5EF4-FFF2-40B4-BE49-F238E27FC236}">
                <a16:creationId xmlns:a16="http://schemas.microsoft.com/office/drawing/2014/main" id="{A548233F-91BC-4A31-9A04-0CA6293774F8}"/>
              </a:ext>
            </a:extLst>
          </p:cNvPr>
          <p:cNvSpPr>
            <a:spLocks noGrp="1"/>
          </p:cNvSpPr>
          <p:nvPr/>
        </p:nvSpPr>
        <p:spPr>
          <a:xfrm>
            <a:off x="2952750" y="3819525"/>
            <a:ext cx="1600200" cy="409575"/>
          </a:xfrm>
          <a:prstGeom prst="rect">
            <a:avLst/>
          </a:prstGeom>
          <a:noFill/>
        </p:spPr>
        <p:txBody>
          <a:bodyPr anchor="ctr"/>
          <a:lstStyle/>
          <a:p>
            <a:pPr algn="ctr">
              <a:buNone/>
              <a:defRPr sz="1050" b="1">
                <a:solidFill>
                  <a:srgbClr val="6D38F5"/>
                </a:solidFill>
                <a:latin typeface="Aptos"/>
                <a:ea typeface="Aptos"/>
                <a:cs typeface="Aptos"/>
              </a:defRPr>
            </a:pPr>
            <a:r>
              <a:rPr sz="1050" b="1">
                <a:solidFill>
                  <a:srgbClr val="6D38F5"/>
                </a:solidFill>
                <a:latin typeface="Aptos"/>
                <a:ea typeface="Aptos"/>
                <a:cs typeface="Aptos"/>
              </a:rPr>
              <a:t>PROFILE NGƯỜI NHẬN</a:t>
            </a:r>
          </a:p>
        </p:txBody>
      </p:sp>
      <p:sp>
        <p:nvSpPr>
          <p:cNvPr id="24" name="Rectangle 23">
            <a:extLst>
              <a:ext uri="{FF2B5EF4-FFF2-40B4-BE49-F238E27FC236}">
                <a16:creationId xmlns:a16="http://schemas.microsoft.com/office/drawing/2014/main" id="{1CCA4FA7-2610-4021-BEF2-B7D7431DFB0D}"/>
              </a:ext>
            </a:extLst>
          </p:cNvPr>
          <p:cNvSpPr>
            <a:spLocks noGrp="1"/>
          </p:cNvSpPr>
          <p:nvPr/>
        </p:nvSpPr>
        <p:spPr>
          <a:xfrm>
            <a:off x="2952750" y="4295775"/>
            <a:ext cx="1600200" cy="266700"/>
          </a:xfrm>
          <a:prstGeom prst="rect">
            <a:avLst/>
          </a:prstGeom>
          <a:noFill/>
        </p:spPr>
        <p:txBody>
          <a:bodyPr anchor="ctr"/>
          <a:lstStyle/>
          <a:p>
            <a:pPr algn="ctr">
              <a:buNone/>
              <a:defRPr sz="1125" b="0">
                <a:solidFill>
                  <a:srgbClr val="64748B"/>
                </a:solidFill>
                <a:latin typeface="Aptos"/>
                <a:ea typeface="Aptos"/>
                <a:cs typeface="Aptos"/>
              </a:defRPr>
            </a:pPr>
            <a:r>
              <a:rPr sz="1125" b="0">
                <a:solidFill>
                  <a:srgbClr val="64748B"/>
                </a:solidFill>
                <a:latin typeface="Aptos"/>
                <a:ea typeface="Aptos"/>
                <a:cs typeface="Aptos"/>
              </a:rPr>
              <a:t>vai vế · tone</a:t>
            </a:r>
          </a:p>
        </p:txBody>
      </p:sp>
      <p:sp>
        <p:nvSpPr>
          <p:cNvPr id="25" name="Oval 24">
            <a:extLst>
              <a:ext uri="{FF2B5EF4-FFF2-40B4-BE49-F238E27FC236}">
                <a16:creationId xmlns:a16="http://schemas.microsoft.com/office/drawing/2014/main" id="{19D3D6C1-C910-4F83-AAEA-189C2A174CD9}"/>
              </a:ext>
            </a:extLst>
          </p:cNvPr>
          <p:cNvSpPr>
            <a:spLocks noGrp="1"/>
          </p:cNvSpPr>
          <p:nvPr/>
        </p:nvSpPr>
        <p:spPr>
          <a:xfrm>
            <a:off x="5095875" y="3286125"/>
            <a:ext cx="552450" cy="323850"/>
          </a:xfrm>
          <a:prstGeom prst="ellipse">
            <a:avLst/>
          </a:prstGeom>
          <a:solidFill>
            <a:srgbClr val="15B77E"/>
          </a:solidFill>
        </p:spPr>
        <p:txBody>
          <a:bodyPr lIns="19050" tIns="0" rIns="19050" bIns="0" anchor="ctr"/>
          <a:lstStyle/>
          <a:p>
            <a:pPr algn="ctr">
              <a:buNone/>
              <a:defRPr sz="1125" b="1">
                <a:solidFill>
                  <a:srgbClr val="FFFFFF"/>
                </a:solidFill>
                <a:latin typeface="Aptos"/>
                <a:ea typeface="Aptos"/>
                <a:cs typeface="Aptos"/>
              </a:defRPr>
            </a:pPr>
            <a:r>
              <a:rPr sz="975" b="1">
                <a:solidFill>
                  <a:srgbClr val="FFFFFF"/>
                </a:solidFill>
                <a:latin typeface="Aptos"/>
                <a:ea typeface="Aptos"/>
                <a:cs typeface="Aptos"/>
              </a:rPr>
              <a:t>03</a:t>
            </a:r>
          </a:p>
        </p:txBody>
      </p:sp>
      <p:sp>
        <p:nvSpPr>
          <p:cNvPr id="26" name="Rectangle 25">
            <a:extLst>
              <a:ext uri="{FF2B5EF4-FFF2-40B4-BE49-F238E27FC236}">
                <a16:creationId xmlns:a16="http://schemas.microsoft.com/office/drawing/2014/main" id="{89773E48-8F95-4814-8C85-C16ADAD2288B}"/>
              </a:ext>
            </a:extLst>
          </p:cNvPr>
          <p:cNvSpPr>
            <a:spLocks noGrp="1"/>
          </p:cNvSpPr>
          <p:nvPr/>
        </p:nvSpPr>
        <p:spPr>
          <a:xfrm>
            <a:off x="5162550" y="3819525"/>
            <a:ext cx="1600200" cy="409575"/>
          </a:xfrm>
          <a:prstGeom prst="rect">
            <a:avLst/>
          </a:prstGeom>
          <a:noFill/>
        </p:spPr>
        <p:txBody>
          <a:bodyPr anchor="ctr"/>
          <a:lstStyle/>
          <a:p>
            <a:pPr algn="ctr">
              <a:buNone/>
              <a:defRPr sz="1050" b="1">
                <a:solidFill>
                  <a:srgbClr val="15B77E"/>
                </a:solidFill>
                <a:latin typeface="Aptos"/>
                <a:ea typeface="Aptos"/>
                <a:cs typeface="Aptos"/>
              </a:defRPr>
            </a:pPr>
            <a:r>
              <a:rPr sz="1050" b="1">
                <a:solidFill>
                  <a:srgbClr val="15B77E"/>
                </a:solidFill>
                <a:latin typeface="Aptos"/>
                <a:ea typeface="Aptos"/>
                <a:cs typeface="Aptos"/>
              </a:rPr>
              <a:t>GLOSSARY</a:t>
            </a:r>
          </a:p>
        </p:txBody>
      </p:sp>
      <p:sp>
        <p:nvSpPr>
          <p:cNvPr id="27" name="Rectangle 26">
            <a:extLst>
              <a:ext uri="{FF2B5EF4-FFF2-40B4-BE49-F238E27FC236}">
                <a16:creationId xmlns:a16="http://schemas.microsoft.com/office/drawing/2014/main" id="{0700A7CC-342D-4AC5-A209-B24B6CD0FBFE}"/>
              </a:ext>
            </a:extLst>
          </p:cNvPr>
          <p:cNvSpPr>
            <a:spLocks noGrp="1"/>
          </p:cNvSpPr>
          <p:nvPr/>
        </p:nvSpPr>
        <p:spPr>
          <a:xfrm>
            <a:off x="5162550" y="4295775"/>
            <a:ext cx="1600200" cy="266700"/>
          </a:xfrm>
          <a:prstGeom prst="rect">
            <a:avLst/>
          </a:prstGeom>
          <a:noFill/>
        </p:spPr>
        <p:txBody>
          <a:bodyPr anchor="ctr"/>
          <a:lstStyle/>
          <a:p>
            <a:pPr algn="ctr">
              <a:buNone/>
              <a:defRPr sz="1125" b="0">
                <a:solidFill>
                  <a:srgbClr val="64748B"/>
                </a:solidFill>
                <a:latin typeface="Aptos"/>
                <a:ea typeface="Aptos"/>
                <a:cs typeface="Aptos"/>
              </a:defRPr>
            </a:pPr>
            <a:r>
              <a:rPr sz="1125" b="0">
                <a:solidFill>
                  <a:srgbClr val="64748B"/>
                </a:solidFill>
                <a:latin typeface="Aptos"/>
                <a:ea typeface="Aptos"/>
                <a:cs typeface="Aptos"/>
              </a:rPr>
              <a:t>domain · audience</a:t>
            </a:r>
          </a:p>
        </p:txBody>
      </p:sp>
      <p:sp>
        <p:nvSpPr>
          <p:cNvPr id="28" name="Oval 27">
            <a:extLst>
              <a:ext uri="{FF2B5EF4-FFF2-40B4-BE49-F238E27FC236}">
                <a16:creationId xmlns:a16="http://schemas.microsoft.com/office/drawing/2014/main" id="{B97B84F3-40A4-4CF0-9769-DDAD51856327}"/>
              </a:ext>
            </a:extLst>
          </p:cNvPr>
          <p:cNvSpPr>
            <a:spLocks noGrp="1"/>
          </p:cNvSpPr>
          <p:nvPr/>
        </p:nvSpPr>
        <p:spPr>
          <a:xfrm>
            <a:off x="7305675" y="3286125"/>
            <a:ext cx="552450" cy="323850"/>
          </a:xfrm>
          <a:prstGeom prst="ellipse">
            <a:avLst/>
          </a:prstGeom>
          <a:solidFill>
            <a:srgbClr val="4D8CFF"/>
          </a:solidFill>
        </p:spPr>
        <p:txBody>
          <a:bodyPr lIns="19050" tIns="0" rIns="19050" bIns="0" anchor="ctr"/>
          <a:lstStyle/>
          <a:p>
            <a:pPr algn="ctr">
              <a:buNone/>
              <a:defRPr sz="1125" b="1">
                <a:solidFill>
                  <a:srgbClr val="FFFFFF"/>
                </a:solidFill>
                <a:latin typeface="Aptos"/>
                <a:ea typeface="Aptos"/>
                <a:cs typeface="Aptos"/>
              </a:defRPr>
            </a:pPr>
            <a:r>
              <a:rPr sz="975" b="1">
                <a:solidFill>
                  <a:srgbClr val="FFFFFF"/>
                </a:solidFill>
                <a:latin typeface="Aptos"/>
                <a:ea typeface="Aptos"/>
                <a:cs typeface="Aptos"/>
              </a:rPr>
              <a:t>04</a:t>
            </a:r>
          </a:p>
        </p:txBody>
      </p:sp>
      <p:sp>
        <p:nvSpPr>
          <p:cNvPr id="29" name="Rectangle 28">
            <a:extLst>
              <a:ext uri="{FF2B5EF4-FFF2-40B4-BE49-F238E27FC236}">
                <a16:creationId xmlns:a16="http://schemas.microsoft.com/office/drawing/2014/main" id="{610A0788-C28E-4E94-AC30-2588CD1E1872}"/>
              </a:ext>
            </a:extLst>
          </p:cNvPr>
          <p:cNvSpPr>
            <a:spLocks noGrp="1"/>
          </p:cNvSpPr>
          <p:nvPr/>
        </p:nvSpPr>
        <p:spPr>
          <a:xfrm>
            <a:off x="7372350" y="3819525"/>
            <a:ext cx="1600200" cy="409575"/>
          </a:xfrm>
          <a:prstGeom prst="rect">
            <a:avLst/>
          </a:prstGeom>
          <a:noFill/>
        </p:spPr>
        <p:txBody>
          <a:bodyPr anchor="ctr"/>
          <a:lstStyle/>
          <a:p>
            <a:pPr algn="ctr">
              <a:buNone/>
              <a:defRPr sz="1050" b="1">
                <a:solidFill>
                  <a:srgbClr val="4D8CFF"/>
                </a:solidFill>
                <a:latin typeface="Aptos"/>
                <a:ea typeface="Aptos"/>
                <a:cs typeface="Aptos"/>
              </a:defRPr>
            </a:pPr>
            <a:r>
              <a:rPr sz="1050" b="1">
                <a:solidFill>
                  <a:srgbClr val="4D8CFF"/>
                </a:solidFill>
                <a:latin typeface="Aptos"/>
                <a:ea typeface="Aptos"/>
                <a:cs typeface="Aptos"/>
              </a:rPr>
              <a:t>GEMINI</a:t>
            </a:r>
          </a:p>
        </p:txBody>
      </p:sp>
      <p:sp>
        <p:nvSpPr>
          <p:cNvPr id="30" name="Rectangle 29">
            <a:extLst>
              <a:ext uri="{FF2B5EF4-FFF2-40B4-BE49-F238E27FC236}">
                <a16:creationId xmlns:a16="http://schemas.microsoft.com/office/drawing/2014/main" id="{85C5E2FC-F805-49FD-97A1-106DF92C5EDF}"/>
              </a:ext>
            </a:extLst>
          </p:cNvPr>
          <p:cNvSpPr>
            <a:spLocks noGrp="1"/>
          </p:cNvSpPr>
          <p:nvPr/>
        </p:nvSpPr>
        <p:spPr>
          <a:xfrm>
            <a:off x="7372350" y="4295775"/>
            <a:ext cx="1600200" cy="266700"/>
          </a:xfrm>
          <a:prstGeom prst="rect">
            <a:avLst/>
          </a:prstGeom>
          <a:noFill/>
        </p:spPr>
        <p:txBody>
          <a:bodyPr anchor="ctr"/>
          <a:lstStyle/>
          <a:p>
            <a:pPr algn="ctr">
              <a:buNone/>
              <a:defRPr sz="1125" b="0">
                <a:solidFill>
                  <a:srgbClr val="64748B"/>
                </a:solidFill>
                <a:latin typeface="Aptos"/>
                <a:ea typeface="Aptos"/>
                <a:cs typeface="Aptos"/>
              </a:defRPr>
            </a:pPr>
            <a:r>
              <a:rPr sz="1125" b="0">
                <a:solidFill>
                  <a:srgbClr val="64748B"/>
                </a:solidFill>
                <a:latin typeface="Aptos"/>
                <a:ea typeface="Aptos"/>
                <a:cs typeface="Aptos"/>
              </a:rPr>
              <a:t>dịch theo context</a:t>
            </a:r>
          </a:p>
        </p:txBody>
      </p:sp>
      <p:sp>
        <p:nvSpPr>
          <p:cNvPr id="31" name="Oval 30">
            <a:extLst>
              <a:ext uri="{FF2B5EF4-FFF2-40B4-BE49-F238E27FC236}">
                <a16:creationId xmlns:a16="http://schemas.microsoft.com/office/drawing/2014/main" id="{EF63906E-9908-4B71-A77E-ABF2F1209C17}"/>
              </a:ext>
            </a:extLst>
          </p:cNvPr>
          <p:cNvSpPr>
            <a:spLocks noGrp="1"/>
          </p:cNvSpPr>
          <p:nvPr/>
        </p:nvSpPr>
        <p:spPr>
          <a:xfrm>
            <a:off x="9515475" y="3286125"/>
            <a:ext cx="552450" cy="323850"/>
          </a:xfrm>
          <a:prstGeom prst="ellipse">
            <a:avLst/>
          </a:prstGeom>
          <a:solidFill>
            <a:srgbClr val="FFB020"/>
          </a:solidFill>
        </p:spPr>
        <p:txBody>
          <a:bodyPr lIns="19050" tIns="0" rIns="19050" bIns="0" anchor="ctr"/>
          <a:lstStyle/>
          <a:p>
            <a:pPr algn="ctr">
              <a:buNone/>
              <a:defRPr sz="1125" b="1">
                <a:solidFill>
                  <a:srgbClr val="FFFFFF"/>
                </a:solidFill>
                <a:latin typeface="Aptos"/>
                <a:ea typeface="Aptos"/>
                <a:cs typeface="Aptos"/>
              </a:defRPr>
            </a:pPr>
            <a:r>
              <a:rPr sz="975" b="1">
                <a:solidFill>
                  <a:srgbClr val="FFFFFF"/>
                </a:solidFill>
                <a:latin typeface="Aptos"/>
                <a:ea typeface="Aptos"/>
                <a:cs typeface="Aptos"/>
              </a:rPr>
              <a:t>05</a:t>
            </a:r>
          </a:p>
        </p:txBody>
      </p:sp>
      <p:sp>
        <p:nvSpPr>
          <p:cNvPr id="32" name="Rectangle 31">
            <a:extLst>
              <a:ext uri="{FF2B5EF4-FFF2-40B4-BE49-F238E27FC236}">
                <a16:creationId xmlns:a16="http://schemas.microsoft.com/office/drawing/2014/main" id="{04A8B25B-C007-448E-B2A0-2E1C6F48AF67}"/>
              </a:ext>
            </a:extLst>
          </p:cNvPr>
          <p:cNvSpPr>
            <a:spLocks noGrp="1"/>
          </p:cNvSpPr>
          <p:nvPr/>
        </p:nvSpPr>
        <p:spPr>
          <a:xfrm>
            <a:off x="9582150" y="3819525"/>
            <a:ext cx="1600200" cy="409575"/>
          </a:xfrm>
          <a:prstGeom prst="rect">
            <a:avLst/>
          </a:prstGeom>
          <a:noFill/>
        </p:spPr>
        <p:txBody>
          <a:bodyPr anchor="ctr"/>
          <a:lstStyle/>
          <a:p>
            <a:pPr algn="ctr">
              <a:buNone/>
              <a:defRPr sz="1050" b="1">
                <a:solidFill>
                  <a:srgbClr val="FFB020"/>
                </a:solidFill>
                <a:latin typeface="Aptos"/>
                <a:ea typeface="Aptos"/>
                <a:cs typeface="Aptos"/>
              </a:defRPr>
            </a:pPr>
            <a:r>
              <a:rPr sz="1050" b="1">
                <a:solidFill>
                  <a:srgbClr val="FFB020"/>
                </a:solidFill>
                <a:latin typeface="Aptos"/>
                <a:ea typeface="Aptos"/>
                <a:cs typeface="Aptos"/>
              </a:rPr>
              <a:t>KIỂM ĐỊNH</a:t>
            </a:r>
          </a:p>
        </p:txBody>
      </p:sp>
      <p:sp>
        <p:nvSpPr>
          <p:cNvPr id="33" name="Rectangle 32">
            <a:extLst>
              <a:ext uri="{FF2B5EF4-FFF2-40B4-BE49-F238E27FC236}">
                <a16:creationId xmlns:a16="http://schemas.microsoft.com/office/drawing/2014/main" id="{8C626218-A957-46D3-80AF-D911B163690E}"/>
              </a:ext>
            </a:extLst>
          </p:cNvPr>
          <p:cNvSpPr>
            <a:spLocks noGrp="1"/>
          </p:cNvSpPr>
          <p:nvPr/>
        </p:nvSpPr>
        <p:spPr>
          <a:xfrm>
            <a:off x="9582150" y="4295775"/>
            <a:ext cx="1600200" cy="266700"/>
          </a:xfrm>
          <a:prstGeom prst="rect">
            <a:avLst/>
          </a:prstGeom>
          <a:noFill/>
        </p:spPr>
        <p:txBody>
          <a:bodyPr anchor="ctr"/>
          <a:lstStyle/>
          <a:p>
            <a:pPr algn="ctr">
              <a:buNone/>
              <a:defRPr sz="1125" b="0">
                <a:solidFill>
                  <a:srgbClr val="64748B"/>
                </a:solidFill>
                <a:latin typeface="Aptos"/>
                <a:ea typeface="Aptos"/>
                <a:cs typeface="Aptos"/>
              </a:defRPr>
            </a:pPr>
            <a:r>
              <a:rPr sz="1125" b="0">
                <a:solidFill>
                  <a:srgbClr val="64748B"/>
                </a:solidFill>
                <a:latin typeface="Aptos"/>
                <a:ea typeface="Aptos"/>
                <a:cs typeface="Aptos"/>
              </a:rPr>
              <a:t>fallback khi lỗi</a:t>
            </a:r>
          </a:p>
        </p:txBody>
      </p:sp>
      <p:sp>
        <p:nvSpPr>
          <p:cNvPr id="34" name="Rectangle: Rounded Corners 33">
            <a:extLst>
              <a:ext uri="{FF2B5EF4-FFF2-40B4-BE49-F238E27FC236}">
                <a16:creationId xmlns:a16="http://schemas.microsoft.com/office/drawing/2014/main" id="{84CCD390-3188-4673-B171-06DA0C1492A2}"/>
              </a:ext>
            </a:extLst>
          </p:cNvPr>
          <p:cNvSpPr>
            <a:spLocks noGrp="1"/>
          </p:cNvSpPr>
          <p:nvPr/>
        </p:nvSpPr>
        <p:spPr>
          <a:xfrm>
            <a:off x="1752600" y="5191125"/>
            <a:ext cx="8686800" cy="781050"/>
          </a:xfrm>
          <a:prstGeom prst="roundRect">
            <a:avLst>
              <a:gd name="adj" fmla="val 24390"/>
            </a:avLst>
          </a:prstGeom>
          <a:solidFill>
            <a:srgbClr val="081B3A"/>
          </a:solidFill>
        </p:spPr>
        <p:txBody>
          <a:bodyPr/>
          <a:lstStyle/>
          <a:p>
            <a:endParaRPr lang="en-US"/>
          </a:p>
        </p:txBody>
      </p:sp>
      <p:sp>
        <p:nvSpPr>
          <p:cNvPr id="35" name="Rectangle 34">
            <a:extLst>
              <a:ext uri="{FF2B5EF4-FFF2-40B4-BE49-F238E27FC236}">
                <a16:creationId xmlns:a16="http://schemas.microsoft.com/office/drawing/2014/main" id="{0C4EE37E-E944-4879-A161-116F57996F25}"/>
              </a:ext>
            </a:extLst>
          </p:cNvPr>
          <p:cNvSpPr>
            <a:spLocks noGrp="1"/>
          </p:cNvSpPr>
          <p:nvPr/>
        </p:nvSpPr>
        <p:spPr>
          <a:xfrm>
            <a:off x="2076450" y="5362575"/>
            <a:ext cx="8039100" cy="438150"/>
          </a:xfrm>
          <a:prstGeom prst="rect">
            <a:avLst/>
          </a:prstGeom>
          <a:noFill/>
        </p:spPr>
        <p:txBody>
          <a:bodyPr anchor="ctr"/>
          <a:lstStyle/>
          <a:p>
            <a:pPr algn="ctr">
              <a:buNone/>
              <a:defRPr sz="1500" b="1">
                <a:solidFill>
                  <a:srgbClr val="FFFFFF"/>
                </a:solidFill>
                <a:latin typeface="Aptos"/>
                <a:ea typeface="Aptos"/>
                <a:cs typeface="Aptos"/>
              </a:defRPr>
            </a:pPr>
            <a:r>
              <a:rPr sz="1500" b="1">
                <a:solidFill>
                  <a:srgbClr val="FFFFFF"/>
                </a:solidFill>
                <a:latin typeface="Aptos"/>
                <a:ea typeface="Aptos"/>
                <a:cs typeface="Aptos"/>
              </a:rPr>
              <a:t>1 tin nhắn  →  fan-out theo từng nhóm người nhận</a:t>
            </a:r>
          </a:p>
        </p:txBody>
      </p:sp>
    </p:spTree>
    <p:extLst>
      <p:ext uri="{BB962C8B-B14F-4D97-AF65-F5344CB8AC3E}">
        <p14:creationId xmlns:p14="http://schemas.microsoft.com/office/powerpoint/2010/main" val="7926978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F"/>
        </a:solidFill>
        <a:effectLst/>
      </p:bgPr>
    </p:bg>
    <p:spTree>
      <p:nvGrpSpPr>
        <p:cNvPr id="1" name=""/>
        <p:cNvGrpSpPr/>
        <p:nvPr/>
      </p:nvGrpSpPr>
      <p:grpSpPr>
        <a:xfrm>
          <a:off x="0" y="0"/>
          <a:ext cx="0" cy="0"/>
          <a:chOff x="0" y="0"/>
          <a:chExt cx="0" cy="0"/>
        </a:xfrm>
      </p:grpSpPr>
      <p:sp>
        <p:nvSpPr>
          <p:cNvPr id="23" name="Rectangle: Rounded Corners 22">
            <a:extLst>
              <a:ext uri="{FF2B5EF4-FFF2-40B4-BE49-F238E27FC236}">
                <a16:creationId xmlns:a16="http://schemas.microsoft.com/office/drawing/2014/main" id="{5C17A1EF-B49E-4CCE-879C-364170F50BB7}"/>
              </a:ext>
            </a:extLst>
          </p:cNvPr>
          <p:cNvSpPr>
            <a:spLocks noGrp="1"/>
          </p:cNvSpPr>
          <p:nvPr/>
        </p:nvSpPr>
        <p:spPr>
          <a:xfrm>
            <a:off x="552450" y="361950"/>
            <a:ext cx="323850" cy="323850"/>
          </a:xfrm>
          <a:prstGeom prst="roundRect">
            <a:avLst>
              <a:gd name="adj" fmla="val 29412"/>
            </a:avLst>
          </a:prstGeom>
          <a:gradFill>
            <a:gsLst>
              <a:gs pos="0">
                <a:srgbClr val="246BFD"/>
              </a:gs>
              <a:gs pos="100000">
                <a:srgbClr val="6D38F5"/>
              </a:gs>
            </a:gsLst>
            <a:lin ang="8100000"/>
          </a:gradFill>
        </p:spPr>
        <p:txBody>
          <a:bodyPr/>
          <a:lstStyle/>
          <a:p>
            <a:endParaRPr lang="en-US"/>
          </a:p>
        </p:txBody>
      </p:sp>
      <p:sp>
        <p:nvSpPr>
          <p:cNvPr id="2" name="Rectangle 1">
            <a:extLst>
              <a:ext uri="{FF2B5EF4-FFF2-40B4-BE49-F238E27FC236}">
                <a16:creationId xmlns:a16="http://schemas.microsoft.com/office/drawing/2014/main" id="{1D2CC5C9-6092-4A7B-B758-D4AB0762405D}"/>
              </a:ext>
            </a:extLst>
          </p:cNvPr>
          <p:cNvSpPr>
            <a:spLocks noGrp="1"/>
          </p:cNvSpPr>
          <p:nvPr/>
        </p:nvSpPr>
        <p:spPr>
          <a:xfrm>
            <a:off x="552450" y="361950"/>
            <a:ext cx="323850" cy="323850"/>
          </a:xfrm>
          <a:prstGeom prst="rect">
            <a:avLst/>
          </a:prstGeom>
          <a:noFill/>
        </p:spPr>
        <p:txBody>
          <a:bodyPr anchor="ctr"/>
          <a:lstStyle/>
          <a:p>
            <a:pPr algn="ctr">
              <a:buNone/>
              <a:defRPr sz="1350" b="1">
                <a:solidFill>
                  <a:srgbClr val="FFFFFF"/>
                </a:solidFill>
                <a:latin typeface="Aptos"/>
                <a:ea typeface="Aptos"/>
                <a:cs typeface="Aptos"/>
              </a:defRPr>
            </a:pPr>
            <a:r>
              <a:rPr sz="1350" b="1">
                <a:solidFill>
                  <a:srgbClr val="FFFFFF"/>
                </a:solidFill>
                <a:latin typeface="Aptos"/>
                <a:ea typeface="Aptos"/>
                <a:cs typeface="Aptos"/>
              </a:rPr>
              <a:t>≋</a:t>
            </a:r>
          </a:p>
        </p:txBody>
      </p:sp>
      <p:sp>
        <p:nvSpPr>
          <p:cNvPr id="3" name="Rectangle 2">
            <a:extLst>
              <a:ext uri="{FF2B5EF4-FFF2-40B4-BE49-F238E27FC236}">
                <a16:creationId xmlns:a16="http://schemas.microsoft.com/office/drawing/2014/main" id="{740C984F-3948-42C5-A053-1AB7188730A9}"/>
              </a:ext>
            </a:extLst>
          </p:cNvPr>
          <p:cNvSpPr>
            <a:spLocks noGrp="1"/>
          </p:cNvSpPr>
          <p:nvPr/>
        </p:nvSpPr>
        <p:spPr>
          <a:xfrm>
            <a:off x="971550" y="390525"/>
            <a:ext cx="1409700" cy="266700"/>
          </a:xfrm>
          <a:prstGeom prst="rect">
            <a:avLst/>
          </a:prstGeom>
          <a:noFill/>
        </p:spPr>
        <p:txBody>
          <a:bodyPr anchor="t"/>
          <a:lstStyle/>
          <a:p>
            <a:pPr algn="l">
              <a:buNone/>
              <a:defRPr sz="1500" b="1">
                <a:solidFill>
                  <a:srgbClr val="081B3A"/>
                </a:solidFill>
                <a:latin typeface="Aptos"/>
                <a:ea typeface="Aptos"/>
                <a:cs typeface="Aptos"/>
              </a:defRPr>
            </a:pPr>
            <a:r>
              <a:rPr sz="1500" b="1">
                <a:solidFill>
                  <a:srgbClr val="081B3A"/>
                </a:solidFill>
                <a:latin typeface="Aptos"/>
                <a:ea typeface="Aptos"/>
                <a:cs typeface="Aptos"/>
              </a:rPr>
              <a:t>LinguaFlow</a:t>
            </a:r>
          </a:p>
        </p:txBody>
      </p:sp>
      <p:sp>
        <p:nvSpPr>
          <p:cNvPr id="4" name="Rectangle 3">
            <a:extLst>
              <a:ext uri="{FF2B5EF4-FFF2-40B4-BE49-F238E27FC236}">
                <a16:creationId xmlns:a16="http://schemas.microsoft.com/office/drawing/2014/main" id="{EB5023B2-ABE7-4657-BE17-10C42CB1C748}"/>
              </a:ext>
            </a:extLst>
          </p:cNvPr>
          <p:cNvSpPr>
            <a:spLocks noGrp="1"/>
          </p:cNvSpPr>
          <p:nvPr/>
        </p:nvSpPr>
        <p:spPr>
          <a:xfrm>
            <a:off x="8905875" y="428625"/>
            <a:ext cx="2238375" cy="190500"/>
          </a:xfrm>
          <a:prstGeom prst="rect">
            <a:avLst/>
          </a:prstGeom>
          <a:noFill/>
        </p:spPr>
        <p:txBody>
          <a:bodyPr anchor="t"/>
          <a:lstStyle/>
          <a:p>
            <a:pPr algn="r">
              <a:buNone/>
              <a:defRPr sz="825" b="1">
                <a:solidFill>
                  <a:srgbClr val="64748B"/>
                </a:solidFill>
                <a:latin typeface="Aptos"/>
                <a:ea typeface="Aptos"/>
                <a:cs typeface="Aptos"/>
              </a:defRPr>
            </a:pPr>
            <a:r>
              <a:rPr sz="825" b="1">
                <a:solidFill>
                  <a:srgbClr val="64748B"/>
                </a:solidFill>
                <a:latin typeface="Aptos"/>
                <a:ea typeface="Aptos"/>
                <a:cs typeface="Aptos"/>
              </a:rPr>
              <a:t>KHÁC BIỆT</a:t>
            </a:r>
          </a:p>
        </p:txBody>
      </p:sp>
      <p:sp>
        <p:nvSpPr>
          <p:cNvPr id="5" name="Rectangle 4">
            <a:extLst>
              <a:ext uri="{FF2B5EF4-FFF2-40B4-BE49-F238E27FC236}">
                <a16:creationId xmlns:a16="http://schemas.microsoft.com/office/drawing/2014/main" id="{ACDC35AE-977B-42A0-9744-E123FE8BB4F5}"/>
              </a:ext>
            </a:extLst>
          </p:cNvPr>
          <p:cNvSpPr>
            <a:spLocks noGrp="1"/>
          </p:cNvSpPr>
          <p:nvPr/>
        </p:nvSpPr>
        <p:spPr>
          <a:xfrm>
            <a:off x="11334750" y="409575"/>
            <a:ext cx="361950" cy="190500"/>
          </a:xfrm>
          <a:prstGeom prst="rect">
            <a:avLst/>
          </a:prstGeom>
          <a:noFill/>
        </p:spPr>
        <p:txBody>
          <a:bodyPr anchor="t"/>
          <a:lstStyle/>
          <a:p>
            <a:pPr algn="r">
              <a:buNone/>
              <a:defRPr sz="900" b="1">
                <a:solidFill>
                  <a:srgbClr val="246BFD"/>
                </a:solidFill>
                <a:latin typeface="Aptos"/>
                <a:ea typeface="Aptos"/>
                <a:cs typeface="Aptos"/>
              </a:defRPr>
            </a:pPr>
            <a:r>
              <a:rPr sz="900" b="1">
                <a:solidFill>
                  <a:srgbClr val="246BFD"/>
                </a:solidFill>
                <a:latin typeface="Aptos"/>
                <a:ea typeface="Aptos"/>
                <a:cs typeface="Aptos"/>
              </a:rPr>
              <a:t>07</a:t>
            </a:r>
          </a:p>
        </p:txBody>
      </p:sp>
      <p:sp>
        <p:nvSpPr>
          <p:cNvPr id="6" name="Rectangle 5">
            <a:extLst>
              <a:ext uri="{FF2B5EF4-FFF2-40B4-BE49-F238E27FC236}">
                <a16:creationId xmlns:a16="http://schemas.microsoft.com/office/drawing/2014/main" id="{F792B4F6-F992-48F6-8E9A-66B9C9D4517B}"/>
              </a:ext>
            </a:extLst>
          </p:cNvPr>
          <p:cNvSpPr>
            <a:spLocks noGrp="1"/>
          </p:cNvSpPr>
          <p:nvPr/>
        </p:nvSpPr>
        <p:spPr>
          <a:xfrm>
            <a:off x="552450" y="800100"/>
            <a:ext cx="11144250" cy="9525"/>
          </a:xfrm>
          <a:prstGeom prst="rect">
            <a:avLst/>
          </a:prstGeom>
          <a:solidFill>
            <a:srgbClr val="DCE6F5"/>
          </a:solidFill>
        </p:spPr>
        <p:txBody>
          <a:bodyPr/>
          <a:lstStyle/>
          <a:p>
            <a:endParaRPr lang="en-US"/>
          </a:p>
        </p:txBody>
      </p:sp>
      <p:sp>
        <p:nvSpPr>
          <p:cNvPr id="7" name="Rectangle 6">
            <a:extLst>
              <a:ext uri="{FF2B5EF4-FFF2-40B4-BE49-F238E27FC236}">
                <a16:creationId xmlns:a16="http://schemas.microsoft.com/office/drawing/2014/main" id="{B2A5BDCD-F51C-4713-9A70-4BE3ED96F79B}"/>
              </a:ext>
            </a:extLst>
          </p:cNvPr>
          <p:cNvSpPr>
            <a:spLocks noGrp="1"/>
          </p:cNvSpPr>
          <p:nvPr/>
        </p:nvSpPr>
        <p:spPr>
          <a:xfrm>
            <a:off x="647700" y="1066800"/>
            <a:ext cx="3333750" cy="228600"/>
          </a:xfrm>
          <a:prstGeom prst="rect">
            <a:avLst/>
          </a:prstGeom>
          <a:noFill/>
        </p:spPr>
        <p:txBody>
          <a:bodyPr anchor="t"/>
          <a:lstStyle/>
          <a:p>
            <a:pPr algn="l">
              <a:buNone/>
              <a:defRPr sz="900" b="1">
                <a:solidFill>
                  <a:srgbClr val="246BFD"/>
                </a:solidFill>
                <a:latin typeface="Aptos"/>
                <a:ea typeface="Aptos"/>
                <a:cs typeface="Aptos"/>
              </a:defRPr>
            </a:pPr>
            <a:r>
              <a:rPr sz="900" b="1">
                <a:solidFill>
                  <a:srgbClr val="246BFD"/>
                </a:solidFill>
                <a:latin typeface="Aptos"/>
                <a:ea typeface="Aptos"/>
                <a:cs typeface="Aptos"/>
              </a:rPr>
              <a:t>MOAT</a:t>
            </a:r>
          </a:p>
        </p:txBody>
      </p:sp>
      <p:sp>
        <p:nvSpPr>
          <p:cNvPr id="8" name="Rectangle 7">
            <a:extLst>
              <a:ext uri="{FF2B5EF4-FFF2-40B4-BE49-F238E27FC236}">
                <a16:creationId xmlns:a16="http://schemas.microsoft.com/office/drawing/2014/main" id="{CA6ED61A-B091-4877-82C7-03A9E4EBF1D1}"/>
              </a:ext>
            </a:extLst>
          </p:cNvPr>
          <p:cNvSpPr>
            <a:spLocks noGrp="1"/>
          </p:cNvSpPr>
          <p:nvPr/>
        </p:nvSpPr>
        <p:spPr>
          <a:xfrm>
            <a:off x="647700" y="1333500"/>
            <a:ext cx="10896600" cy="895350"/>
          </a:xfrm>
          <a:prstGeom prst="rect">
            <a:avLst/>
          </a:prstGeom>
          <a:noFill/>
        </p:spPr>
        <p:txBody>
          <a:bodyPr anchor="t"/>
          <a:lstStyle/>
          <a:p>
            <a:pPr algn="l">
              <a:buNone/>
              <a:defRPr sz="2850" b="1">
                <a:solidFill>
                  <a:srgbClr val="081B3A"/>
                </a:solidFill>
                <a:latin typeface="Aptos"/>
                <a:ea typeface="Aptos"/>
                <a:cs typeface="Aptos"/>
              </a:defRPr>
            </a:pPr>
            <a:r>
              <a:rPr sz="2850" b="1">
                <a:solidFill>
                  <a:srgbClr val="081B3A"/>
                </a:solidFill>
                <a:latin typeface="Aptos"/>
                <a:ea typeface="Aptos"/>
                <a:cs typeface="Aptos"/>
              </a:rPr>
              <a:t>Hai lớp tối ưu làm bản dịch “đúng người, đúng việc”</a:t>
            </a:r>
          </a:p>
        </p:txBody>
      </p:sp>
      <p:sp>
        <p:nvSpPr>
          <p:cNvPr id="9" name="Rectangle: Rounded Corners 8">
            <a:extLst>
              <a:ext uri="{FF2B5EF4-FFF2-40B4-BE49-F238E27FC236}">
                <a16:creationId xmlns:a16="http://schemas.microsoft.com/office/drawing/2014/main" id="{0BB48C85-9278-4D18-BEE6-9CEA158EF915}"/>
              </a:ext>
            </a:extLst>
          </p:cNvPr>
          <p:cNvSpPr>
            <a:spLocks noGrp="1"/>
          </p:cNvSpPr>
          <p:nvPr/>
        </p:nvSpPr>
        <p:spPr>
          <a:xfrm>
            <a:off x="647700" y="2476500"/>
            <a:ext cx="5238750" cy="2857500"/>
          </a:xfrm>
          <a:prstGeom prst="roundRect">
            <a:avLst>
              <a:gd name="adj" fmla="val 8667"/>
            </a:avLst>
          </a:prstGeom>
          <a:gradFill>
            <a:gsLst>
              <a:gs pos="0">
                <a:srgbClr val="EDF4FF"/>
              </a:gs>
              <a:gs pos="100000">
                <a:srgbClr val="FFFFFF"/>
              </a:gs>
            </a:gsLst>
            <a:lin ang="8100000"/>
          </a:gradFill>
          <a:ln w="9525">
            <a:solidFill>
              <a:srgbClr val="CFE0FF"/>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0" name="Rectangle: Rounded Corners 9">
            <a:extLst>
              <a:ext uri="{FF2B5EF4-FFF2-40B4-BE49-F238E27FC236}">
                <a16:creationId xmlns:a16="http://schemas.microsoft.com/office/drawing/2014/main" id="{B69972A6-0CEC-471D-B85D-10F3C8B4C87F}"/>
              </a:ext>
            </a:extLst>
          </p:cNvPr>
          <p:cNvSpPr>
            <a:spLocks noGrp="1"/>
          </p:cNvSpPr>
          <p:nvPr/>
        </p:nvSpPr>
        <p:spPr>
          <a:xfrm>
            <a:off x="6115050" y="2476500"/>
            <a:ext cx="5429250" cy="2857500"/>
          </a:xfrm>
          <a:prstGeom prst="roundRect">
            <a:avLst>
              <a:gd name="adj" fmla="val 8667"/>
            </a:avLst>
          </a:prstGeom>
          <a:gradFill>
            <a:gsLst>
              <a:gs pos="0">
                <a:srgbClr val="F4EEFF"/>
              </a:gs>
              <a:gs pos="100000">
                <a:srgbClr val="FFFFFF"/>
              </a:gs>
            </a:gsLst>
            <a:lin ang="8100000"/>
          </a:gradFill>
          <a:ln w="9525">
            <a:solidFill>
              <a:srgbClr val="E1D4FF"/>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1" name="Oval 10">
            <a:extLst>
              <a:ext uri="{FF2B5EF4-FFF2-40B4-BE49-F238E27FC236}">
                <a16:creationId xmlns:a16="http://schemas.microsoft.com/office/drawing/2014/main" id="{0CA2F0EE-DEE8-4648-8BB0-59BE56F25B55}"/>
              </a:ext>
            </a:extLst>
          </p:cNvPr>
          <p:cNvSpPr>
            <a:spLocks noGrp="1"/>
          </p:cNvSpPr>
          <p:nvPr/>
        </p:nvSpPr>
        <p:spPr>
          <a:xfrm>
            <a:off x="914400" y="2781300"/>
            <a:ext cx="533400" cy="533400"/>
          </a:xfrm>
          <a:prstGeom prst="ellipse">
            <a:avLst/>
          </a:prstGeom>
          <a:solidFill>
            <a:srgbClr val="246BFD"/>
          </a:solidFill>
        </p:spPr>
        <p:txBody>
          <a:bodyPr anchor="ctr"/>
          <a:lstStyle/>
          <a:p>
            <a:pPr algn="ctr">
              <a:buNone/>
              <a:defRPr sz="1125" b="1">
                <a:solidFill>
                  <a:srgbClr val="FFFFFF"/>
                </a:solidFill>
                <a:latin typeface="Aptos"/>
                <a:ea typeface="Aptos"/>
                <a:cs typeface="Aptos"/>
              </a:defRPr>
            </a:pPr>
            <a:r>
              <a:rPr sz="1125" b="1">
                <a:solidFill>
                  <a:srgbClr val="FFFFFF"/>
                </a:solidFill>
                <a:latin typeface="Aptos"/>
                <a:ea typeface="Aptos"/>
                <a:cs typeface="Aptos"/>
              </a:rPr>
              <a:t>V</a:t>
            </a:r>
          </a:p>
        </p:txBody>
      </p:sp>
      <p:sp>
        <p:nvSpPr>
          <p:cNvPr id="12" name="Rectangle 11">
            <a:extLst>
              <a:ext uri="{FF2B5EF4-FFF2-40B4-BE49-F238E27FC236}">
                <a16:creationId xmlns:a16="http://schemas.microsoft.com/office/drawing/2014/main" id="{D1278A2D-26EF-4840-9B3E-09EADFDCE062}"/>
              </a:ext>
            </a:extLst>
          </p:cNvPr>
          <p:cNvSpPr>
            <a:spLocks noGrp="1"/>
          </p:cNvSpPr>
          <p:nvPr/>
        </p:nvSpPr>
        <p:spPr>
          <a:xfrm>
            <a:off x="1657350" y="2771775"/>
            <a:ext cx="2095500" cy="266700"/>
          </a:xfrm>
          <a:prstGeom prst="rect">
            <a:avLst/>
          </a:prstGeom>
          <a:noFill/>
        </p:spPr>
        <p:txBody>
          <a:bodyPr anchor="t"/>
          <a:lstStyle/>
          <a:p>
            <a:pPr algn="l">
              <a:buNone/>
              <a:defRPr sz="1050" b="1">
                <a:solidFill>
                  <a:srgbClr val="246BFD"/>
                </a:solidFill>
                <a:latin typeface="Aptos"/>
                <a:ea typeface="Aptos"/>
                <a:cs typeface="Aptos"/>
              </a:defRPr>
            </a:pPr>
            <a:r>
              <a:rPr sz="1050" b="1">
                <a:solidFill>
                  <a:srgbClr val="246BFD"/>
                </a:solidFill>
                <a:latin typeface="Aptos"/>
                <a:ea typeface="Aptos"/>
                <a:cs typeface="Aptos"/>
              </a:rPr>
              <a:t>ROLE-AWARE</a:t>
            </a:r>
          </a:p>
        </p:txBody>
      </p:sp>
      <p:sp>
        <p:nvSpPr>
          <p:cNvPr id="13" name="Rectangle 12">
            <a:extLst>
              <a:ext uri="{FF2B5EF4-FFF2-40B4-BE49-F238E27FC236}">
                <a16:creationId xmlns:a16="http://schemas.microsoft.com/office/drawing/2014/main" id="{9D7A7EEF-5794-4494-AB61-492F7B49DBD3}"/>
              </a:ext>
            </a:extLst>
          </p:cNvPr>
          <p:cNvSpPr>
            <a:spLocks noGrp="1"/>
          </p:cNvSpPr>
          <p:nvPr/>
        </p:nvSpPr>
        <p:spPr>
          <a:xfrm>
            <a:off x="914400" y="3324225"/>
            <a:ext cx="4238625" cy="400050"/>
          </a:xfrm>
          <a:prstGeom prst="rect">
            <a:avLst/>
          </a:prstGeom>
          <a:noFill/>
        </p:spPr>
        <p:txBody>
          <a:bodyPr anchor="t"/>
          <a:lstStyle/>
          <a:p>
            <a:pPr algn="l">
              <a:buNone/>
              <a:defRPr sz="2100" b="1">
                <a:solidFill>
                  <a:srgbClr val="081B3A"/>
                </a:solidFill>
                <a:latin typeface="Aptos"/>
                <a:ea typeface="Aptos"/>
                <a:cs typeface="Aptos"/>
              </a:defRPr>
            </a:pPr>
            <a:r>
              <a:rPr sz="2100" b="1">
                <a:solidFill>
                  <a:srgbClr val="081B3A"/>
                </a:solidFill>
                <a:latin typeface="Aptos"/>
                <a:ea typeface="Aptos"/>
                <a:cs typeface="Aptos"/>
              </a:rPr>
              <a:t>Xưng hô theo quan hệ</a:t>
            </a:r>
          </a:p>
        </p:txBody>
      </p:sp>
      <p:sp>
        <p:nvSpPr>
          <p:cNvPr id="14" name="Rectangle 13">
            <a:extLst>
              <a:ext uri="{FF2B5EF4-FFF2-40B4-BE49-F238E27FC236}">
                <a16:creationId xmlns:a16="http://schemas.microsoft.com/office/drawing/2014/main" id="{FC48C516-CF7C-4554-864B-E44E569B51BC}"/>
              </a:ext>
            </a:extLst>
          </p:cNvPr>
          <p:cNvSpPr>
            <a:spLocks noGrp="1"/>
          </p:cNvSpPr>
          <p:nvPr/>
        </p:nvSpPr>
        <p:spPr>
          <a:xfrm>
            <a:off x="914400" y="3848100"/>
            <a:ext cx="4286250" cy="285750"/>
          </a:xfrm>
          <a:prstGeom prst="rect">
            <a:avLst/>
          </a:prstGeom>
          <a:noFill/>
        </p:spPr>
        <p:txBody>
          <a:bodyPr anchor="t"/>
          <a:lstStyle/>
          <a:p>
            <a:pPr algn="l">
              <a:buNone/>
              <a:defRPr sz="1350" b="1">
                <a:solidFill>
                  <a:srgbClr val="12233F"/>
                </a:solidFill>
                <a:latin typeface="Aptos"/>
                <a:ea typeface="Aptos"/>
                <a:cs typeface="Aptos"/>
              </a:defRPr>
            </a:pPr>
            <a:r>
              <a:rPr sz="1350" b="1">
                <a:solidFill>
                  <a:srgbClr val="12233F"/>
                </a:solidFill>
                <a:latin typeface="Aptos"/>
                <a:ea typeface="Aptos"/>
                <a:cs typeface="Aptos"/>
              </a:rPr>
              <a:t>senior · peer · junior · client</a:t>
            </a:r>
          </a:p>
        </p:txBody>
      </p:sp>
      <p:sp>
        <p:nvSpPr>
          <p:cNvPr id="15" name="Rectangle 14">
            <a:extLst>
              <a:ext uri="{FF2B5EF4-FFF2-40B4-BE49-F238E27FC236}">
                <a16:creationId xmlns:a16="http://schemas.microsoft.com/office/drawing/2014/main" id="{F57396B5-E64B-415B-9274-DF56C532823E}"/>
              </a:ext>
            </a:extLst>
          </p:cNvPr>
          <p:cNvSpPr>
            <a:spLocks noGrp="1"/>
          </p:cNvSpPr>
          <p:nvPr/>
        </p:nvSpPr>
        <p:spPr>
          <a:xfrm>
            <a:off x="914400" y="4333875"/>
            <a:ext cx="4286250" cy="571500"/>
          </a:xfrm>
          <a:prstGeom prst="rect">
            <a:avLst/>
          </a:prstGeom>
          <a:noFill/>
        </p:spPr>
        <p:txBody>
          <a:bodyPr anchor="t"/>
          <a:lstStyle/>
          <a:p>
            <a:pPr algn="l">
              <a:buNone/>
              <a:defRPr sz="1275" b="0">
                <a:solidFill>
                  <a:srgbClr val="64748B"/>
                </a:solidFill>
                <a:latin typeface="Aptos"/>
                <a:ea typeface="Aptos"/>
                <a:cs typeface="Aptos"/>
              </a:defRPr>
            </a:pPr>
            <a:r>
              <a:rPr sz="1275" b="0">
                <a:solidFill>
                  <a:srgbClr val="64748B"/>
                </a:solidFill>
                <a:latin typeface="Aptos"/>
                <a:ea typeface="Aptos"/>
                <a:cs typeface="Aptos"/>
              </a:rPr>
              <a:t>Tính theo vị thế tương đối giữa người gửi và người đọc.</a:t>
            </a:r>
          </a:p>
        </p:txBody>
      </p:sp>
      <p:sp>
        <p:nvSpPr>
          <p:cNvPr id="16" name="Oval 15">
            <a:extLst>
              <a:ext uri="{FF2B5EF4-FFF2-40B4-BE49-F238E27FC236}">
                <a16:creationId xmlns:a16="http://schemas.microsoft.com/office/drawing/2014/main" id="{B13C6935-EB11-42AB-8E43-C9327FE5BF9D}"/>
              </a:ext>
            </a:extLst>
          </p:cNvPr>
          <p:cNvSpPr>
            <a:spLocks noGrp="1"/>
          </p:cNvSpPr>
          <p:nvPr/>
        </p:nvSpPr>
        <p:spPr>
          <a:xfrm>
            <a:off x="6400800" y="2781300"/>
            <a:ext cx="533400" cy="533400"/>
          </a:xfrm>
          <a:prstGeom prst="ellipse">
            <a:avLst/>
          </a:prstGeom>
          <a:solidFill>
            <a:srgbClr val="6D38F5"/>
          </a:solidFill>
        </p:spPr>
        <p:txBody>
          <a:bodyPr anchor="ctr"/>
          <a:lstStyle/>
          <a:p>
            <a:pPr algn="ctr">
              <a:buNone/>
              <a:defRPr sz="1125" b="1">
                <a:solidFill>
                  <a:srgbClr val="FFFFFF"/>
                </a:solidFill>
                <a:latin typeface="Aptos"/>
                <a:ea typeface="Aptos"/>
                <a:cs typeface="Aptos"/>
              </a:defRPr>
            </a:pPr>
            <a:r>
              <a:rPr sz="1125" b="1">
                <a:solidFill>
                  <a:srgbClr val="FFFFFF"/>
                </a:solidFill>
                <a:latin typeface="Aptos"/>
                <a:ea typeface="Aptos"/>
                <a:cs typeface="Aptos"/>
              </a:rPr>
              <a:t>T</a:t>
            </a:r>
          </a:p>
        </p:txBody>
      </p:sp>
      <p:sp>
        <p:nvSpPr>
          <p:cNvPr id="17" name="Rectangle 16">
            <a:extLst>
              <a:ext uri="{FF2B5EF4-FFF2-40B4-BE49-F238E27FC236}">
                <a16:creationId xmlns:a16="http://schemas.microsoft.com/office/drawing/2014/main" id="{89504987-A71C-45AD-B74B-90B200E02A75}"/>
              </a:ext>
            </a:extLst>
          </p:cNvPr>
          <p:cNvSpPr>
            <a:spLocks noGrp="1"/>
          </p:cNvSpPr>
          <p:nvPr/>
        </p:nvSpPr>
        <p:spPr>
          <a:xfrm>
            <a:off x="7143750" y="2771775"/>
            <a:ext cx="2286000" cy="266700"/>
          </a:xfrm>
          <a:prstGeom prst="rect">
            <a:avLst/>
          </a:prstGeom>
          <a:noFill/>
        </p:spPr>
        <p:txBody>
          <a:bodyPr anchor="t"/>
          <a:lstStyle/>
          <a:p>
            <a:pPr algn="l">
              <a:buNone/>
              <a:defRPr sz="1050" b="1">
                <a:solidFill>
                  <a:srgbClr val="6D38F5"/>
                </a:solidFill>
                <a:latin typeface="Aptos"/>
                <a:ea typeface="Aptos"/>
                <a:cs typeface="Aptos"/>
              </a:defRPr>
            </a:pPr>
            <a:r>
              <a:rPr sz="1050" b="1">
                <a:solidFill>
                  <a:srgbClr val="6D38F5"/>
                </a:solidFill>
                <a:latin typeface="Aptos"/>
                <a:ea typeface="Aptos"/>
                <a:cs typeface="Aptos"/>
              </a:rPr>
              <a:t>DOMAIN-AWARE</a:t>
            </a:r>
          </a:p>
        </p:txBody>
      </p:sp>
      <p:sp>
        <p:nvSpPr>
          <p:cNvPr id="18" name="Rectangle 17">
            <a:extLst>
              <a:ext uri="{FF2B5EF4-FFF2-40B4-BE49-F238E27FC236}">
                <a16:creationId xmlns:a16="http://schemas.microsoft.com/office/drawing/2014/main" id="{ECA89314-F5CF-4B81-8CF3-1E9647DB2C20}"/>
              </a:ext>
            </a:extLst>
          </p:cNvPr>
          <p:cNvSpPr>
            <a:spLocks noGrp="1"/>
          </p:cNvSpPr>
          <p:nvPr/>
        </p:nvSpPr>
        <p:spPr>
          <a:xfrm>
            <a:off x="6400800" y="3324225"/>
            <a:ext cx="4476750" cy="400050"/>
          </a:xfrm>
          <a:prstGeom prst="rect">
            <a:avLst/>
          </a:prstGeom>
          <a:noFill/>
        </p:spPr>
        <p:txBody>
          <a:bodyPr anchor="t"/>
          <a:lstStyle/>
          <a:p>
            <a:pPr algn="l">
              <a:buNone/>
              <a:defRPr sz="2100" b="1">
                <a:solidFill>
                  <a:srgbClr val="081B3A"/>
                </a:solidFill>
                <a:latin typeface="Aptos"/>
                <a:ea typeface="Aptos"/>
                <a:cs typeface="Aptos"/>
              </a:defRPr>
            </a:pPr>
            <a:r>
              <a:rPr sz="2100" b="1">
                <a:solidFill>
                  <a:srgbClr val="081B3A"/>
                </a:solidFill>
                <a:latin typeface="Aptos"/>
                <a:ea typeface="Aptos"/>
                <a:cs typeface="Aptos"/>
              </a:rPr>
              <a:t>Thuật ngữ theo lĩnh vực</a:t>
            </a:r>
          </a:p>
        </p:txBody>
      </p:sp>
      <p:sp>
        <p:nvSpPr>
          <p:cNvPr id="19" name="Rectangle 18">
            <a:extLst>
              <a:ext uri="{FF2B5EF4-FFF2-40B4-BE49-F238E27FC236}">
                <a16:creationId xmlns:a16="http://schemas.microsoft.com/office/drawing/2014/main" id="{28FAD6C5-2F73-4B41-823C-636EFCC9495A}"/>
              </a:ext>
            </a:extLst>
          </p:cNvPr>
          <p:cNvSpPr>
            <a:spLocks noGrp="1"/>
          </p:cNvSpPr>
          <p:nvPr/>
        </p:nvSpPr>
        <p:spPr>
          <a:xfrm>
            <a:off x="6400800" y="3848100"/>
            <a:ext cx="4286250" cy="285750"/>
          </a:xfrm>
          <a:prstGeom prst="rect">
            <a:avLst/>
          </a:prstGeom>
          <a:noFill/>
        </p:spPr>
        <p:txBody>
          <a:bodyPr anchor="t"/>
          <a:lstStyle/>
          <a:p>
            <a:pPr algn="l">
              <a:buNone/>
              <a:defRPr sz="1350" b="1">
                <a:solidFill>
                  <a:srgbClr val="12233F"/>
                </a:solidFill>
                <a:latin typeface="Aptos"/>
                <a:ea typeface="Aptos"/>
                <a:cs typeface="Aptos"/>
              </a:defRPr>
            </a:pPr>
            <a:r>
              <a:rPr sz="1350" b="1">
                <a:solidFill>
                  <a:srgbClr val="12233F"/>
                </a:solidFill>
                <a:latin typeface="Aptos"/>
                <a:ea typeface="Aptos"/>
                <a:cs typeface="Aptos"/>
              </a:rPr>
              <a:t>88 glossary terms đang active</a:t>
            </a:r>
          </a:p>
        </p:txBody>
      </p:sp>
      <p:sp>
        <p:nvSpPr>
          <p:cNvPr id="20" name="Rectangle 19">
            <a:extLst>
              <a:ext uri="{FF2B5EF4-FFF2-40B4-BE49-F238E27FC236}">
                <a16:creationId xmlns:a16="http://schemas.microsoft.com/office/drawing/2014/main" id="{71C68A27-CD05-40C4-8C40-DDB239A58A7E}"/>
              </a:ext>
            </a:extLst>
          </p:cNvPr>
          <p:cNvSpPr>
            <a:spLocks noGrp="1"/>
          </p:cNvSpPr>
          <p:nvPr/>
        </p:nvSpPr>
        <p:spPr>
          <a:xfrm>
            <a:off x="6400800" y="4333875"/>
            <a:ext cx="4476750" cy="571500"/>
          </a:xfrm>
          <a:prstGeom prst="rect">
            <a:avLst/>
          </a:prstGeom>
          <a:noFill/>
        </p:spPr>
        <p:txBody>
          <a:bodyPr anchor="t"/>
          <a:lstStyle/>
          <a:p>
            <a:pPr algn="l">
              <a:buNone/>
              <a:defRPr sz="1275" b="0">
                <a:solidFill>
                  <a:srgbClr val="64748B"/>
                </a:solidFill>
                <a:latin typeface="Aptos"/>
                <a:ea typeface="Aptos"/>
                <a:cs typeface="Aptos"/>
              </a:defRPr>
            </a:pPr>
            <a:r>
              <a:rPr sz="1275" b="0">
                <a:solidFill>
                  <a:srgbClr val="64748B"/>
                </a:solidFill>
                <a:latin typeface="Aptos"/>
                <a:ea typeface="Aptos"/>
                <a:cs typeface="Aptos"/>
              </a:rPr>
              <a:t>Lọc theo domain và audience trước khi đưa vào prompt.</a:t>
            </a:r>
          </a:p>
        </p:txBody>
      </p:sp>
      <p:sp>
        <p:nvSpPr>
          <p:cNvPr id="21" name="Rectangle: Rounded Corners 20">
            <a:extLst>
              <a:ext uri="{FF2B5EF4-FFF2-40B4-BE49-F238E27FC236}">
                <a16:creationId xmlns:a16="http://schemas.microsoft.com/office/drawing/2014/main" id="{4151D66F-C1C1-4285-A922-85EA30291C05}"/>
              </a:ext>
            </a:extLst>
          </p:cNvPr>
          <p:cNvSpPr>
            <a:spLocks noGrp="1"/>
          </p:cNvSpPr>
          <p:nvPr/>
        </p:nvSpPr>
        <p:spPr>
          <a:xfrm>
            <a:off x="647700" y="5638800"/>
            <a:ext cx="10896600" cy="666750"/>
          </a:xfrm>
          <a:prstGeom prst="roundRect">
            <a:avLst>
              <a:gd name="adj" fmla="val 25714"/>
            </a:avLst>
          </a:prstGeom>
          <a:solidFill>
            <a:srgbClr val="FFFFFF"/>
          </a:solidFill>
          <a:ln w="9525">
            <a:solidFill>
              <a:srgbClr val="DCE6F5"/>
            </a:solidFill>
            <a:prstDash val="solid"/>
          </a:ln>
        </p:spPr>
        <p:txBody>
          <a:bodyPr/>
          <a:lstStyle/>
          <a:p>
            <a:endParaRPr lang="en-US"/>
          </a:p>
        </p:txBody>
      </p:sp>
      <p:sp>
        <p:nvSpPr>
          <p:cNvPr id="22" name="Rectangle 21">
            <a:extLst>
              <a:ext uri="{FF2B5EF4-FFF2-40B4-BE49-F238E27FC236}">
                <a16:creationId xmlns:a16="http://schemas.microsoft.com/office/drawing/2014/main" id="{E8761CF3-17B2-4E1F-9CAE-2EDEABA58B2F}"/>
              </a:ext>
            </a:extLst>
          </p:cNvPr>
          <p:cNvSpPr>
            <a:spLocks noGrp="1"/>
          </p:cNvSpPr>
          <p:nvPr/>
        </p:nvSpPr>
        <p:spPr>
          <a:xfrm>
            <a:off x="895350" y="5800725"/>
            <a:ext cx="10401300" cy="342900"/>
          </a:xfrm>
          <a:prstGeom prst="rect">
            <a:avLst/>
          </a:prstGeom>
          <a:noFill/>
        </p:spPr>
        <p:txBody>
          <a:bodyPr anchor="ctr"/>
          <a:lstStyle/>
          <a:p>
            <a:pPr algn="ctr">
              <a:buNone/>
              <a:defRPr sz="1425" b="1">
                <a:solidFill>
                  <a:srgbClr val="081B3A"/>
                </a:solidFill>
                <a:latin typeface="Aptos"/>
                <a:ea typeface="Aptos"/>
                <a:cs typeface="Aptos"/>
              </a:defRPr>
            </a:pPr>
            <a:r>
              <a:rPr sz="1425" b="1">
                <a:solidFill>
                  <a:srgbClr val="081B3A"/>
                </a:solidFill>
                <a:latin typeface="Aptos"/>
                <a:ea typeface="Aptos"/>
                <a:cs typeface="Aptos"/>
              </a:rPr>
              <a:t>Mỗi người nhận một bản dịch riêng — cùng ý nghĩa, khác cách diễn đạt phù hợp.</a:t>
            </a:r>
          </a:p>
        </p:txBody>
      </p:sp>
    </p:spTree>
    <p:extLst>
      <p:ext uri="{BB962C8B-B14F-4D97-AF65-F5344CB8AC3E}">
        <p14:creationId xmlns:p14="http://schemas.microsoft.com/office/powerpoint/2010/main" val="12365693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F"/>
        </a:solidFill>
        <a:effectLst/>
      </p:bgPr>
    </p:bg>
    <p:spTree>
      <p:nvGrpSpPr>
        <p:cNvPr id="1" name=""/>
        <p:cNvGrpSpPr/>
        <p:nvPr/>
      </p:nvGrpSpPr>
      <p:grpSpPr>
        <a:xfrm>
          <a:off x="0" y="0"/>
          <a:ext cx="0" cy="0"/>
          <a:chOff x="0" y="0"/>
          <a:chExt cx="0" cy="0"/>
        </a:xfrm>
      </p:grpSpPr>
      <p:sp>
        <p:nvSpPr>
          <p:cNvPr id="33" name="Rectangle: Rounded Corners 32">
            <a:extLst>
              <a:ext uri="{FF2B5EF4-FFF2-40B4-BE49-F238E27FC236}">
                <a16:creationId xmlns:a16="http://schemas.microsoft.com/office/drawing/2014/main" id="{CF532AD8-C30B-48FD-8B53-ECB7E859EE79}"/>
              </a:ext>
            </a:extLst>
          </p:cNvPr>
          <p:cNvSpPr>
            <a:spLocks noGrp="1"/>
          </p:cNvSpPr>
          <p:nvPr/>
        </p:nvSpPr>
        <p:spPr>
          <a:xfrm>
            <a:off x="552450" y="361950"/>
            <a:ext cx="323850" cy="323850"/>
          </a:xfrm>
          <a:prstGeom prst="roundRect">
            <a:avLst>
              <a:gd name="adj" fmla="val 29412"/>
            </a:avLst>
          </a:prstGeom>
          <a:gradFill>
            <a:gsLst>
              <a:gs pos="0">
                <a:srgbClr val="246BFD"/>
              </a:gs>
              <a:gs pos="100000">
                <a:srgbClr val="6D38F5"/>
              </a:gs>
            </a:gsLst>
            <a:lin ang="8100000"/>
          </a:gradFill>
        </p:spPr>
        <p:txBody>
          <a:bodyPr/>
          <a:lstStyle/>
          <a:p>
            <a:endParaRPr lang="en-US"/>
          </a:p>
        </p:txBody>
      </p:sp>
      <p:sp>
        <p:nvSpPr>
          <p:cNvPr id="2" name="Rectangle 1">
            <a:extLst>
              <a:ext uri="{FF2B5EF4-FFF2-40B4-BE49-F238E27FC236}">
                <a16:creationId xmlns:a16="http://schemas.microsoft.com/office/drawing/2014/main" id="{CBD3F804-372D-4FC0-81F1-BC58F6AFF906}"/>
              </a:ext>
            </a:extLst>
          </p:cNvPr>
          <p:cNvSpPr>
            <a:spLocks noGrp="1"/>
          </p:cNvSpPr>
          <p:nvPr/>
        </p:nvSpPr>
        <p:spPr>
          <a:xfrm>
            <a:off x="552450" y="361950"/>
            <a:ext cx="323850" cy="323850"/>
          </a:xfrm>
          <a:prstGeom prst="rect">
            <a:avLst/>
          </a:prstGeom>
          <a:noFill/>
        </p:spPr>
        <p:txBody>
          <a:bodyPr anchor="ctr"/>
          <a:lstStyle/>
          <a:p>
            <a:pPr algn="ctr">
              <a:buNone/>
              <a:defRPr sz="1350" b="1">
                <a:solidFill>
                  <a:srgbClr val="FFFFFF"/>
                </a:solidFill>
                <a:latin typeface="Aptos"/>
                <a:ea typeface="Aptos"/>
                <a:cs typeface="Aptos"/>
              </a:defRPr>
            </a:pPr>
            <a:r>
              <a:rPr sz="1350" b="1">
                <a:solidFill>
                  <a:srgbClr val="FFFFFF"/>
                </a:solidFill>
                <a:latin typeface="Aptos"/>
                <a:ea typeface="Aptos"/>
                <a:cs typeface="Aptos"/>
              </a:rPr>
              <a:t>≋</a:t>
            </a:r>
          </a:p>
        </p:txBody>
      </p:sp>
      <p:sp>
        <p:nvSpPr>
          <p:cNvPr id="3" name="Rectangle 2">
            <a:extLst>
              <a:ext uri="{FF2B5EF4-FFF2-40B4-BE49-F238E27FC236}">
                <a16:creationId xmlns:a16="http://schemas.microsoft.com/office/drawing/2014/main" id="{59F2039F-EB73-438B-871B-9CF985939CD2}"/>
              </a:ext>
            </a:extLst>
          </p:cNvPr>
          <p:cNvSpPr>
            <a:spLocks noGrp="1"/>
          </p:cNvSpPr>
          <p:nvPr/>
        </p:nvSpPr>
        <p:spPr>
          <a:xfrm>
            <a:off x="971550" y="390525"/>
            <a:ext cx="1409700" cy="266700"/>
          </a:xfrm>
          <a:prstGeom prst="rect">
            <a:avLst/>
          </a:prstGeom>
          <a:noFill/>
        </p:spPr>
        <p:txBody>
          <a:bodyPr anchor="t"/>
          <a:lstStyle/>
          <a:p>
            <a:pPr algn="l">
              <a:buNone/>
              <a:defRPr sz="1500" b="1">
                <a:solidFill>
                  <a:srgbClr val="081B3A"/>
                </a:solidFill>
                <a:latin typeface="Aptos"/>
                <a:ea typeface="Aptos"/>
                <a:cs typeface="Aptos"/>
              </a:defRPr>
            </a:pPr>
            <a:r>
              <a:rPr sz="1500" b="1">
                <a:solidFill>
                  <a:srgbClr val="081B3A"/>
                </a:solidFill>
                <a:latin typeface="Aptos"/>
                <a:ea typeface="Aptos"/>
                <a:cs typeface="Aptos"/>
              </a:rPr>
              <a:t>LinguaFlow</a:t>
            </a:r>
          </a:p>
        </p:txBody>
      </p:sp>
      <p:sp>
        <p:nvSpPr>
          <p:cNvPr id="4" name="Rectangle 3">
            <a:extLst>
              <a:ext uri="{FF2B5EF4-FFF2-40B4-BE49-F238E27FC236}">
                <a16:creationId xmlns:a16="http://schemas.microsoft.com/office/drawing/2014/main" id="{CEBCB494-36DE-435B-83F7-C834B96A0FBA}"/>
              </a:ext>
            </a:extLst>
          </p:cNvPr>
          <p:cNvSpPr>
            <a:spLocks noGrp="1"/>
          </p:cNvSpPr>
          <p:nvPr/>
        </p:nvSpPr>
        <p:spPr>
          <a:xfrm>
            <a:off x="8905875" y="428625"/>
            <a:ext cx="2238375" cy="190500"/>
          </a:xfrm>
          <a:prstGeom prst="rect">
            <a:avLst/>
          </a:prstGeom>
          <a:noFill/>
        </p:spPr>
        <p:txBody>
          <a:bodyPr anchor="t"/>
          <a:lstStyle/>
          <a:p>
            <a:pPr algn="r">
              <a:buNone/>
              <a:defRPr sz="825" b="1">
                <a:solidFill>
                  <a:srgbClr val="64748B"/>
                </a:solidFill>
                <a:latin typeface="Aptos"/>
                <a:ea typeface="Aptos"/>
                <a:cs typeface="Aptos"/>
              </a:defRPr>
            </a:pPr>
            <a:r>
              <a:rPr sz="825" b="1">
                <a:solidFill>
                  <a:srgbClr val="64748B"/>
                </a:solidFill>
                <a:latin typeface="Aptos"/>
                <a:ea typeface="Aptos"/>
                <a:cs typeface="Aptos"/>
              </a:rPr>
              <a:t>BẰNG CHỨNG</a:t>
            </a:r>
          </a:p>
        </p:txBody>
      </p:sp>
      <p:sp>
        <p:nvSpPr>
          <p:cNvPr id="5" name="Rectangle 4">
            <a:extLst>
              <a:ext uri="{FF2B5EF4-FFF2-40B4-BE49-F238E27FC236}">
                <a16:creationId xmlns:a16="http://schemas.microsoft.com/office/drawing/2014/main" id="{7EFF4F6B-B178-44BB-BC68-7276EEE21FC9}"/>
              </a:ext>
            </a:extLst>
          </p:cNvPr>
          <p:cNvSpPr>
            <a:spLocks noGrp="1"/>
          </p:cNvSpPr>
          <p:nvPr/>
        </p:nvSpPr>
        <p:spPr>
          <a:xfrm>
            <a:off x="11334750" y="409575"/>
            <a:ext cx="361950" cy="190500"/>
          </a:xfrm>
          <a:prstGeom prst="rect">
            <a:avLst/>
          </a:prstGeom>
          <a:noFill/>
        </p:spPr>
        <p:txBody>
          <a:bodyPr anchor="t"/>
          <a:lstStyle/>
          <a:p>
            <a:pPr algn="r">
              <a:buNone/>
              <a:defRPr sz="900" b="1">
                <a:solidFill>
                  <a:srgbClr val="246BFD"/>
                </a:solidFill>
                <a:latin typeface="Aptos"/>
                <a:ea typeface="Aptos"/>
                <a:cs typeface="Aptos"/>
              </a:defRPr>
            </a:pPr>
            <a:r>
              <a:rPr sz="900" b="1">
                <a:solidFill>
                  <a:srgbClr val="246BFD"/>
                </a:solidFill>
                <a:latin typeface="Aptos"/>
                <a:ea typeface="Aptos"/>
                <a:cs typeface="Aptos"/>
              </a:rPr>
              <a:t>08</a:t>
            </a:r>
          </a:p>
        </p:txBody>
      </p:sp>
      <p:sp>
        <p:nvSpPr>
          <p:cNvPr id="6" name="Rectangle 5">
            <a:extLst>
              <a:ext uri="{FF2B5EF4-FFF2-40B4-BE49-F238E27FC236}">
                <a16:creationId xmlns:a16="http://schemas.microsoft.com/office/drawing/2014/main" id="{10DC5A90-9B7A-4DBC-8846-5E8C7FA2C84B}"/>
              </a:ext>
            </a:extLst>
          </p:cNvPr>
          <p:cNvSpPr>
            <a:spLocks noGrp="1"/>
          </p:cNvSpPr>
          <p:nvPr/>
        </p:nvSpPr>
        <p:spPr>
          <a:xfrm>
            <a:off x="552450" y="800100"/>
            <a:ext cx="11144250" cy="9525"/>
          </a:xfrm>
          <a:prstGeom prst="rect">
            <a:avLst/>
          </a:prstGeom>
          <a:solidFill>
            <a:srgbClr val="DCE6F5"/>
          </a:solidFill>
        </p:spPr>
        <p:txBody>
          <a:bodyPr/>
          <a:lstStyle/>
          <a:p>
            <a:endParaRPr lang="en-US"/>
          </a:p>
        </p:txBody>
      </p:sp>
      <p:sp>
        <p:nvSpPr>
          <p:cNvPr id="7" name="Rectangle 6">
            <a:extLst>
              <a:ext uri="{FF2B5EF4-FFF2-40B4-BE49-F238E27FC236}">
                <a16:creationId xmlns:a16="http://schemas.microsoft.com/office/drawing/2014/main" id="{80E2BEF9-99C0-4C9D-995C-2E743F9F0CE3}"/>
              </a:ext>
            </a:extLst>
          </p:cNvPr>
          <p:cNvSpPr>
            <a:spLocks noGrp="1"/>
          </p:cNvSpPr>
          <p:nvPr/>
        </p:nvSpPr>
        <p:spPr>
          <a:xfrm>
            <a:off x="647700" y="1066800"/>
            <a:ext cx="3333750" cy="228600"/>
          </a:xfrm>
          <a:prstGeom prst="rect">
            <a:avLst/>
          </a:prstGeom>
          <a:noFill/>
        </p:spPr>
        <p:txBody>
          <a:bodyPr anchor="t"/>
          <a:lstStyle/>
          <a:p>
            <a:pPr algn="l">
              <a:buNone/>
              <a:defRPr sz="900" b="1">
                <a:solidFill>
                  <a:srgbClr val="246BFD"/>
                </a:solidFill>
                <a:latin typeface="Aptos"/>
                <a:ea typeface="Aptos"/>
                <a:cs typeface="Aptos"/>
              </a:defRPr>
            </a:pPr>
            <a:r>
              <a:rPr sz="900" b="1">
                <a:solidFill>
                  <a:srgbClr val="246BFD"/>
                </a:solidFill>
                <a:latin typeface="Aptos"/>
                <a:ea typeface="Aptos"/>
                <a:cs typeface="Aptos"/>
              </a:rPr>
              <a:t>BUILT &amp; TESTED</a:t>
            </a:r>
          </a:p>
        </p:txBody>
      </p:sp>
      <p:sp>
        <p:nvSpPr>
          <p:cNvPr id="8" name="Rectangle 7">
            <a:extLst>
              <a:ext uri="{FF2B5EF4-FFF2-40B4-BE49-F238E27FC236}">
                <a16:creationId xmlns:a16="http://schemas.microsoft.com/office/drawing/2014/main" id="{AE5E340C-77A1-4D81-8A95-1669A058B9A2}"/>
              </a:ext>
            </a:extLst>
          </p:cNvPr>
          <p:cNvSpPr>
            <a:spLocks noGrp="1"/>
          </p:cNvSpPr>
          <p:nvPr/>
        </p:nvSpPr>
        <p:spPr>
          <a:xfrm>
            <a:off x="647700" y="1333500"/>
            <a:ext cx="10896600" cy="723900"/>
          </a:xfrm>
          <a:prstGeom prst="rect">
            <a:avLst/>
          </a:prstGeom>
          <a:noFill/>
        </p:spPr>
        <p:txBody>
          <a:bodyPr anchor="t"/>
          <a:lstStyle/>
          <a:p>
            <a:pPr algn="l">
              <a:buNone/>
              <a:defRPr sz="2850" b="1">
                <a:solidFill>
                  <a:srgbClr val="081B3A"/>
                </a:solidFill>
                <a:latin typeface="Aptos"/>
                <a:ea typeface="Aptos"/>
                <a:cs typeface="Aptos"/>
              </a:defRPr>
            </a:pPr>
            <a:r>
              <a:rPr sz="2850" b="1">
                <a:solidFill>
                  <a:srgbClr val="081B3A"/>
                </a:solidFill>
                <a:latin typeface="Aptos"/>
                <a:ea typeface="Aptos"/>
                <a:cs typeface="Aptos"/>
              </a:rPr>
              <a:t>Đã chạy end-to-end — không phải mockup</a:t>
            </a:r>
          </a:p>
        </p:txBody>
      </p:sp>
      <p:sp>
        <p:nvSpPr>
          <p:cNvPr id="9" name="Rectangle 8">
            <a:extLst>
              <a:ext uri="{FF2B5EF4-FFF2-40B4-BE49-F238E27FC236}">
                <a16:creationId xmlns:a16="http://schemas.microsoft.com/office/drawing/2014/main" id="{EC6A6197-7665-4582-9FD2-D28CAAB484AB}"/>
              </a:ext>
            </a:extLst>
          </p:cNvPr>
          <p:cNvSpPr>
            <a:spLocks noGrp="1"/>
          </p:cNvSpPr>
          <p:nvPr/>
        </p:nvSpPr>
        <p:spPr>
          <a:xfrm>
            <a:off x="647700" y="2047875"/>
            <a:ext cx="9810750" cy="342900"/>
          </a:xfrm>
          <a:prstGeom prst="rect">
            <a:avLst/>
          </a:prstGeom>
          <a:noFill/>
        </p:spPr>
        <p:txBody>
          <a:bodyPr anchor="t"/>
          <a:lstStyle/>
          <a:p>
            <a:pPr algn="l">
              <a:buNone/>
              <a:defRPr sz="1350" b="0">
                <a:solidFill>
                  <a:srgbClr val="64748B"/>
                </a:solidFill>
                <a:latin typeface="Aptos"/>
                <a:ea typeface="Aptos"/>
                <a:cs typeface="Aptos"/>
              </a:defRPr>
            </a:pPr>
            <a:r>
              <a:rPr sz="1350" b="0">
                <a:solidFill>
                  <a:srgbClr val="64748B"/>
                </a:solidFill>
                <a:latin typeface="Aptos"/>
                <a:ea typeface="Aptos"/>
                <a:cs typeface="Aptos"/>
              </a:rPr>
              <a:t>Backend, frontend, database, observability và pipeline dịch đã kết nối.</a:t>
            </a:r>
          </a:p>
        </p:txBody>
      </p:sp>
      <p:sp>
        <p:nvSpPr>
          <p:cNvPr id="10" name="Rectangle: Rounded Corners 9">
            <a:extLst>
              <a:ext uri="{FF2B5EF4-FFF2-40B4-BE49-F238E27FC236}">
                <a16:creationId xmlns:a16="http://schemas.microsoft.com/office/drawing/2014/main" id="{511C84FA-1B4A-4C09-9016-4721EC9DB084}"/>
              </a:ext>
            </a:extLst>
          </p:cNvPr>
          <p:cNvSpPr>
            <a:spLocks noGrp="1"/>
          </p:cNvSpPr>
          <p:nvPr/>
        </p:nvSpPr>
        <p:spPr>
          <a:xfrm>
            <a:off x="647700" y="2876550"/>
            <a:ext cx="2476500" cy="1952625"/>
          </a:xfrm>
          <a:prstGeom prst="roundRect">
            <a:avLst>
              <a:gd name="adj" fmla="val 11707"/>
            </a:avLst>
          </a:prstGeom>
          <a:solidFill>
            <a:srgbClr val="FFFFFF"/>
          </a:solidFill>
          <a:ln w="9525">
            <a:solidFill>
              <a:srgbClr val="DCE6F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1" name="Rectangle: Rounded Corners 10">
            <a:extLst>
              <a:ext uri="{FF2B5EF4-FFF2-40B4-BE49-F238E27FC236}">
                <a16:creationId xmlns:a16="http://schemas.microsoft.com/office/drawing/2014/main" id="{9BF2C00A-99C0-4639-8E3F-77E20E90979A}"/>
              </a:ext>
            </a:extLst>
          </p:cNvPr>
          <p:cNvSpPr>
            <a:spLocks noGrp="1"/>
          </p:cNvSpPr>
          <p:nvPr/>
        </p:nvSpPr>
        <p:spPr>
          <a:xfrm>
            <a:off x="647700" y="2876550"/>
            <a:ext cx="2476500" cy="66675"/>
          </a:xfrm>
          <a:prstGeom prst="roundRect">
            <a:avLst>
              <a:gd name="adj" fmla="val 50000"/>
            </a:avLst>
          </a:prstGeom>
          <a:solidFill>
            <a:srgbClr val="246BFD"/>
          </a:solidFill>
        </p:spPr>
        <p:txBody>
          <a:bodyPr/>
          <a:lstStyle/>
          <a:p>
            <a:endParaRPr lang="en-US"/>
          </a:p>
        </p:txBody>
      </p:sp>
      <p:sp>
        <p:nvSpPr>
          <p:cNvPr id="12" name="Rectangle 11">
            <a:extLst>
              <a:ext uri="{FF2B5EF4-FFF2-40B4-BE49-F238E27FC236}">
                <a16:creationId xmlns:a16="http://schemas.microsoft.com/office/drawing/2014/main" id="{2D59FA8C-3A0C-4ABF-9707-9250893182CC}"/>
              </a:ext>
            </a:extLst>
          </p:cNvPr>
          <p:cNvSpPr>
            <a:spLocks noGrp="1"/>
          </p:cNvSpPr>
          <p:nvPr/>
        </p:nvSpPr>
        <p:spPr>
          <a:xfrm>
            <a:off x="838200" y="3257550"/>
            <a:ext cx="2095500" cy="523875"/>
          </a:xfrm>
          <a:prstGeom prst="rect">
            <a:avLst/>
          </a:prstGeom>
          <a:noFill/>
        </p:spPr>
        <p:txBody>
          <a:bodyPr anchor="t"/>
          <a:lstStyle/>
          <a:p>
            <a:pPr algn="ctr">
              <a:buNone/>
              <a:defRPr sz="2700" b="1">
                <a:solidFill>
                  <a:srgbClr val="081B3A"/>
                </a:solidFill>
                <a:latin typeface="Aptos"/>
                <a:ea typeface="Aptos"/>
                <a:cs typeface="Aptos"/>
              </a:defRPr>
            </a:pPr>
            <a:r>
              <a:rPr sz="2700" b="1">
                <a:solidFill>
                  <a:srgbClr val="081B3A"/>
                </a:solidFill>
                <a:latin typeface="Aptos"/>
                <a:ea typeface="Aptos"/>
                <a:cs typeface="Aptos"/>
              </a:rPr>
              <a:t>43/43</a:t>
            </a:r>
          </a:p>
        </p:txBody>
      </p:sp>
      <p:sp>
        <p:nvSpPr>
          <p:cNvPr id="13" name="Rectangle 12">
            <a:extLst>
              <a:ext uri="{FF2B5EF4-FFF2-40B4-BE49-F238E27FC236}">
                <a16:creationId xmlns:a16="http://schemas.microsoft.com/office/drawing/2014/main" id="{DD51C0A7-D585-46A6-975A-E7C48FCC5FA1}"/>
              </a:ext>
            </a:extLst>
          </p:cNvPr>
          <p:cNvSpPr>
            <a:spLocks noGrp="1"/>
          </p:cNvSpPr>
          <p:nvPr/>
        </p:nvSpPr>
        <p:spPr>
          <a:xfrm>
            <a:off x="838200" y="3905250"/>
            <a:ext cx="2095500" cy="266700"/>
          </a:xfrm>
          <a:prstGeom prst="rect">
            <a:avLst/>
          </a:prstGeom>
          <a:noFill/>
        </p:spPr>
        <p:txBody>
          <a:bodyPr anchor="t"/>
          <a:lstStyle/>
          <a:p>
            <a:pPr algn="ctr">
              <a:buNone/>
              <a:defRPr sz="900" b="1">
                <a:solidFill>
                  <a:srgbClr val="246BFD"/>
                </a:solidFill>
                <a:latin typeface="Aptos"/>
                <a:ea typeface="Aptos"/>
                <a:cs typeface="Aptos"/>
              </a:defRPr>
            </a:pPr>
            <a:r>
              <a:rPr sz="900" b="1">
                <a:solidFill>
                  <a:srgbClr val="246BFD"/>
                </a:solidFill>
                <a:latin typeface="Aptos"/>
                <a:ea typeface="Aptos"/>
                <a:cs typeface="Aptos"/>
              </a:rPr>
              <a:t>TEST CỐT LÕI</a:t>
            </a:r>
          </a:p>
        </p:txBody>
      </p:sp>
      <p:sp>
        <p:nvSpPr>
          <p:cNvPr id="14" name="Rectangle 13">
            <a:extLst>
              <a:ext uri="{FF2B5EF4-FFF2-40B4-BE49-F238E27FC236}">
                <a16:creationId xmlns:a16="http://schemas.microsoft.com/office/drawing/2014/main" id="{D3974C2A-44CE-4918-A256-7585D6A861EB}"/>
              </a:ext>
            </a:extLst>
          </p:cNvPr>
          <p:cNvSpPr>
            <a:spLocks noGrp="1"/>
          </p:cNvSpPr>
          <p:nvPr/>
        </p:nvSpPr>
        <p:spPr>
          <a:xfrm>
            <a:off x="838200" y="4295775"/>
            <a:ext cx="2095500" cy="266700"/>
          </a:xfrm>
          <a:prstGeom prst="rect">
            <a:avLst/>
          </a:prstGeom>
          <a:noFill/>
        </p:spPr>
        <p:txBody>
          <a:bodyPr anchor="t"/>
          <a:lstStyle/>
          <a:p>
            <a:pPr algn="ctr">
              <a:buNone/>
              <a:defRPr sz="1125" b="0">
                <a:solidFill>
                  <a:srgbClr val="64748B"/>
                </a:solidFill>
                <a:latin typeface="Aptos"/>
                <a:ea typeface="Aptos"/>
                <a:cs typeface="Aptos"/>
              </a:defRPr>
            </a:pPr>
            <a:r>
              <a:rPr sz="1125" b="0">
                <a:solidFill>
                  <a:srgbClr val="64748B"/>
                </a:solidFill>
                <a:latin typeface="Aptos"/>
                <a:ea typeface="Aptos"/>
                <a:cs typeface="Aptos"/>
              </a:rPr>
              <a:t>pass</a:t>
            </a:r>
          </a:p>
        </p:txBody>
      </p:sp>
      <p:sp>
        <p:nvSpPr>
          <p:cNvPr id="15" name="Rectangle: Rounded Corners 14">
            <a:extLst>
              <a:ext uri="{FF2B5EF4-FFF2-40B4-BE49-F238E27FC236}">
                <a16:creationId xmlns:a16="http://schemas.microsoft.com/office/drawing/2014/main" id="{D17E60C1-3032-446E-B622-E9AB5868935A}"/>
              </a:ext>
            </a:extLst>
          </p:cNvPr>
          <p:cNvSpPr>
            <a:spLocks noGrp="1"/>
          </p:cNvSpPr>
          <p:nvPr/>
        </p:nvSpPr>
        <p:spPr>
          <a:xfrm>
            <a:off x="3371850" y="2876550"/>
            <a:ext cx="2476500" cy="1952625"/>
          </a:xfrm>
          <a:prstGeom prst="roundRect">
            <a:avLst>
              <a:gd name="adj" fmla="val 11707"/>
            </a:avLst>
          </a:prstGeom>
          <a:solidFill>
            <a:srgbClr val="FFFFFF"/>
          </a:solidFill>
          <a:ln w="9525">
            <a:solidFill>
              <a:srgbClr val="DCE6F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6" name="Rectangle: Rounded Corners 15">
            <a:extLst>
              <a:ext uri="{FF2B5EF4-FFF2-40B4-BE49-F238E27FC236}">
                <a16:creationId xmlns:a16="http://schemas.microsoft.com/office/drawing/2014/main" id="{513066D4-3B26-470C-B632-4C0BAD4F5D68}"/>
              </a:ext>
            </a:extLst>
          </p:cNvPr>
          <p:cNvSpPr>
            <a:spLocks noGrp="1"/>
          </p:cNvSpPr>
          <p:nvPr/>
        </p:nvSpPr>
        <p:spPr>
          <a:xfrm>
            <a:off x="3371850" y="2876550"/>
            <a:ext cx="2476500" cy="66675"/>
          </a:xfrm>
          <a:prstGeom prst="roundRect">
            <a:avLst>
              <a:gd name="adj" fmla="val 50000"/>
            </a:avLst>
          </a:prstGeom>
          <a:solidFill>
            <a:srgbClr val="6D38F5"/>
          </a:solidFill>
        </p:spPr>
        <p:txBody>
          <a:bodyPr/>
          <a:lstStyle/>
          <a:p>
            <a:endParaRPr lang="en-US"/>
          </a:p>
        </p:txBody>
      </p:sp>
      <p:sp>
        <p:nvSpPr>
          <p:cNvPr id="17" name="Rectangle 16">
            <a:extLst>
              <a:ext uri="{FF2B5EF4-FFF2-40B4-BE49-F238E27FC236}">
                <a16:creationId xmlns:a16="http://schemas.microsoft.com/office/drawing/2014/main" id="{946C0E3B-12F6-4C92-BBD6-403505F72E15}"/>
              </a:ext>
            </a:extLst>
          </p:cNvPr>
          <p:cNvSpPr>
            <a:spLocks noGrp="1"/>
          </p:cNvSpPr>
          <p:nvPr/>
        </p:nvSpPr>
        <p:spPr>
          <a:xfrm>
            <a:off x="3562350" y="3257550"/>
            <a:ext cx="2095500" cy="523875"/>
          </a:xfrm>
          <a:prstGeom prst="rect">
            <a:avLst/>
          </a:prstGeom>
          <a:noFill/>
        </p:spPr>
        <p:txBody>
          <a:bodyPr anchor="t"/>
          <a:lstStyle/>
          <a:p>
            <a:pPr algn="ctr">
              <a:buNone/>
              <a:defRPr sz="2700" b="1">
                <a:solidFill>
                  <a:srgbClr val="081B3A"/>
                </a:solidFill>
                <a:latin typeface="Aptos"/>
                <a:ea typeface="Aptos"/>
                <a:cs typeface="Aptos"/>
              </a:defRPr>
            </a:pPr>
            <a:r>
              <a:rPr sz="2700" b="1">
                <a:solidFill>
                  <a:srgbClr val="081B3A"/>
                </a:solidFill>
                <a:latin typeface="Aptos"/>
                <a:ea typeface="Aptos"/>
                <a:cs typeface="Aptos"/>
              </a:rPr>
              <a:t>62</a:t>
            </a:r>
          </a:p>
        </p:txBody>
      </p:sp>
      <p:sp>
        <p:nvSpPr>
          <p:cNvPr id="18" name="Rectangle 17">
            <a:extLst>
              <a:ext uri="{FF2B5EF4-FFF2-40B4-BE49-F238E27FC236}">
                <a16:creationId xmlns:a16="http://schemas.microsoft.com/office/drawing/2014/main" id="{A5FF8CE8-CAB2-4006-BF87-0253AC4BFE9C}"/>
              </a:ext>
            </a:extLst>
          </p:cNvPr>
          <p:cNvSpPr>
            <a:spLocks noGrp="1"/>
          </p:cNvSpPr>
          <p:nvPr/>
        </p:nvSpPr>
        <p:spPr>
          <a:xfrm>
            <a:off x="3562350" y="3905250"/>
            <a:ext cx="2095500" cy="266700"/>
          </a:xfrm>
          <a:prstGeom prst="rect">
            <a:avLst/>
          </a:prstGeom>
          <a:noFill/>
        </p:spPr>
        <p:txBody>
          <a:bodyPr anchor="t"/>
          <a:lstStyle/>
          <a:p>
            <a:pPr algn="ctr">
              <a:buNone/>
              <a:defRPr sz="900" b="1">
                <a:solidFill>
                  <a:srgbClr val="6D38F5"/>
                </a:solidFill>
                <a:latin typeface="Aptos"/>
                <a:ea typeface="Aptos"/>
                <a:cs typeface="Aptos"/>
              </a:defRPr>
            </a:pPr>
            <a:r>
              <a:rPr sz="900" b="1">
                <a:solidFill>
                  <a:srgbClr val="6D38F5"/>
                </a:solidFill>
                <a:latin typeface="Aptos"/>
                <a:ea typeface="Aptos"/>
                <a:cs typeface="Aptos"/>
              </a:rPr>
              <a:t>MẪU EVAL</a:t>
            </a:r>
          </a:p>
        </p:txBody>
      </p:sp>
      <p:sp>
        <p:nvSpPr>
          <p:cNvPr id="19" name="Rectangle 18">
            <a:extLst>
              <a:ext uri="{FF2B5EF4-FFF2-40B4-BE49-F238E27FC236}">
                <a16:creationId xmlns:a16="http://schemas.microsoft.com/office/drawing/2014/main" id="{FC11DEBE-78D5-40B6-B188-0D622445DEF0}"/>
              </a:ext>
            </a:extLst>
          </p:cNvPr>
          <p:cNvSpPr>
            <a:spLocks noGrp="1"/>
          </p:cNvSpPr>
          <p:nvPr/>
        </p:nvSpPr>
        <p:spPr>
          <a:xfrm>
            <a:off x="3562350" y="4295775"/>
            <a:ext cx="2095500" cy="266700"/>
          </a:xfrm>
          <a:prstGeom prst="rect">
            <a:avLst/>
          </a:prstGeom>
          <a:noFill/>
        </p:spPr>
        <p:txBody>
          <a:bodyPr anchor="t"/>
          <a:lstStyle/>
          <a:p>
            <a:pPr algn="ctr">
              <a:buNone/>
              <a:defRPr sz="1125" b="0">
                <a:solidFill>
                  <a:srgbClr val="64748B"/>
                </a:solidFill>
                <a:latin typeface="Aptos"/>
                <a:ea typeface="Aptos"/>
                <a:cs typeface="Aptos"/>
              </a:defRPr>
            </a:pPr>
            <a:r>
              <a:rPr sz="1125" b="0">
                <a:solidFill>
                  <a:srgbClr val="64748B"/>
                </a:solidFill>
                <a:latin typeface="Aptos"/>
                <a:ea typeface="Aptos"/>
                <a:cs typeface="Aptos"/>
              </a:rPr>
              <a:t>Gemini 3.7 Flash</a:t>
            </a:r>
          </a:p>
        </p:txBody>
      </p:sp>
      <p:sp>
        <p:nvSpPr>
          <p:cNvPr id="20" name="Rectangle: Rounded Corners 19">
            <a:extLst>
              <a:ext uri="{FF2B5EF4-FFF2-40B4-BE49-F238E27FC236}">
                <a16:creationId xmlns:a16="http://schemas.microsoft.com/office/drawing/2014/main" id="{A44749EB-29A8-413B-9D38-891883740769}"/>
              </a:ext>
            </a:extLst>
          </p:cNvPr>
          <p:cNvSpPr>
            <a:spLocks noGrp="1"/>
          </p:cNvSpPr>
          <p:nvPr/>
        </p:nvSpPr>
        <p:spPr>
          <a:xfrm>
            <a:off x="6096000" y="2876550"/>
            <a:ext cx="2476500" cy="1952625"/>
          </a:xfrm>
          <a:prstGeom prst="roundRect">
            <a:avLst>
              <a:gd name="adj" fmla="val 11707"/>
            </a:avLst>
          </a:prstGeom>
          <a:solidFill>
            <a:srgbClr val="FFFFFF"/>
          </a:solidFill>
          <a:ln w="9525">
            <a:solidFill>
              <a:srgbClr val="DCE6F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21" name="Rectangle: Rounded Corners 20">
            <a:extLst>
              <a:ext uri="{FF2B5EF4-FFF2-40B4-BE49-F238E27FC236}">
                <a16:creationId xmlns:a16="http://schemas.microsoft.com/office/drawing/2014/main" id="{EB9B14BD-3FE5-4512-932B-5757E759590F}"/>
              </a:ext>
            </a:extLst>
          </p:cNvPr>
          <p:cNvSpPr>
            <a:spLocks noGrp="1"/>
          </p:cNvSpPr>
          <p:nvPr/>
        </p:nvSpPr>
        <p:spPr>
          <a:xfrm>
            <a:off x="6096000" y="2876550"/>
            <a:ext cx="2476500" cy="66675"/>
          </a:xfrm>
          <a:prstGeom prst="roundRect">
            <a:avLst>
              <a:gd name="adj" fmla="val 50000"/>
            </a:avLst>
          </a:prstGeom>
          <a:solidFill>
            <a:srgbClr val="15B77E"/>
          </a:solidFill>
        </p:spPr>
        <p:txBody>
          <a:bodyPr/>
          <a:lstStyle/>
          <a:p>
            <a:endParaRPr lang="en-US"/>
          </a:p>
        </p:txBody>
      </p:sp>
      <p:sp>
        <p:nvSpPr>
          <p:cNvPr id="22" name="Rectangle 21">
            <a:extLst>
              <a:ext uri="{FF2B5EF4-FFF2-40B4-BE49-F238E27FC236}">
                <a16:creationId xmlns:a16="http://schemas.microsoft.com/office/drawing/2014/main" id="{D82888E9-7D37-4E36-874E-D237948D3D16}"/>
              </a:ext>
            </a:extLst>
          </p:cNvPr>
          <p:cNvSpPr>
            <a:spLocks noGrp="1"/>
          </p:cNvSpPr>
          <p:nvPr/>
        </p:nvSpPr>
        <p:spPr>
          <a:xfrm>
            <a:off x="6286500" y="3257550"/>
            <a:ext cx="2095500" cy="523875"/>
          </a:xfrm>
          <a:prstGeom prst="rect">
            <a:avLst/>
          </a:prstGeom>
          <a:noFill/>
        </p:spPr>
        <p:txBody>
          <a:bodyPr anchor="t"/>
          <a:lstStyle/>
          <a:p>
            <a:pPr algn="ctr">
              <a:buNone/>
              <a:defRPr sz="2700" b="1">
                <a:solidFill>
                  <a:srgbClr val="081B3A"/>
                </a:solidFill>
                <a:latin typeface="Aptos"/>
                <a:ea typeface="Aptos"/>
                <a:cs typeface="Aptos"/>
              </a:defRPr>
            </a:pPr>
            <a:r>
              <a:rPr sz="2700" b="1">
                <a:solidFill>
                  <a:srgbClr val="081B3A"/>
                </a:solidFill>
                <a:latin typeface="Aptos"/>
                <a:ea typeface="Aptos"/>
                <a:cs typeface="Aptos"/>
              </a:rPr>
              <a:t>0.912</a:t>
            </a:r>
          </a:p>
        </p:txBody>
      </p:sp>
      <p:sp>
        <p:nvSpPr>
          <p:cNvPr id="23" name="Rectangle 22">
            <a:extLst>
              <a:ext uri="{FF2B5EF4-FFF2-40B4-BE49-F238E27FC236}">
                <a16:creationId xmlns:a16="http://schemas.microsoft.com/office/drawing/2014/main" id="{86380473-00F2-4AB7-9BAC-0BDA26722D58}"/>
              </a:ext>
            </a:extLst>
          </p:cNvPr>
          <p:cNvSpPr>
            <a:spLocks noGrp="1"/>
          </p:cNvSpPr>
          <p:nvPr/>
        </p:nvSpPr>
        <p:spPr>
          <a:xfrm>
            <a:off x="6286500" y="3905250"/>
            <a:ext cx="2095500" cy="266700"/>
          </a:xfrm>
          <a:prstGeom prst="rect">
            <a:avLst/>
          </a:prstGeom>
          <a:noFill/>
        </p:spPr>
        <p:txBody>
          <a:bodyPr anchor="t"/>
          <a:lstStyle/>
          <a:p>
            <a:pPr algn="ctr">
              <a:buNone/>
              <a:defRPr sz="900" b="1">
                <a:solidFill>
                  <a:srgbClr val="15B77E"/>
                </a:solidFill>
                <a:latin typeface="Aptos"/>
                <a:ea typeface="Aptos"/>
                <a:cs typeface="Aptos"/>
              </a:defRPr>
            </a:pPr>
            <a:r>
              <a:rPr sz="900" b="1">
                <a:solidFill>
                  <a:srgbClr val="15B77E"/>
                </a:solidFill>
                <a:latin typeface="Aptos"/>
                <a:ea typeface="Aptos"/>
                <a:cs typeface="Aptos"/>
              </a:rPr>
              <a:t>JUDGE SCORE</a:t>
            </a:r>
          </a:p>
        </p:txBody>
      </p:sp>
      <p:sp>
        <p:nvSpPr>
          <p:cNvPr id="24" name="Rectangle 23">
            <a:extLst>
              <a:ext uri="{FF2B5EF4-FFF2-40B4-BE49-F238E27FC236}">
                <a16:creationId xmlns:a16="http://schemas.microsoft.com/office/drawing/2014/main" id="{12AE4130-56A6-4299-BA0E-6B9EB2E620E2}"/>
              </a:ext>
            </a:extLst>
          </p:cNvPr>
          <p:cNvSpPr>
            <a:spLocks noGrp="1"/>
          </p:cNvSpPr>
          <p:nvPr/>
        </p:nvSpPr>
        <p:spPr>
          <a:xfrm>
            <a:off x="6286500" y="4295775"/>
            <a:ext cx="2095500" cy="266700"/>
          </a:xfrm>
          <a:prstGeom prst="rect">
            <a:avLst/>
          </a:prstGeom>
          <a:noFill/>
        </p:spPr>
        <p:txBody>
          <a:bodyPr anchor="t"/>
          <a:lstStyle/>
          <a:p>
            <a:pPr algn="ctr">
              <a:buNone/>
              <a:defRPr sz="1125" b="0">
                <a:solidFill>
                  <a:srgbClr val="64748B"/>
                </a:solidFill>
                <a:latin typeface="Aptos"/>
                <a:ea typeface="Aptos"/>
                <a:cs typeface="Aptos"/>
              </a:defRPr>
            </a:pPr>
            <a:r>
              <a:rPr sz="1125" b="0">
                <a:solidFill>
                  <a:srgbClr val="64748B"/>
                </a:solidFill>
                <a:latin typeface="Aptos"/>
                <a:ea typeface="Aptos"/>
                <a:cs typeface="Aptos"/>
              </a:rPr>
              <a:t>trung bình</a:t>
            </a:r>
          </a:p>
        </p:txBody>
      </p:sp>
      <p:sp>
        <p:nvSpPr>
          <p:cNvPr id="25" name="Rectangle: Rounded Corners 24">
            <a:extLst>
              <a:ext uri="{FF2B5EF4-FFF2-40B4-BE49-F238E27FC236}">
                <a16:creationId xmlns:a16="http://schemas.microsoft.com/office/drawing/2014/main" id="{42B4CD30-E758-40F3-8EBD-89DD133A48E2}"/>
              </a:ext>
            </a:extLst>
          </p:cNvPr>
          <p:cNvSpPr>
            <a:spLocks noGrp="1"/>
          </p:cNvSpPr>
          <p:nvPr/>
        </p:nvSpPr>
        <p:spPr>
          <a:xfrm>
            <a:off x="8820150" y="2876550"/>
            <a:ext cx="2476500" cy="1952625"/>
          </a:xfrm>
          <a:prstGeom prst="roundRect">
            <a:avLst>
              <a:gd name="adj" fmla="val 11707"/>
            </a:avLst>
          </a:prstGeom>
          <a:solidFill>
            <a:srgbClr val="FFFFFF"/>
          </a:solidFill>
          <a:ln w="9525">
            <a:solidFill>
              <a:srgbClr val="DCE6F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26" name="Rectangle: Rounded Corners 25">
            <a:extLst>
              <a:ext uri="{FF2B5EF4-FFF2-40B4-BE49-F238E27FC236}">
                <a16:creationId xmlns:a16="http://schemas.microsoft.com/office/drawing/2014/main" id="{E8C8F4A2-E18C-4BAB-91B1-5A73FCC15D7B}"/>
              </a:ext>
            </a:extLst>
          </p:cNvPr>
          <p:cNvSpPr>
            <a:spLocks noGrp="1"/>
          </p:cNvSpPr>
          <p:nvPr/>
        </p:nvSpPr>
        <p:spPr>
          <a:xfrm>
            <a:off x="8820150" y="2876550"/>
            <a:ext cx="2476500" cy="66675"/>
          </a:xfrm>
          <a:prstGeom prst="roundRect">
            <a:avLst>
              <a:gd name="adj" fmla="val 50000"/>
            </a:avLst>
          </a:prstGeom>
          <a:solidFill>
            <a:srgbClr val="FFB020"/>
          </a:solidFill>
        </p:spPr>
        <p:txBody>
          <a:bodyPr/>
          <a:lstStyle/>
          <a:p>
            <a:endParaRPr lang="en-US"/>
          </a:p>
        </p:txBody>
      </p:sp>
      <p:sp>
        <p:nvSpPr>
          <p:cNvPr id="27" name="Rectangle 26">
            <a:extLst>
              <a:ext uri="{FF2B5EF4-FFF2-40B4-BE49-F238E27FC236}">
                <a16:creationId xmlns:a16="http://schemas.microsoft.com/office/drawing/2014/main" id="{99732254-C035-4D41-BD95-AD082D7C349D}"/>
              </a:ext>
            </a:extLst>
          </p:cNvPr>
          <p:cNvSpPr>
            <a:spLocks noGrp="1"/>
          </p:cNvSpPr>
          <p:nvPr/>
        </p:nvSpPr>
        <p:spPr>
          <a:xfrm>
            <a:off x="9010650" y="3257550"/>
            <a:ext cx="2095500" cy="523875"/>
          </a:xfrm>
          <a:prstGeom prst="rect">
            <a:avLst/>
          </a:prstGeom>
          <a:noFill/>
        </p:spPr>
        <p:txBody>
          <a:bodyPr anchor="t"/>
          <a:lstStyle/>
          <a:p>
            <a:pPr algn="ctr">
              <a:buNone/>
              <a:defRPr sz="2700" b="1">
                <a:solidFill>
                  <a:srgbClr val="081B3A"/>
                </a:solidFill>
                <a:latin typeface="Aptos"/>
                <a:ea typeface="Aptos"/>
                <a:cs typeface="Aptos"/>
              </a:defRPr>
            </a:pPr>
            <a:r>
              <a:rPr sz="2700" b="1">
                <a:solidFill>
                  <a:srgbClr val="081B3A"/>
                </a:solidFill>
                <a:latin typeface="Aptos"/>
                <a:ea typeface="Aptos"/>
                <a:cs typeface="Aptos"/>
              </a:rPr>
              <a:t>96.6%</a:t>
            </a:r>
          </a:p>
        </p:txBody>
      </p:sp>
      <p:sp>
        <p:nvSpPr>
          <p:cNvPr id="28" name="Rectangle 27">
            <a:extLst>
              <a:ext uri="{FF2B5EF4-FFF2-40B4-BE49-F238E27FC236}">
                <a16:creationId xmlns:a16="http://schemas.microsoft.com/office/drawing/2014/main" id="{E06931C2-619A-4D6F-829F-43A66D9169E0}"/>
              </a:ext>
            </a:extLst>
          </p:cNvPr>
          <p:cNvSpPr>
            <a:spLocks noGrp="1"/>
          </p:cNvSpPr>
          <p:nvPr/>
        </p:nvSpPr>
        <p:spPr>
          <a:xfrm>
            <a:off x="9010650" y="3905250"/>
            <a:ext cx="2095500" cy="266700"/>
          </a:xfrm>
          <a:prstGeom prst="rect">
            <a:avLst/>
          </a:prstGeom>
          <a:noFill/>
        </p:spPr>
        <p:txBody>
          <a:bodyPr anchor="t"/>
          <a:lstStyle/>
          <a:p>
            <a:pPr algn="ctr">
              <a:buNone/>
              <a:defRPr sz="900" b="1">
                <a:solidFill>
                  <a:srgbClr val="FFB020"/>
                </a:solidFill>
                <a:latin typeface="Aptos"/>
                <a:ea typeface="Aptos"/>
                <a:cs typeface="Aptos"/>
              </a:defRPr>
            </a:pPr>
            <a:r>
              <a:rPr sz="900" b="1">
                <a:solidFill>
                  <a:srgbClr val="FFB020"/>
                </a:solidFill>
                <a:latin typeface="Aptos"/>
                <a:ea typeface="Aptos"/>
                <a:cs typeface="Aptos"/>
              </a:rPr>
              <a:t>ĐÚNG NGÔN NGỮ ĐÍCH</a:t>
            </a:r>
          </a:p>
        </p:txBody>
      </p:sp>
      <p:sp>
        <p:nvSpPr>
          <p:cNvPr id="29" name="Rectangle 28">
            <a:extLst>
              <a:ext uri="{FF2B5EF4-FFF2-40B4-BE49-F238E27FC236}">
                <a16:creationId xmlns:a16="http://schemas.microsoft.com/office/drawing/2014/main" id="{242850F5-34E1-4261-AFD6-E51FB6C0ED04}"/>
              </a:ext>
            </a:extLst>
          </p:cNvPr>
          <p:cNvSpPr>
            <a:spLocks noGrp="1"/>
          </p:cNvSpPr>
          <p:nvPr/>
        </p:nvSpPr>
        <p:spPr>
          <a:xfrm>
            <a:off x="9010650" y="4295775"/>
            <a:ext cx="2095500" cy="266700"/>
          </a:xfrm>
          <a:prstGeom prst="rect">
            <a:avLst/>
          </a:prstGeom>
          <a:noFill/>
        </p:spPr>
        <p:txBody>
          <a:bodyPr anchor="t"/>
          <a:lstStyle/>
          <a:p>
            <a:pPr algn="ctr">
              <a:buNone/>
              <a:defRPr sz="1125" b="0">
                <a:solidFill>
                  <a:srgbClr val="64748B"/>
                </a:solidFill>
                <a:latin typeface="Aptos"/>
                <a:ea typeface="Aptos"/>
                <a:cs typeface="Aptos"/>
              </a:defRPr>
            </a:pPr>
            <a:r>
              <a:rPr sz="1125" b="0">
                <a:solidFill>
                  <a:srgbClr val="64748B"/>
                </a:solidFill>
                <a:latin typeface="Aptos"/>
                <a:ea typeface="Aptos"/>
                <a:cs typeface="Aptos"/>
              </a:rPr>
              <a:t>trên eval set</a:t>
            </a:r>
          </a:p>
        </p:txBody>
      </p:sp>
      <p:sp>
        <p:nvSpPr>
          <p:cNvPr id="30" name="Rectangle: Rounded Corners 29">
            <a:extLst>
              <a:ext uri="{FF2B5EF4-FFF2-40B4-BE49-F238E27FC236}">
                <a16:creationId xmlns:a16="http://schemas.microsoft.com/office/drawing/2014/main" id="{D076695B-50E9-4289-A4AB-9C2A7A88C090}"/>
              </a:ext>
            </a:extLst>
          </p:cNvPr>
          <p:cNvSpPr>
            <a:spLocks noGrp="1"/>
          </p:cNvSpPr>
          <p:nvPr/>
        </p:nvSpPr>
        <p:spPr>
          <a:xfrm>
            <a:off x="647700" y="5162550"/>
            <a:ext cx="10782300" cy="857250"/>
          </a:xfrm>
          <a:prstGeom prst="roundRect">
            <a:avLst>
              <a:gd name="adj" fmla="val 22222"/>
            </a:avLst>
          </a:prstGeom>
          <a:solidFill>
            <a:srgbClr val="081B3A"/>
          </a:solidFill>
        </p:spPr>
        <p:txBody>
          <a:bodyPr/>
          <a:lstStyle/>
          <a:p>
            <a:endParaRPr lang="en-US"/>
          </a:p>
        </p:txBody>
      </p:sp>
      <p:sp>
        <p:nvSpPr>
          <p:cNvPr id="31" name="Rectangle 30">
            <a:extLst>
              <a:ext uri="{FF2B5EF4-FFF2-40B4-BE49-F238E27FC236}">
                <a16:creationId xmlns:a16="http://schemas.microsoft.com/office/drawing/2014/main" id="{73D03BBF-F296-48F6-AEA2-7B3437983033}"/>
              </a:ext>
            </a:extLst>
          </p:cNvPr>
          <p:cNvSpPr>
            <a:spLocks noGrp="1"/>
          </p:cNvSpPr>
          <p:nvPr/>
        </p:nvSpPr>
        <p:spPr>
          <a:xfrm>
            <a:off x="942975" y="5334000"/>
            <a:ext cx="10191750" cy="495300"/>
          </a:xfrm>
          <a:prstGeom prst="rect">
            <a:avLst/>
          </a:prstGeom>
          <a:noFill/>
        </p:spPr>
        <p:txBody>
          <a:bodyPr anchor="ctr"/>
          <a:lstStyle/>
          <a:p>
            <a:pPr algn="ctr">
              <a:buNone/>
              <a:defRPr sz="1350" b="1">
                <a:solidFill>
                  <a:srgbClr val="FFFFFF"/>
                </a:solidFill>
                <a:latin typeface="Aptos"/>
                <a:ea typeface="Aptos"/>
                <a:cs typeface="Aptos"/>
              </a:defRPr>
            </a:pPr>
            <a:r>
              <a:rPr sz="1350" b="1">
                <a:solidFill>
                  <a:srgbClr val="FFFFFF"/>
                </a:solidFill>
                <a:latin typeface="Aptos"/>
                <a:ea typeface="Aptos"/>
                <a:cs typeface="Aptos"/>
              </a:rPr>
              <a:t>Lưu ý: eval hiện dùng LLM-as-judge — bước tiếp theo là human evaluation theo domain.</a:t>
            </a:r>
          </a:p>
        </p:txBody>
      </p:sp>
      <p:sp>
        <p:nvSpPr>
          <p:cNvPr id="32" name="Rectangle: Rounded Corners 31">
            <a:extLst>
              <a:ext uri="{FF2B5EF4-FFF2-40B4-BE49-F238E27FC236}">
                <a16:creationId xmlns:a16="http://schemas.microsoft.com/office/drawing/2014/main" id="{1779844F-28EA-406F-9E07-9B439B3C9C30}"/>
              </a:ext>
            </a:extLst>
          </p:cNvPr>
          <p:cNvSpPr>
            <a:spLocks noGrp="1"/>
          </p:cNvSpPr>
          <p:nvPr/>
        </p:nvSpPr>
        <p:spPr>
          <a:xfrm>
            <a:off x="10382250" y="1095375"/>
            <a:ext cx="1047750" cy="304800"/>
          </a:xfrm>
          <a:prstGeom prst="roundRect">
            <a:avLst>
              <a:gd name="adj" fmla="val 50000"/>
            </a:avLst>
          </a:prstGeom>
          <a:solidFill>
            <a:srgbClr val="15B77E"/>
          </a:solidFill>
        </p:spPr>
        <p:txBody>
          <a:bodyPr anchor="ctr"/>
          <a:lstStyle/>
          <a:p>
            <a:pPr algn="ctr">
              <a:buNone/>
              <a:defRPr sz="900" b="1">
                <a:solidFill>
                  <a:srgbClr val="FFFFFF"/>
                </a:solidFill>
                <a:latin typeface="Aptos"/>
                <a:ea typeface="Aptos"/>
                <a:cs typeface="Aptos"/>
              </a:defRPr>
            </a:pPr>
            <a:r>
              <a:rPr sz="900" b="1">
                <a:solidFill>
                  <a:srgbClr val="FFFFFF"/>
                </a:solidFill>
                <a:latin typeface="Aptos"/>
                <a:ea typeface="Aptos"/>
                <a:cs typeface="Aptos"/>
              </a:rPr>
              <a:t>ONLINE</a:t>
            </a:r>
          </a:p>
        </p:txBody>
      </p:sp>
    </p:spTree>
    <p:extLst>
      <p:ext uri="{BB962C8B-B14F-4D97-AF65-F5344CB8AC3E}">
        <p14:creationId xmlns:p14="http://schemas.microsoft.com/office/powerpoint/2010/main" val="21144264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F"/>
        </a:solidFill>
        <a:effectLst/>
      </p:bgPr>
    </p:bg>
    <p:spTree>
      <p:nvGrpSpPr>
        <p:cNvPr id="1" name=""/>
        <p:cNvGrpSpPr/>
        <p:nvPr/>
      </p:nvGrpSpPr>
      <p:grpSpPr>
        <a:xfrm>
          <a:off x="0" y="0"/>
          <a:ext cx="0" cy="0"/>
          <a:chOff x="0" y="0"/>
          <a:chExt cx="0" cy="0"/>
        </a:xfrm>
      </p:grpSpPr>
      <p:sp>
        <p:nvSpPr>
          <p:cNvPr id="31" name="Rectangle: Rounded Corners 30">
            <a:extLst>
              <a:ext uri="{FF2B5EF4-FFF2-40B4-BE49-F238E27FC236}">
                <a16:creationId xmlns:a16="http://schemas.microsoft.com/office/drawing/2014/main" id="{FCA1621B-D1E8-4ED9-8030-6BFFA082204D}"/>
              </a:ext>
            </a:extLst>
          </p:cNvPr>
          <p:cNvSpPr>
            <a:spLocks noGrp="1"/>
          </p:cNvSpPr>
          <p:nvPr/>
        </p:nvSpPr>
        <p:spPr>
          <a:xfrm>
            <a:off x="552450" y="361950"/>
            <a:ext cx="323850" cy="323850"/>
          </a:xfrm>
          <a:prstGeom prst="roundRect">
            <a:avLst>
              <a:gd name="adj" fmla="val 29412"/>
            </a:avLst>
          </a:prstGeom>
          <a:gradFill>
            <a:gsLst>
              <a:gs pos="0">
                <a:srgbClr val="246BFD"/>
              </a:gs>
              <a:gs pos="100000">
                <a:srgbClr val="6D38F5"/>
              </a:gs>
            </a:gsLst>
            <a:lin ang="8100000"/>
          </a:gradFill>
        </p:spPr>
        <p:txBody>
          <a:bodyPr/>
          <a:lstStyle/>
          <a:p>
            <a:endParaRPr lang="en-US"/>
          </a:p>
        </p:txBody>
      </p:sp>
      <p:sp>
        <p:nvSpPr>
          <p:cNvPr id="2" name="Rectangle 1">
            <a:extLst>
              <a:ext uri="{FF2B5EF4-FFF2-40B4-BE49-F238E27FC236}">
                <a16:creationId xmlns:a16="http://schemas.microsoft.com/office/drawing/2014/main" id="{F61828B8-5022-4194-8645-A79FE0198169}"/>
              </a:ext>
            </a:extLst>
          </p:cNvPr>
          <p:cNvSpPr>
            <a:spLocks noGrp="1"/>
          </p:cNvSpPr>
          <p:nvPr/>
        </p:nvSpPr>
        <p:spPr>
          <a:xfrm>
            <a:off x="552450" y="361950"/>
            <a:ext cx="323850" cy="323850"/>
          </a:xfrm>
          <a:prstGeom prst="rect">
            <a:avLst/>
          </a:prstGeom>
          <a:noFill/>
        </p:spPr>
        <p:txBody>
          <a:bodyPr anchor="ctr"/>
          <a:lstStyle/>
          <a:p>
            <a:pPr algn="ctr">
              <a:buNone/>
              <a:defRPr sz="1350" b="1">
                <a:solidFill>
                  <a:srgbClr val="FFFFFF"/>
                </a:solidFill>
                <a:latin typeface="Aptos"/>
                <a:ea typeface="Aptos"/>
                <a:cs typeface="Aptos"/>
              </a:defRPr>
            </a:pPr>
            <a:r>
              <a:rPr sz="1350" b="1">
                <a:solidFill>
                  <a:srgbClr val="FFFFFF"/>
                </a:solidFill>
                <a:latin typeface="Aptos"/>
                <a:ea typeface="Aptos"/>
                <a:cs typeface="Aptos"/>
              </a:rPr>
              <a:t>≋</a:t>
            </a:r>
          </a:p>
        </p:txBody>
      </p:sp>
      <p:sp>
        <p:nvSpPr>
          <p:cNvPr id="3" name="Rectangle 2">
            <a:extLst>
              <a:ext uri="{FF2B5EF4-FFF2-40B4-BE49-F238E27FC236}">
                <a16:creationId xmlns:a16="http://schemas.microsoft.com/office/drawing/2014/main" id="{D84C0707-EBBC-4262-80B5-DF13E9E2C823}"/>
              </a:ext>
            </a:extLst>
          </p:cNvPr>
          <p:cNvSpPr>
            <a:spLocks noGrp="1"/>
          </p:cNvSpPr>
          <p:nvPr/>
        </p:nvSpPr>
        <p:spPr>
          <a:xfrm>
            <a:off x="971550" y="390525"/>
            <a:ext cx="1409700" cy="266700"/>
          </a:xfrm>
          <a:prstGeom prst="rect">
            <a:avLst/>
          </a:prstGeom>
          <a:noFill/>
        </p:spPr>
        <p:txBody>
          <a:bodyPr anchor="t"/>
          <a:lstStyle/>
          <a:p>
            <a:pPr algn="l">
              <a:buNone/>
              <a:defRPr sz="1500" b="1">
                <a:solidFill>
                  <a:srgbClr val="081B3A"/>
                </a:solidFill>
                <a:latin typeface="Aptos"/>
                <a:ea typeface="Aptos"/>
                <a:cs typeface="Aptos"/>
              </a:defRPr>
            </a:pPr>
            <a:r>
              <a:rPr sz="1500" b="1">
                <a:solidFill>
                  <a:srgbClr val="081B3A"/>
                </a:solidFill>
                <a:latin typeface="Aptos"/>
                <a:ea typeface="Aptos"/>
                <a:cs typeface="Aptos"/>
              </a:rPr>
              <a:t>LinguaFlow</a:t>
            </a:r>
          </a:p>
        </p:txBody>
      </p:sp>
      <p:sp>
        <p:nvSpPr>
          <p:cNvPr id="4" name="Rectangle 3">
            <a:extLst>
              <a:ext uri="{FF2B5EF4-FFF2-40B4-BE49-F238E27FC236}">
                <a16:creationId xmlns:a16="http://schemas.microsoft.com/office/drawing/2014/main" id="{63827DB9-BE63-4DD9-B939-D0C8B92259F6}"/>
              </a:ext>
            </a:extLst>
          </p:cNvPr>
          <p:cNvSpPr>
            <a:spLocks noGrp="1"/>
          </p:cNvSpPr>
          <p:nvPr/>
        </p:nvSpPr>
        <p:spPr>
          <a:xfrm>
            <a:off x="8905875" y="428625"/>
            <a:ext cx="2238375" cy="190500"/>
          </a:xfrm>
          <a:prstGeom prst="rect">
            <a:avLst/>
          </a:prstGeom>
          <a:noFill/>
        </p:spPr>
        <p:txBody>
          <a:bodyPr anchor="t"/>
          <a:lstStyle/>
          <a:p>
            <a:pPr algn="r">
              <a:buNone/>
              <a:defRPr sz="825" b="1">
                <a:solidFill>
                  <a:srgbClr val="64748B"/>
                </a:solidFill>
                <a:latin typeface="Aptos"/>
                <a:ea typeface="Aptos"/>
                <a:cs typeface="Aptos"/>
              </a:defRPr>
            </a:pPr>
            <a:r>
              <a:rPr sz="825" b="1">
                <a:solidFill>
                  <a:srgbClr val="64748B"/>
                </a:solidFill>
                <a:latin typeface="Aptos"/>
                <a:ea typeface="Aptos"/>
                <a:cs typeface="Aptos"/>
              </a:rPr>
              <a:t>ROADMAP</a:t>
            </a:r>
          </a:p>
        </p:txBody>
      </p:sp>
      <p:sp>
        <p:nvSpPr>
          <p:cNvPr id="5" name="Rectangle 4">
            <a:extLst>
              <a:ext uri="{FF2B5EF4-FFF2-40B4-BE49-F238E27FC236}">
                <a16:creationId xmlns:a16="http://schemas.microsoft.com/office/drawing/2014/main" id="{1FB1CF16-694B-47CE-9C42-119AB74D7B02}"/>
              </a:ext>
            </a:extLst>
          </p:cNvPr>
          <p:cNvSpPr>
            <a:spLocks noGrp="1"/>
          </p:cNvSpPr>
          <p:nvPr/>
        </p:nvSpPr>
        <p:spPr>
          <a:xfrm>
            <a:off x="11334750" y="409575"/>
            <a:ext cx="361950" cy="190500"/>
          </a:xfrm>
          <a:prstGeom prst="rect">
            <a:avLst/>
          </a:prstGeom>
          <a:noFill/>
        </p:spPr>
        <p:txBody>
          <a:bodyPr anchor="t"/>
          <a:lstStyle/>
          <a:p>
            <a:pPr algn="r">
              <a:buNone/>
              <a:defRPr sz="900" b="1">
                <a:solidFill>
                  <a:srgbClr val="246BFD"/>
                </a:solidFill>
                <a:latin typeface="Aptos"/>
                <a:ea typeface="Aptos"/>
                <a:cs typeface="Aptos"/>
              </a:defRPr>
            </a:pPr>
            <a:r>
              <a:rPr sz="900" b="1">
                <a:solidFill>
                  <a:srgbClr val="246BFD"/>
                </a:solidFill>
                <a:latin typeface="Aptos"/>
                <a:ea typeface="Aptos"/>
                <a:cs typeface="Aptos"/>
              </a:rPr>
              <a:t>09</a:t>
            </a:r>
          </a:p>
        </p:txBody>
      </p:sp>
      <p:sp>
        <p:nvSpPr>
          <p:cNvPr id="6" name="Rectangle 5">
            <a:extLst>
              <a:ext uri="{FF2B5EF4-FFF2-40B4-BE49-F238E27FC236}">
                <a16:creationId xmlns:a16="http://schemas.microsoft.com/office/drawing/2014/main" id="{18A38F01-43FA-48A5-9FD6-19D6C6BF454E}"/>
              </a:ext>
            </a:extLst>
          </p:cNvPr>
          <p:cNvSpPr>
            <a:spLocks noGrp="1"/>
          </p:cNvSpPr>
          <p:nvPr/>
        </p:nvSpPr>
        <p:spPr>
          <a:xfrm>
            <a:off x="552450" y="800100"/>
            <a:ext cx="11144250" cy="9525"/>
          </a:xfrm>
          <a:prstGeom prst="rect">
            <a:avLst/>
          </a:prstGeom>
          <a:solidFill>
            <a:srgbClr val="DCE6F5"/>
          </a:solidFill>
        </p:spPr>
        <p:txBody>
          <a:bodyPr/>
          <a:lstStyle/>
          <a:p>
            <a:endParaRPr lang="en-US"/>
          </a:p>
        </p:txBody>
      </p:sp>
      <p:sp>
        <p:nvSpPr>
          <p:cNvPr id="7" name="Rectangle 6">
            <a:extLst>
              <a:ext uri="{FF2B5EF4-FFF2-40B4-BE49-F238E27FC236}">
                <a16:creationId xmlns:a16="http://schemas.microsoft.com/office/drawing/2014/main" id="{878E38C8-249B-408E-936F-3B23462ED079}"/>
              </a:ext>
            </a:extLst>
          </p:cNvPr>
          <p:cNvSpPr>
            <a:spLocks noGrp="1"/>
          </p:cNvSpPr>
          <p:nvPr/>
        </p:nvSpPr>
        <p:spPr>
          <a:xfrm>
            <a:off x="647700" y="1066800"/>
            <a:ext cx="3333750" cy="228600"/>
          </a:xfrm>
          <a:prstGeom prst="rect">
            <a:avLst/>
          </a:prstGeom>
          <a:noFill/>
        </p:spPr>
        <p:txBody>
          <a:bodyPr anchor="t"/>
          <a:lstStyle/>
          <a:p>
            <a:pPr algn="l">
              <a:buNone/>
              <a:defRPr sz="900" b="1">
                <a:solidFill>
                  <a:srgbClr val="246BFD"/>
                </a:solidFill>
                <a:latin typeface="Aptos"/>
                <a:ea typeface="Aptos"/>
                <a:cs typeface="Aptos"/>
              </a:defRPr>
            </a:pPr>
            <a:r>
              <a:rPr sz="900" b="1">
                <a:solidFill>
                  <a:srgbClr val="246BFD"/>
                </a:solidFill>
                <a:latin typeface="Aptos"/>
                <a:ea typeface="Aptos"/>
                <a:cs typeface="Aptos"/>
              </a:rPr>
              <a:t>NEXT</a:t>
            </a:r>
          </a:p>
        </p:txBody>
      </p:sp>
      <p:sp>
        <p:nvSpPr>
          <p:cNvPr id="8" name="Rectangle 7">
            <a:extLst>
              <a:ext uri="{FF2B5EF4-FFF2-40B4-BE49-F238E27FC236}">
                <a16:creationId xmlns:a16="http://schemas.microsoft.com/office/drawing/2014/main" id="{CF584DB5-4787-4BBC-86C8-591CEA1DCE11}"/>
              </a:ext>
            </a:extLst>
          </p:cNvPr>
          <p:cNvSpPr>
            <a:spLocks noGrp="1"/>
          </p:cNvSpPr>
          <p:nvPr/>
        </p:nvSpPr>
        <p:spPr>
          <a:xfrm>
            <a:off x="647700" y="1333500"/>
            <a:ext cx="10896600" cy="723900"/>
          </a:xfrm>
          <a:prstGeom prst="rect">
            <a:avLst/>
          </a:prstGeom>
          <a:noFill/>
        </p:spPr>
        <p:txBody>
          <a:bodyPr anchor="t"/>
          <a:lstStyle/>
          <a:p>
            <a:pPr algn="l">
              <a:buNone/>
              <a:defRPr sz="2850" b="1">
                <a:solidFill>
                  <a:srgbClr val="081B3A"/>
                </a:solidFill>
                <a:latin typeface="Aptos"/>
                <a:ea typeface="Aptos"/>
                <a:cs typeface="Aptos"/>
              </a:defRPr>
            </a:pPr>
            <a:r>
              <a:rPr sz="2850" b="1">
                <a:solidFill>
                  <a:srgbClr val="081B3A"/>
                </a:solidFill>
                <a:latin typeface="Aptos"/>
                <a:ea typeface="Aptos"/>
                <a:cs typeface="Aptos"/>
              </a:rPr>
              <a:t>Từ agent dịch → trợ lý hiểu và hành động</a:t>
            </a:r>
          </a:p>
        </p:txBody>
      </p:sp>
      <p:sp>
        <p:nvSpPr>
          <p:cNvPr id="9" name="Rectangle 8">
            <a:extLst>
              <a:ext uri="{FF2B5EF4-FFF2-40B4-BE49-F238E27FC236}">
                <a16:creationId xmlns:a16="http://schemas.microsoft.com/office/drawing/2014/main" id="{C19948BD-455C-47A8-BA2E-E3E90D1AC1A7}"/>
              </a:ext>
            </a:extLst>
          </p:cNvPr>
          <p:cNvSpPr>
            <a:spLocks noGrp="1"/>
          </p:cNvSpPr>
          <p:nvPr/>
        </p:nvSpPr>
        <p:spPr>
          <a:xfrm>
            <a:off x="647700" y="2047875"/>
            <a:ext cx="9810750" cy="342900"/>
          </a:xfrm>
          <a:prstGeom prst="rect">
            <a:avLst/>
          </a:prstGeom>
          <a:noFill/>
        </p:spPr>
        <p:txBody>
          <a:bodyPr anchor="t"/>
          <a:lstStyle/>
          <a:p>
            <a:pPr algn="l">
              <a:buNone/>
              <a:defRPr sz="1350" b="0">
                <a:solidFill>
                  <a:srgbClr val="64748B"/>
                </a:solidFill>
                <a:latin typeface="Aptos"/>
                <a:ea typeface="Aptos"/>
                <a:cs typeface="Aptos"/>
              </a:defRPr>
            </a:pPr>
            <a:r>
              <a:rPr sz="1350" b="0">
                <a:solidFill>
                  <a:srgbClr val="64748B"/>
                </a:solidFill>
                <a:latin typeface="Aptos"/>
                <a:ea typeface="Aptos"/>
                <a:cs typeface="Aptos"/>
              </a:rPr>
              <a:t>Giữ lõi dịch theo ngữ cảnh; mở rộng sang tóm tắt, trích task và lập lịch có xác nhận.</a:t>
            </a:r>
          </a:p>
        </p:txBody>
      </p:sp>
      <p:sp>
        <p:nvSpPr>
          <p:cNvPr id="10" name="Rectangle: Rounded Corners 9">
            <a:extLst>
              <a:ext uri="{FF2B5EF4-FFF2-40B4-BE49-F238E27FC236}">
                <a16:creationId xmlns:a16="http://schemas.microsoft.com/office/drawing/2014/main" id="{5FC92D88-CD31-4561-BB72-0A2C1CD2B941}"/>
              </a:ext>
            </a:extLst>
          </p:cNvPr>
          <p:cNvSpPr>
            <a:spLocks noGrp="1"/>
          </p:cNvSpPr>
          <p:nvPr/>
        </p:nvSpPr>
        <p:spPr>
          <a:xfrm>
            <a:off x="685800" y="3048000"/>
            <a:ext cx="2362200" cy="1905000"/>
          </a:xfrm>
          <a:prstGeom prst="roundRect">
            <a:avLst>
              <a:gd name="adj" fmla="val 11000"/>
            </a:avLst>
          </a:prstGeom>
          <a:solidFill>
            <a:srgbClr val="FFFFFF"/>
          </a:solidFill>
          <a:ln w="9525">
            <a:solidFill>
              <a:srgbClr val="DCE6F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1" name="Rectangle: Rounded Corners 10">
            <a:extLst>
              <a:ext uri="{FF2B5EF4-FFF2-40B4-BE49-F238E27FC236}">
                <a16:creationId xmlns:a16="http://schemas.microsoft.com/office/drawing/2014/main" id="{360A47B8-DD49-46C6-A0DB-2CDC9EEFD5C2}"/>
              </a:ext>
            </a:extLst>
          </p:cNvPr>
          <p:cNvSpPr>
            <a:spLocks noGrp="1"/>
          </p:cNvSpPr>
          <p:nvPr/>
        </p:nvSpPr>
        <p:spPr>
          <a:xfrm>
            <a:off x="3390900" y="3048000"/>
            <a:ext cx="2362200" cy="1905000"/>
          </a:xfrm>
          <a:prstGeom prst="roundRect">
            <a:avLst>
              <a:gd name="adj" fmla="val 11000"/>
            </a:avLst>
          </a:prstGeom>
          <a:solidFill>
            <a:srgbClr val="FFFFFF"/>
          </a:solidFill>
          <a:ln w="9525">
            <a:solidFill>
              <a:srgbClr val="DCE6F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2" name="Rectangle: Rounded Corners 11">
            <a:extLst>
              <a:ext uri="{FF2B5EF4-FFF2-40B4-BE49-F238E27FC236}">
                <a16:creationId xmlns:a16="http://schemas.microsoft.com/office/drawing/2014/main" id="{8BA79A37-8FA8-47CF-8A47-829897FEC2C8}"/>
              </a:ext>
            </a:extLst>
          </p:cNvPr>
          <p:cNvSpPr>
            <a:spLocks noGrp="1"/>
          </p:cNvSpPr>
          <p:nvPr/>
        </p:nvSpPr>
        <p:spPr>
          <a:xfrm>
            <a:off x="6096000" y="3048000"/>
            <a:ext cx="2362200" cy="1905000"/>
          </a:xfrm>
          <a:prstGeom prst="roundRect">
            <a:avLst>
              <a:gd name="adj" fmla="val 11000"/>
            </a:avLst>
          </a:prstGeom>
          <a:solidFill>
            <a:srgbClr val="FFFFFF"/>
          </a:solidFill>
          <a:ln w="9525">
            <a:solidFill>
              <a:srgbClr val="DCE6F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Rectangle: Rounded Corners 12">
            <a:extLst>
              <a:ext uri="{FF2B5EF4-FFF2-40B4-BE49-F238E27FC236}">
                <a16:creationId xmlns:a16="http://schemas.microsoft.com/office/drawing/2014/main" id="{E7D0357C-5B06-483C-8351-A29439F205BF}"/>
              </a:ext>
            </a:extLst>
          </p:cNvPr>
          <p:cNvSpPr>
            <a:spLocks noGrp="1"/>
          </p:cNvSpPr>
          <p:nvPr/>
        </p:nvSpPr>
        <p:spPr>
          <a:xfrm>
            <a:off x="8801100" y="3048000"/>
            <a:ext cx="2362200" cy="1905000"/>
          </a:xfrm>
          <a:prstGeom prst="roundRect">
            <a:avLst>
              <a:gd name="adj" fmla="val 11000"/>
            </a:avLst>
          </a:prstGeom>
          <a:solidFill>
            <a:srgbClr val="FFFFFF"/>
          </a:solidFill>
          <a:ln w="9525">
            <a:solidFill>
              <a:srgbClr val="DCE6F5"/>
            </a:solidFill>
            <a:prstDash val="solid"/>
          </a:ln>
        </p:spPr>
        <p:style>
          <a:lnRef idx="0">
            <a:scrgbClr r="0" g="0" b="0"/>
          </a:lnRef>
          <a:fillRef idx="0">
            <a:scrgbClr r="0" g="0" b="0"/>
          </a:fillRef>
          <a:effectRef idx="4">
            <a:scrgbClr r="0" g="0" b="0"/>
          </a:effectRef>
          <a:fontRef idx="major"/>
        </p:style>
        <p:txBody>
          <a:bodyPr/>
          <a:lstStyle/>
          <a:p>
            <a:endParaRPr lang="en-US"/>
          </a:p>
        </p:txBody>
      </p:sp>
      <p:cxnSp>
        <p:nvCxnSpPr>
          <p:cNvPr id="76" name="Straight Arrow Connector 75"/>
          <p:cNvCxnSpPr>
            <a:stCxn id="10" idx="3"/>
            <a:endCxn id="11" idx="1"/>
          </p:cNvCxnSpPr>
          <p:nvPr/>
        </p:nvCxnSpPr>
        <p:spPr>
          <a:xfrm>
            <a:off x="3048000" y="4000500"/>
            <a:ext cx="342900" cy="0"/>
          </a:xfrm>
          <a:prstGeom prst="straightConnector1">
            <a:avLst/>
          </a:prstGeom>
          <a:ln w="19050">
            <a:solidFill>
              <a:srgbClr val="4D8CFF"/>
            </a:solidFill>
            <a:prstDash val="dash"/>
            <a:tailEnd type="triangle" w="sm" len="sm"/>
          </a:ln>
        </p:spPr>
      </p:cxnSp>
      <p:cxnSp>
        <p:nvCxnSpPr>
          <p:cNvPr id="77" name="Straight Arrow Connector 76"/>
          <p:cNvCxnSpPr>
            <a:stCxn id="11" idx="3"/>
            <a:endCxn id="12" idx="1"/>
          </p:cNvCxnSpPr>
          <p:nvPr/>
        </p:nvCxnSpPr>
        <p:spPr>
          <a:xfrm>
            <a:off x="5753100" y="4000500"/>
            <a:ext cx="342900" cy="0"/>
          </a:xfrm>
          <a:prstGeom prst="straightConnector1">
            <a:avLst/>
          </a:prstGeom>
          <a:ln w="19050">
            <a:solidFill>
              <a:srgbClr val="4D8CFF"/>
            </a:solidFill>
            <a:prstDash val="dash"/>
            <a:tailEnd type="triangle" w="sm" len="sm"/>
          </a:ln>
        </p:spPr>
      </p:cxnSp>
      <p:cxnSp>
        <p:nvCxnSpPr>
          <p:cNvPr id="78" name="Straight Arrow Connector 77"/>
          <p:cNvCxnSpPr>
            <a:stCxn id="12" idx="3"/>
            <a:endCxn id="13" idx="1"/>
          </p:cNvCxnSpPr>
          <p:nvPr/>
        </p:nvCxnSpPr>
        <p:spPr>
          <a:xfrm>
            <a:off x="8458200" y="4000500"/>
            <a:ext cx="342900" cy="0"/>
          </a:xfrm>
          <a:prstGeom prst="straightConnector1">
            <a:avLst/>
          </a:prstGeom>
          <a:ln w="19050">
            <a:solidFill>
              <a:srgbClr val="4D8CFF"/>
            </a:solidFill>
            <a:prstDash val="dash"/>
            <a:tailEnd type="triangle" w="sm" len="sm"/>
          </a:ln>
        </p:spPr>
      </p:cxnSp>
      <p:sp>
        <p:nvSpPr>
          <p:cNvPr id="17" name="Rectangle: Rounded Corners 16">
            <a:extLst>
              <a:ext uri="{FF2B5EF4-FFF2-40B4-BE49-F238E27FC236}">
                <a16:creationId xmlns:a16="http://schemas.microsoft.com/office/drawing/2014/main" id="{6B18E2E2-B457-474B-BD0C-109CB83D9778}"/>
              </a:ext>
            </a:extLst>
          </p:cNvPr>
          <p:cNvSpPr>
            <a:spLocks noGrp="1"/>
          </p:cNvSpPr>
          <p:nvPr/>
        </p:nvSpPr>
        <p:spPr>
          <a:xfrm>
            <a:off x="895350" y="3276600"/>
            <a:ext cx="742950" cy="304800"/>
          </a:xfrm>
          <a:prstGeom prst="roundRect">
            <a:avLst>
              <a:gd name="adj" fmla="val 50000"/>
            </a:avLst>
          </a:prstGeom>
          <a:solidFill>
            <a:srgbClr val="246BFD"/>
          </a:solidFill>
        </p:spPr>
        <p:txBody>
          <a:bodyPr anchor="ctr"/>
          <a:lstStyle/>
          <a:p>
            <a:pPr algn="ctr">
              <a:buNone/>
              <a:defRPr sz="825" b="1">
                <a:solidFill>
                  <a:srgbClr val="FFFFFF"/>
                </a:solidFill>
                <a:latin typeface="Aptos"/>
                <a:ea typeface="Aptos"/>
                <a:cs typeface="Aptos"/>
              </a:defRPr>
            </a:pPr>
            <a:r>
              <a:rPr sz="825" b="1">
                <a:solidFill>
                  <a:srgbClr val="FFFFFF"/>
                </a:solidFill>
                <a:latin typeface="Aptos"/>
                <a:ea typeface="Aptos"/>
                <a:cs typeface="Aptos"/>
              </a:rPr>
              <a:t>NOW</a:t>
            </a:r>
          </a:p>
        </p:txBody>
      </p:sp>
      <p:sp>
        <p:nvSpPr>
          <p:cNvPr id="18" name="Rectangle 17">
            <a:extLst>
              <a:ext uri="{FF2B5EF4-FFF2-40B4-BE49-F238E27FC236}">
                <a16:creationId xmlns:a16="http://schemas.microsoft.com/office/drawing/2014/main" id="{B6CC8B3A-1E8E-4AF3-A9F3-903956D6E95D}"/>
              </a:ext>
            </a:extLst>
          </p:cNvPr>
          <p:cNvSpPr>
            <a:spLocks noGrp="1"/>
          </p:cNvSpPr>
          <p:nvPr/>
        </p:nvSpPr>
        <p:spPr>
          <a:xfrm>
            <a:off x="895350" y="3848100"/>
            <a:ext cx="1943100" cy="304800"/>
          </a:xfrm>
          <a:prstGeom prst="rect">
            <a:avLst/>
          </a:prstGeom>
          <a:noFill/>
        </p:spPr>
        <p:txBody>
          <a:bodyPr anchor="t"/>
          <a:lstStyle/>
          <a:p>
            <a:pPr algn="ctr">
              <a:buNone/>
              <a:defRPr sz="1200" b="1">
                <a:solidFill>
                  <a:srgbClr val="246BFD"/>
                </a:solidFill>
                <a:latin typeface="Aptos"/>
                <a:ea typeface="Aptos"/>
                <a:cs typeface="Aptos"/>
              </a:defRPr>
            </a:pPr>
            <a:r>
              <a:rPr sz="1200" b="1">
                <a:solidFill>
                  <a:srgbClr val="246BFD"/>
                </a:solidFill>
                <a:latin typeface="Aptos"/>
                <a:ea typeface="Aptos"/>
                <a:cs typeface="Aptos"/>
              </a:rPr>
              <a:t>CORE TRANSLATION</a:t>
            </a:r>
          </a:p>
        </p:txBody>
      </p:sp>
      <p:sp>
        <p:nvSpPr>
          <p:cNvPr id="19" name="Rectangle 18">
            <a:extLst>
              <a:ext uri="{FF2B5EF4-FFF2-40B4-BE49-F238E27FC236}">
                <a16:creationId xmlns:a16="http://schemas.microsoft.com/office/drawing/2014/main" id="{4C573452-08A1-4E9C-AEDB-7095873790F3}"/>
              </a:ext>
            </a:extLst>
          </p:cNvPr>
          <p:cNvSpPr>
            <a:spLocks noGrp="1"/>
          </p:cNvSpPr>
          <p:nvPr/>
        </p:nvSpPr>
        <p:spPr>
          <a:xfrm>
            <a:off x="895350" y="4333875"/>
            <a:ext cx="1943100" cy="342900"/>
          </a:xfrm>
          <a:prstGeom prst="rect">
            <a:avLst/>
          </a:prstGeom>
          <a:noFill/>
        </p:spPr>
        <p:txBody>
          <a:bodyPr anchor="t"/>
          <a:lstStyle/>
          <a:p>
            <a:pPr algn="ctr">
              <a:buNone/>
              <a:defRPr sz="1200" b="1">
                <a:solidFill>
                  <a:srgbClr val="12233F"/>
                </a:solidFill>
                <a:latin typeface="Aptos"/>
                <a:ea typeface="Aptos"/>
                <a:cs typeface="Aptos"/>
              </a:defRPr>
            </a:pPr>
            <a:r>
              <a:rPr sz="1200" b="1">
                <a:solidFill>
                  <a:srgbClr val="12233F"/>
                </a:solidFill>
                <a:latin typeface="Aptos"/>
                <a:ea typeface="Aptos"/>
                <a:cs typeface="Aptos"/>
              </a:rPr>
              <a:t>role · glossary · fallback</a:t>
            </a:r>
          </a:p>
        </p:txBody>
      </p:sp>
      <p:sp>
        <p:nvSpPr>
          <p:cNvPr id="20" name="Rectangle: Rounded Corners 19">
            <a:extLst>
              <a:ext uri="{FF2B5EF4-FFF2-40B4-BE49-F238E27FC236}">
                <a16:creationId xmlns:a16="http://schemas.microsoft.com/office/drawing/2014/main" id="{12C519FB-C971-4DF6-9C3F-624BFC3E3C34}"/>
              </a:ext>
            </a:extLst>
          </p:cNvPr>
          <p:cNvSpPr>
            <a:spLocks noGrp="1"/>
          </p:cNvSpPr>
          <p:nvPr/>
        </p:nvSpPr>
        <p:spPr>
          <a:xfrm>
            <a:off x="3600450" y="3276600"/>
            <a:ext cx="742950" cy="304800"/>
          </a:xfrm>
          <a:prstGeom prst="roundRect">
            <a:avLst>
              <a:gd name="adj" fmla="val 50000"/>
            </a:avLst>
          </a:prstGeom>
          <a:solidFill>
            <a:srgbClr val="6D38F5"/>
          </a:solidFill>
        </p:spPr>
        <p:txBody>
          <a:bodyPr anchor="ctr"/>
          <a:lstStyle/>
          <a:p>
            <a:pPr algn="ctr">
              <a:buNone/>
              <a:defRPr sz="825" b="1">
                <a:solidFill>
                  <a:srgbClr val="FFFFFF"/>
                </a:solidFill>
                <a:latin typeface="Aptos"/>
                <a:ea typeface="Aptos"/>
                <a:cs typeface="Aptos"/>
              </a:defRPr>
            </a:pPr>
            <a:r>
              <a:rPr sz="750" b="1">
                <a:solidFill>
                  <a:srgbClr val="FFFFFF"/>
                </a:solidFill>
                <a:latin typeface="Aptos"/>
                <a:ea typeface="Aptos"/>
                <a:cs typeface="Aptos"/>
              </a:rPr>
              <a:t>ĐANG LÀM</a:t>
            </a:r>
          </a:p>
        </p:txBody>
      </p:sp>
      <p:sp>
        <p:nvSpPr>
          <p:cNvPr id="21" name="Rectangle 20">
            <a:extLst>
              <a:ext uri="{FF2B5EF4-FFF2-40B4-BE49-F238E27FC236}">
                <a16:creationId xmlns:a16="http://schemas.microsoft.com/office/drawing/2014/main" id="{853A5205-3961-4E28-A108-0962FD7385BC}"/>
              </a:ext>
            </a:extLst>
          </p:cNvPr>
          <p:cNvSpPr>
            <a:spLocks noGrp="1"/>
          </p:cNvSpPr>
          <p:nvPr/>
        </p:nvSpPr>
        <p:spPr>
          <a:xfrm>
            <a:off x="3600450" y="3848100"/>
            <a:ext cx="1943100" cy="304800"/>
          </a:xfrm>
          <a:prstGeom prst="rect">
            <a:avLst/>
          </a:prstGeom>
          <a:noFill/>
        </p:spPr>
        <p:txBody>
          <a:bodyPr anchor="t"/>
          <a:lstStyle/>
          <a:p>
            <a:pPr algn="ctr">
              <a:buNone/>
              <a:defRPr sz="1200" b="1">
                <a:solidFill>
                  <a:srgbClr val="6D38F5"/>
                </a:solidFill>
                <a:latin typeface="Aptos"/>
                <a:ea typeface="Aptos"/>
                <a:cs typeface="Aptos"/>
              </a:defRPr>
            </a:pPr>
            <a:r>
              <a:rPr sz="1200" b="1">
                <a:solidFill>
                  <a:srgbClr val="6D38F5"/>
                </a:solidFill>
                <a:latin typeface="Aptos"/>
                <a:ea typeface="Aptos"/>
                <a:cs typeface="Aptos"/>
              </a:rPr>
              <a:t>AI ASSISTANT</a:t>
            </a:r>
          </a:p>
        </p:txBody>
      </p:sp>
      <p:sp>
        <p:nvSpPr>
          <p:cNvPr id="22" name="Rectangle 21">
            <a:extLst>
              <a:ext uri="{FF2B5EF4-FFF2-40B4-BE49-F238E27FC236}">
                <a16:creationId xmlns:a16="http://schemas.microsoft.com/office/drawing/2014/main" id="{FEE1C513-0EFE-4CF8-B305-11107EF520F3}"/>
              </a:ext>
            </a:extLst>
          </p:cNvPr>
          <p:cNvSpPr>
            <a:spLocks noGrp="1"/>
          </p:cNvSpPr>
          <p:nvPr/>
        </p:nvSpPr>
        <p:spPr>
          <a:xfrm>
            <a:off x="3600450" y="4333875"/>
            <a:ext cx="1943100" cy="342900"/>
          </a:xfrm>
          <a:prstGeom prst="rect">
            <a:avLst/>
          </a:prstGeom>
          <a:noFill/>
        </p:spPr>
        <p:txBody>
          <a:bodyPr anchor="t"/>
          <a:lstStyle/>
          <a:p>
            <a:pPr algn="ctr">
              <a:buNone/>
              <a:defRPr sz="1200" b="1">
                <a:solidFill>
                  <a:srgbClr val="12233F"/>
                </a:solidFill>
                <a:latin typeface="Aptos"/>
                <a:ea typeface="Aptos"/>
                <a:cs typeface="Aptos"/>
              </a:defRPr>
            </a:pPr>
            <a:r>
              <a:rPr sz="1200" b="1">
                <a:solidFill>
                  <a:srgbClr val="12233F"/>
                </a:solidFill>
                <a:latin typeface="Aptos"/>
                <a:ea typeface="Aptos"/>
                <a:cs typeface="Aptos"/>
              </a:rPr>
              <a:t>tóm tắt · trích việc · làm rõ</a:t>
            </a:r>
          </a:p>
        </p:txBody>
      </p:sp>
      <p:sp>
        <p:nvSpPr>
          <p:cNvPr id="23" name="Rectangle: Rounded Corners 22">
            <a:extLst>
              <a:ext uri="{FF2B5EF4-FFF2-40B4-BE49-F238E27FC236}">
                <a16:creationId xmlns:a16="http://schemas.microsoft.com/office/drawing/2014/main" id="{19AAA74B-979D-482D-B79F-226917A0F652}"/>
              </a:ext>
            </a:extLst>
          </p:cNvPr>
          <p:cNvSpPr>
            <a:spLocks noGrp="1"/>
          </p:cNvSpPr>
          <p:nvPr/>
        </p:nvSpPr>
        <p:spPr>
          <a:xfrm>
            <a:off x="6305550" y="3276600"/>
            <a:ext cx="742950" cy="304800"/>
          </a:xfrm>
          <a:prstGeom prst="roundRect">
            <a:avLst>
              <a:gd name="adj" fmla="val 50000"/>
            </a:avLst>
          </a:prstGeom>
          <a:solidFill>
            <a:srgbClr val="15B77E"/>
          </a:solidFill>
        </p:spPr>
        <p:txBody>
          <a:bodyPr anchor="ctr"/>
          <a:lstStyle/>
          <a:p>
            <a:pPr algn="ctr">
              <a:buNone/>
              <a:defRPr sz="825" b="1">
                <a:solidFill>
                  <a:srgbClr val="FFFFFF"/>
                </a:solidFill>
                <a:latin typeface="Aptos"/>
                <a:ea typeface="Aptos"/>
                <a:cs typeface="Aptos"/>
              </a:defRPr>
            </a:pPr>
            <a:r>
              <a:rPr sz="825" b="1">
                <a:solidFill>
                  <a:srgbClr val="FFFFFF"/>
                </a:solidFill>
                <a:latin typeface="Aptos"/>
                <a:ea typeface="Aptos"/>
                <a:cs typeface="Aptos"/>
              </a:rPr>
              <a:t>NEXT</a:t>
            </a:r>
          </a:p>
        </p:txBody>
      </p:sp>
      <p:sp>
        <p:nvSpPr>
          <p:cNvPr id="24" name="Rectangle 23">
            <a:extLst>
              <a:ext uri="{FF2B5EF4-FFF2-40B4-BE49-F238E27FC236}">
                <a16:creationId xmlns:a16="http://schemas.microsoft.com/office/drawing/2014/main" id="{A466A0A6-D616-4D42-BC6C-BB7E34B276E9}"/>
              </a:ext>
            </a:extLst>
          </p:cNvPr>
          <p:cNvSpPr>
            <a:spLocks noGrp="1"/>
          </p:cNvSpPr>
          <p:nvPr/>
        </p:nvSpPr>
        <p:spPr>
          <a:xfrm>
            <a:off x="6305550" y="3848100"/>
            <a:ext cx="1943100" cy="304800"/>
          </a:xfrm>
          <a:prstGeom prst="rect">
            <a:avLst/>
          </a:prstGeom>
          <a:noFill/>
        </p:spPr>
        <p:txBody>
          <a:bodyPr anchor="t"/>
          <a:lstStyle/>
          <a:p>
            <a:pPr algn="ctr">
              <a:buNone/>
              <a:defRPr sz="1200" b="1">
                <a:solidFill>
                  <a:srgbClr val="15B77E"/>
                </a:solidFill>
                <a:latin typeface="Aptos"/>
                <a:ea typeface="Aptos"/>
                <a:cs typeface="Aptos"/>
              </a:defRPr>
            </a:pPr>
            <a:r>
              <a:rPr sz="1088" b="1">
                <a:solidFill>
                  <a:srgbClr val="15B77E"/>
                </a:solidFill>
                <a:latin typeface="Aptos"/>
                <a:ea typeface="Aptos"/>
                <a:cs typeface="Aptos"/>
              </a:rPr>
              <a:t>HUMAN-IN-THE-LOOP</a:t>
            </a:r>
          </a:p>
        </p:txBody>
      </p:sp>
      <p:sp>
        <p:nvSpPr>
          <p:cNvPr id="25" name="Rectangle 24">
            <a:extLst>
              <a:ext uri="{FF2B5EF4-FFF2-40B4-BE49-F238E27FC236}">
                <a16:creationId xmlns:a16="http://schemas.microsoft.com/office/drawing/2014/main" id="{2B4164F2-8F8A-458E-8D79-031147270F94}"/>
              </a:ext>
            </a:extLst>
          </p:cNvPr>
          <p:cNvSpPr>
            <a:spLocks noGrp="1"/>
          </p:cNvSpPr>
          <p:nvPr/>
        </p:nvSpPr>
        <p:spPr>
          <a:xfrm>
            <a:off x="6305550" y="4333875"/>
            <a:ext cx="1943100" cy="342900"/>
          </a:xfrm>
          <a:prstGeom prst="rect">
            <a:avLst/>
          </a:prstGeom>
          <a:noFill/>
        </p:spPr>
        <p:txBody>
          <a:bodyPr anchor="t"/>
          <a:lstStyle/>
          <a:p>
            <a:pPr algn="ctr">
              <a:buNone/>
              <a:defRPr sz="1200" b="1">
                <a:solidFill>
                  <a:srgbClr val="12233F"/>
                </a:solidFill>
                <a:latin typeface="Aptos"/>
                <a:ea typeface="Aptos"/>
                <a:cs typeface="Aptos"/>
              </a:defRPr>
            </a:pPr>
            <a:r>
              <a:rPr sz="1200" b="1">
                <a:solidFill>
                  <a:srgbClr val="12233F"/>
                </a:solidFill>
                <a:latin typeface="Aptos"/>
                <a:ea typeface="Aptos"/>
                <a:cs typeface="Aptos"/>
              </a:rPr>
              <a:t>duyệt trước khi lên lịch</a:t>
            </a:r>
          </a:p>
        </p:txBody>
      </p:sp>
      <p:sp>
        <p:nvSpPr>
          <p:cNvPr id="26" name="Rectangle: Rounded Corners 25">
            <a:extLst>
              <a:ext uri="{FF2B5EF4-FFF2-40B4-BE49-F238E27FC236}">
                <a16:creationId xmlns:a16="http://schemas.microsoft.com/office/drawing/2014/main" id="{166D5E2F-5861-47FB-9736-BFDAEA15B898}"/>
              </a:ext>
            </a:extLst>
          </p:cNvPr>
          <p:cNvSpPr>
            <a:spLocks noGrp="1"/>
          </p:cNvSpPr>
          <p:nvPr/>
        </p:nvSpPr>
        <p:spPr>
          <a:xfrm>
            <a:off x="9010650" y="3276600"/>
            <a:ext cx="742950" cy="304800"/>
          </a:xfrm>
          <a:prstGeom prst="roundRect">
            <a:avLst>
              <a:gd name="adj" fmla="val 50000"/>
            </a:avLst>
          </a:prstGeom>
          <a:solidFill>
            <a:srgbClr val="FFB020"/>
          </a:solidFill>
        </p:spPr>
        <p:txBody>
          <a:bodyPr anchor="ctr"/>
          <a:lstStyle/>
          <a:p>
            <a:pPr algn="ctr">
              <a:buNone/>
              <a:defRPr sz="825" b="1">
                <a:solidFill>
                  <a:srgbClr val="FFFFFF"/>
                </a:solidFill>
                <a:latin typeface="Aptos"/>
                <a:ea typeface="Aptos"/>
                <a:cs typeface="Aptos"/>
              </a:defRPr>
            </a:pPr>
            <a:r>
              <a:rPr sz="825" b="1">
                <a:solidFill>
                  <a:srgbClr val="FFFFFF"/>
                </a:solidFill>
                <a:latin typeface="Aptos"/>
                <a:ea typeface="Aptos"/>
                <a:cs typeface="Aptos"/>
              </a:rPr>
              <a:t>LATER</a:t>
            </a:r>
          </a:p>
        </p:txBody>
      </p:sp>
      <p:sp>
        <p:nvSpPr>
          <p:cNvPr id="27" name="Rectangle 26">
            <a:extLst>
              <a:ext uri="{FF2B5EF4-FFF2-40B4-BE49-F238E27FC236}">
                <a16:creationId xmlns:a16="http://schemas.microsoft.com/office/drawing/2014/main" id="{6A86B758-8317-48D0-AA26-C34BB2431563}"/>
              </a:ext>
            </a:extLst>
          </p:cNvPr>
          <p:cNvSpPr>
            <a:spLocks noGrp="1"/>
          </p:cNvSpPr>
          <p:nvPr/>
        </p:nvSpPr>
        <p:spPr>
          <a:xfrm>
            <a:off x="9010650" y="3848100"/>
            <a:ext cx="1943100" cy="304800"/>
          </a:xfrm>
          <a:prstGeom prst="rect">
            <a:avLst/>
          </a:prstGeom>
          <a:noFill/>
        </p:spPr>
        <p:txBody>
          <a:bodyPr anchor="t"/>
          <a:lstStyle/>
          <a:p>
            <a:pPr algn="ctr">
              <a:buNone/>
              <a:defRPr sz="1200" b="1">
                <a:solidFill>
                  <a:srgbClr val="FFB020"/>
                </a:solidFill>
                <a:latin typeface="Aptos"/>
                <a:ea typeface="Aptos"/>
                <a:cs typeface="Aptos"/>
              </a:defRPr>
            </a:pPr>
            <a:r>
              <a:rPr sz="1200" b="1">
                <a:solidFill>
                  <a:srgbClr val="FFB020"/>
                </a:solidFill>
                <a:latin typeface="Aptos"/>
                <a:ea typeface="Aptos"/>
                <a:cs typeface="Aptos"/>
              </a:rPr>
              <a:t>CALENDAR + VOICE</a:t>
            </a:r>
          </a:p>
        </p:txBody>
      </p:sp>
      <p:sp>
        <p:nvSpPr>
          <p:cNvPr id="28" name="Rectangle 27">
            <a:extLst>
              <a:ext uri="{FF2B5EF4-FFF2-40B4-BE49-F238E27FC236}">
                <a16:creationId xmlns:a16="http://schemas.microsoft.com/office/drawing/2014/main" id="{C44AC2B0-2D6D-4E91-A3FB-EB7B3BD68E69}"/>
              </a:ext>
            </a:extLst>
          </p:cNvPr>
          <p:cNvSpPr>
            <a:spLocks noGrp="1"/>
          </p:cNvSpPr>
          <p:nvPr/>
        </p:nvSpPr>
        <p:spPr>
          <a:xfrm>
            <a:off x="9010650" y="4333875"/>
            <a:ext cx="1943100" cy="342900"/>
          </a:xfrm>
          <a:prstGeom prst="rect">
            <a:avLst/>
          </a:prstGeom>
          <a:noFill/>
        </p:spPr>
        <p:txBody>
          <a:bodyPr anchor="t"/>
          <a:lstStyle/>
          <a:p>
            <a:pPr algn="ctr">
              <a:buNone/>
              <a:defRPr sz="1200" b="1">
                <a:solidFill>
                  <a:srgbClr val="12233F"/>
                </a:solidFill>
                <a:latin typeface="Aptos"/>
                <a:ea typeface="Aptos"/>
                <a:cs typeface="Aptos"/>
              </a:defRPr>
            </a:pPr>
            <a:r>
              <a:rPr sz="1200" b="1">
                <a:solidFill>
                  <a:srgbClr val="12233F"/>
                </a:solidFill>
                <a:latin typeface="Aptos"/>
                <a:ea typeface="Aptos"/>
                <a:cs typeface="Aptos"/>
              </a:rPr>
              <a:t>đồng bộ · tích hợp</a:t>
            </a:r>
          </a:p>
        </p:txBody>
      </p:sp>
      <p:sp>
        <p:nvSpPr>
          <p:cNvPr id="29" name="Rectangle: Rounded Corners 28">
            <a:extLst>
              <a:ext uri="{FF2B5EF4-FFF2-40B4-BE49-F238E27FC236}">
                <a16:creationId xmlns:a16="http://schemas.microsoft.com/office/drawing/2014/main" id="{9FFE5D57-CCAB-4FB0-9E40-3A9719D0F5F6}"/>
              </a:ext>
            </a:extLst>
          </p:cNvPr>
          <p:cNvSpPr>
            <a:spLocks noGrp="1"/>
          </p:cNvSpPr>
          <p:nvPr/>
        </p:nvSpPr>
        <p:spPr>
          <a:xfrm>
            <a:off x="1714500" y="5419725"/>
            <a:ext cx="8763000" cy="685800"/>
          </a:xfrm>
          <a:prstGeom prst="roundRect">
            <a:avLst>
              <a:gd name="adj" fmla="val 27778"/>
            </a:avLst>
          </a:prstGeom>
          <a:gradFill>
            <a:gsLst>
              <a:gs pos="0">
                <a:srgbClr val="EEF4FF"/>
              </a:gs>
              <a:gs pos="100000">
                <a:srgbClr val="F3EEFF"/>
              </a:gs>
            </a:gsLst>
            <a:lin ang="5400000"/>
          </a:gradFill>
          <a:ln w="9525">
            <a:solidFill>
              <a:srgbClr val="DCE6F5"/>
            </a:solidFill>
            <a:prstDash val="solid"/>
          </a:ln>
        </p:spPr>
        <p:txBody>
          <a:bodyPr/>
          <a:lstStyle/>
          <a:p>
            <a:endParaRPr lang="en-US"/>
          </a:p>
        </p:txBody>
      </p:sp>
      <p:sp>
        <p:nvSpPr>
          <p:cNvPr id="30" name="Rectangle 29">
            <a:extLst>
              <a:ext uri="{FF2B5EF4-FFF2-40B4-BE49-F238E27FC236}">
                <a16:creationId xmlns:a16="http://schemas.microsoft.com/office/drawing/2014/main" id="{E9FD1169-DDAF-4429-B0F6-14BB9F88F9A5}"/>
              </a:ext>
            </a:extLst>
          </p:cNvPr>
          <p:cNvSpPr>
            <a:spLocks noGrp="1"/>
          </p:cNvSpPr>
          <p:nvPr/>
        </p:nvSpPr>
        <p:spPr>
          <a:xfrm>
            <a:off x="2019300" y="5581650"/>
            <a:ext cx="8153400" cy="361950"/>
          </a:xfrm>
          <a:prstGeom prst="rect">
            <a:avLst/>
          </a:prstGeom>
          <a:noFill/>
        </p:spPr>
        <p:txBody>
          <a:bodyPr anchor="ctr"/>
          <a:lstStyle/>
          <a:p>
            <a:pPr algn="ctr">
              <a:buNone/>
              <a:defRPr sz="1500" b="1">
                <a:solidFill>
                  <a:srgbClr val="081B3A"/>
                </a:solidFill>
                <a:latin typeface="Aptos"/>
                <a:ea typeface="Aptos"/>
                <a:cs typeface="Aptos"/>
              </a:defRPr>
            </a:pPr>
            <a:r>
              <a:rPr sz="1500" b="1">
                <a:solidFill>
                  <a:srgbClr val="081B3A"/>
                </a:solidFill>
                <a:latin typeface="Aptos"/>
                <a:ea typeface="Aptos"/>
                <a:cs typeface="Aptos"/>
              </a:rPr>
              <a:t>Nguyên tắc: AI chỉ đề xuất — người dùng quyết định</a:t>
            </a:r>
          </a:p>
        </p:txBody>
      </p:sp>
    </p:spTree>
    <p:extLst>
      <p:ext uri="{BB962C8B-B14F-4D97-AF65-F5344CB8AC3E}">
        <p14:creationId xmlns:p14="http://schemas.microsoft.com/office/powerpoint/2010/main" val="9074869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rgbClr val="081B3A"/>
            </a:gs>
            <a:gs pos="55000">
              <a:srgbClr val="16366F"/>
            </a:gs>
            <a:gs pos="100000">
              <a:srgbClr val="6D38F5"/>
            </a:gs>
          </a:gsLst>
          <a:lin ang="7500000"/>
        </a:gradFill>
        <a:effectLst/>
      </p:bgPr>
    </p:bg>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8EB53647-A53A-417C-8985-39A525929713}"/>
              </a:ext>
            </a:extLst>
          </p:cNvPr>
          <p:cNvSpPr>
            <a:spLocks noGrp="1"/>
          </p:cNvSpPr>
          <p:nvPr/>
        </p:nvSpPr>
        <p:spPr>
          <a:xfrm>
            <a:off x="8953500" y="0"/>
            <a:ext cx="3238500" cy="3238500"/>
          </a:xfrm>
          <a:prstGeom prst="ellipse">
            <a:avLst/>
          </a:prstGeom>
          <a:gradFill>
            <a:gsLst>
              <a:gs pos="0">
                <a:srgbClr val="FFFFFF">
                  <a:alpha val="16000"/>
                </a:srgbClr>
              </a:gs>
              <a:gs pos="72000">
                <a:srgbClr val="FFFFFF">
                  <a:alpha val="0"/>
                </a:srgbClr>
              </a:gs>
            </a:gsLst>
            <a:path path="shape"/>
          </a:gradFill>
        </p:spPr>
        <p:txBody>
          <a:bodyPr/>
          <a:lstStyle/>
          <a:p>
            <a:endParaRPr lang="en-US"/>
          </a:p>
        </p:txBody>
      </p:sp>
      <p:sp>
        <p:nvSpPr>
          <p:cNvPr id="2" name="Oval 1">
            <a:extLst>
              <a:ext uri="{FF2B5EF4-FFF2-40B4-BE49-F238E27FC236}">
                <a16:creationId xmlns:a16="http://schemas.microsoft.com/office/drawing/2014/main" id="{8F451DC8-A6FA-4458-A47C-C96432F309EB}"/>
              </a:ext>
            </a:extLst>
          </p:cNvPr>
          <p:cNvSpPr>
            <a:spLocks noGrp="1"/>
          </p:cNvSpPr>
          <p:nvPr/>
        </p:nvSpPr>
        <p:spPr>
          <a:xfrm>
            <a:off x="0" y="4762500"/>
            <a:ext cx="2857500" cy="2095500"/>
          </a:xfrm>
          <a:prstGeom prst="ellipse">
            <a:avLst/>
          </a:prstGeom>
          <a:gradFill>
            <a:gsLst>
              <a:gs pos="0">
                <a:srgbClr val="246BFD">
                  <a:alpha val="34000"/>
                </a:srgbClr>
              </a:gs>
              <a:gs pos="72000">
                <a:srgbClr val="246BFD">
                  <a:alpha val="0"/>
                </a:srgbClr>
              </a:gs>
            </a:gsLst>
            <a:path path="shape"/>
          </a:gradFill>
        </p:spPr>
        <p:txBody>
          <a:bodyPr/>
          <a:lstStyle/>
          <a:p>
            <a:endParaRPr lang="en-US"/>
          </a:p>
        </p:txBody>
      </p:sp>
      <p:sp>
        <p:nvSpPr>
          <p:cNvPr id="3" name="Rectangle: Rounded Corners 2">
            <a:extLst>
              <a:ext uri="{FF2B5EF4-FFF2-40B4-BE49-F238E27FC236}">
                <a16:creationId xmlns:a16="http://schemas.microsoft.com/office/drawing/2014/main" id="{A5A41315-C124-4CAE-92E3-31B9E269B49E}"/>
              </a:ext>
            </a:extLst>
          </p:cNvPr>
          <p:cNvSpPr>
            <a:spLocks noGrp="1"/>
          </p:cNvSpPr>
          <p:nvPr/>
        </p:nvSpPr>
        <p:spPr>
          <a:xfrm>
            <a:off x="647700" y="609600"/>
            <a:ext cx="1352550" cy="304800"/>
          </a:xfrm>
          <a:prstGeom prst="roundRect">
            <a:avLst>
              <a:gd name="adj" fmla="val 50000"/>
            </a:avLst>
          </a:prstGeom>
          <a:solidFill>
            <a:srgbClr val="FFFFFF"/>
          </a:solidFill>
        </p:spPr>
        <p:txBody>
          <a:bodyPr anchor="ctr"/>
          <a:lstStyle/>
          <a:p>
            <a:pPr algn="ctr">
              <a:buNone/>
              <a:defRPr sz="975" b="1">
                <a:solidFill>
                  <a:srgbClr val="246BFD"/>
                </a:solidFill>
                <a:latin typeface="Aptos"/>
                <a:ea typeface="Aptos"/>
                <a:cs typeface="Aptos"/>
              </a:defRPr>
            </a:pPr>
            <a:r>
              <a:rPr sz="975" b="1">
                <a:solidFill>
                  <a:srgbClr val="246BFD"/>
                </a:solidFill>
                <a:latin typeface="Aptos"/>
                <a:ea typeface="Aptos"/>
                <a:cs typeface="Aptos"/>
              </a:rPr>
              <a:t>LINGUAFLOW</a:t>
            </a:r>
          </a:p>
        </p:txBody>
      </p:sp>
      <p:sp>
        <p:nvSpPr>
          <p:cNvPr id="4" name="Rectangle 3">
            <a:extLst>
              <a:ext uri="{FF2B5EF4-FFF2-40B4-BE49-F238E27FC236}">
                <a16:creationId xmlns:a16="http://schemas.microsoft.com/office/drawing/2014/main" id="{4A4351ED-EBC1-4769-AE50-13DD64E65DB6}"/>
              </a:ext>
            </a:extLst>
          </p:cNvPr>
          <p:cNvSpPr>
            <a:spLocks noGrp="1"/>
          </p:cNvSpPr>
          <p:nvPr/>
        </p:nvSpPr>
        <p:spPr>
          <a:xfrm>
            <a:off x="647700" y="1809750"/>
            <a:ext cx="10001250" cy="1333500"/>
          </a:xfrm>
          <a:prstGeom prst="rect">
            <a:avLst/>
          </a:prstGeom>
          <a:noFill/>
        </p:spPr>
        <p:txBody>
          <a:bodyPr anchor="t"/>
          <a:lstStyle/>
          <a:p>
            <a:pPr algn="l">
              <a:buNone/>
              <a:defRPr sz="3600" b="1">
                <a:solidFill>
                  <a:srgbClr val="FFFFFF"/>
                </a:solidFill>
                <a:latin typeface="Aptos"/>
                <a:ea typeface="Aptos"/>
                <a:cs typeface="Aptos"/>
              </a:defRPr>
            </a:pPr>
            <a:r>
              <a:rPr sz="3600" b="1">
                <a:solidFill>
                  <a:srgbClr val="FFFFFF"/>
                </a:solidFill>
                <a:latin typeface="Aptos"/>
                <a:ea typeface="Aptos"/>
                <a:cs typeface="Aptos"/>
              </a:rPr>
              <a:t>Mỗi người một ngôn ngữ.</a:t>
            </a:r>
          </a:p>
          <a:p>
            <a:pPr algn="l">
              <a:buNone/>
              <a:defRPr sz="3600" b="1">
                <a:solidFill>
                  <a:srgbClr val="FFFFFF"/>
                </a:solidFill>
                <a:latin typeface="Aptos"/>
                <a:ea typeface="Aptos"/>
                <a:cs typeface="Aptos"/>
              </a:defRPr>
            </a:pPr>
            <a:r>
              <a:rPr sz="3600" b="1">
                <a:solidFill>
                  <a:srgbClr val="FFFFFF"/>
                </a:solidFill>
                <a:latin typeface="Aptos"/>
                <a:ea typeface="Aptos"/>
                <a:cs typeface="Aptos"/>
              </a:rPr>
              <a:t>Cả nhóm một ngữ cảnh.</a:t>
            </a:r>
          </a:p>
        </p:txBody>
      </p:sp>
      <p:sp>
        <p:nvSpPr>
          <p:cNvPr id="5" name="Rectangle 4">
            <a:extLst>
              <a:ext uri="{FF2B5EF4-FFF2-40B4-BE49-F238E27FC236}">
                <a16:creationId xmlns:a16="http://schemas.microsoft.com/office/drawing/2014/main" id="{6EC7993F-F46F-4889-B6FC-FF9EF4EF96A8}"/>
              </a:ext>
            </a:extLst>
          </p:cNvPr>
          <p:cNvSpPr>
            <a:spLocks noGrp="1"/>
          </p:cNvSpPr>
          <p:nvPr/>
        </p:nvSpPr>
        <p:spPr>
          <a:xfrm>
            <a:off x="647700" y="3486150"/>
            <a:ext cx="7429500" cy="400050"/>
          </a:xfrm>
          <a:prstGeom prst="rect">
            <a:avLst/>
          </a:prstGeom>
          <a:noFill/>
        </p:spPr>
        <p:txBody>
          <a:bodyPr anchor="t"/>
          <a:lstStyle/>
          <a:p>
            <a:pPr algn="l">
              <a:buNone/>
              <a:defRPr sz="1650" b="1">
                <a:solidFill>
                  <a:srgbClr val="DDE8FF"/>
                </a:solidFill>
                <a:latin typeface="Aptos"/>
                <a:ea typeface="Aptos"/>
                <a:cs typeface="Aptos"/>
              </a:defRPr>
            </a:pPr>
            <a:r>
              <a:rPr sz="1650" b="1">
                <a:solidFill>
                  <a:srgbClr val="DDE8FF"/>
                </a:solidFill>
                <a:latin typeface="Aptos"/>
                <a:ea typeface="Aptos"/>
                <a:cs typeface="Aptos"/>
              </a:rPr>
              <a:t>Dịch đúng vai  ·  Đúng ngành  ·  Ngay trong chat</a:t>
            </a:r>
          </a:p>
        </p:txBody>
      </p:sp>
      <p:sp>
        <p:nvSpPr>
          <p:cNvPr id="6" name="Rectangle 5">
            <a:extLst>
              <a:ext uri="{FF2B5EF4-FFF2-40B4-BE49-F238E27FC236}">
                <a16:creationId xmlns:a16="http://schemas.microsoft.com/office/drawing/2014/main" id="{4BDB4F22-D12E-485E-9F58-EB6E50CA6A00}"/>
              </a:ext>
            </a:extLst>
          </p:cNvPr>
          <p:cNvSpPr>
            <a:spLocks noGrp="1"/>
          </p:cNvSpPr>
          <p:nvPr/>
        </p:nvSpPr>
        <p:spPr>
          <a:xfrm>
            <a:off x="647700" y="4648200"/>
            <a:ext cx="4953000" cy="19050"/>
          </a:xfrm>
          <a:prstGeom prst="rect">
            <a:avLst/>
          </a:prstGeom>
          <a:solidFill>
            <a:srgbClr val="FFFFFF">
              <a:alpha val="24000"/>
            </a:srgbClr>
          </a:solidFill>
        </p:spPr>
        <p:txBody>
          <a:bodyPr/>
          <a:lstStyle/>
          <a:p>
            <a:endParaRPr lang="en-US"/>
          </a:p>
        </p:txBody>
      </p:sp>
      <p:sp>
        <p:nvSpPr>
          <p:cNvPr id="7" name="Rectangle 6">
            <a:extLst>
              <a:ext uri="{FF2B5EF4-FFF2-40B4-BE49-F238E27FC236}">
                <a16:creationId xmlns:a16="http://schemas.microsoft.com/office/drawing/2014/main" id="{322FF991-0DA0-470B-9149-B7B01F041B37}"/>
              </a:ext>
            </a:extLst>
          </p:cNvPr>
          <p:cNvSpPr>
            <a:spLocks noGrp="1"/>
          </p:cNvSpPr>
          <p:nvPr/>
        </p:nvSpPr>
        <p:spPr>
          <a:xfrm>
            <a:off x="647700" y="5000625"/>
            <a:ext cx="4476750" cy="323850"/>
          </a:xfrm>
          <a:prstGeom prst="rect">
            <a:avLst/>
          </a:prstGeom>
          <a:noFill/>
        </p:spPr>
        <p:txBody>
          <a:bodyPr anchor="t"/>
          <a:lstStyle/>
          <a:p>
            <a:pPr algn="l">
              <a:buNone/>
              <a:defRPr sz="1500" b="1">
                <a:solidFill>
                  <a:srgbClr val="FFFFFF"/>
                </a:solidFill>
                <a:latin typeface="Aptos"/>
                <a:ea typeface="Aptos"/>
                <a:cs typeface="Aptos"/>
              </a:defRPr>
            </a:pPr>
            <a:r>
              <a:rPr sz="1500" b="1">
                <a:solidFill>
                  <a:srgbClr val="FFFFFF"/>
                </a:solidFill>
                <a:latin typeface="Aptos"/>
                <a:ea typeface="Aptos"/>
                <a:cs typeface="Aptos"/>
              </a:rPr>
              <a:t>Cảm ơn thầy cô và các bạn</a:t>
            </a:r>
          </a:p>
        </p:txBody>
      </p:sp>
      <p:sp>
        <p:nvSpPr>
          <p:cNvPr id="8" name="Rectangle 7">
            <a:extLst>
              <a:ext uri="{FF2B5EF4-FFF2-40B4-BE49-F238E27FC236}">
                <a16:creationId xmlns:a16="http://schemas.microsoft.com/office/drawing/2014/main" id="{A580D3C8-CD0D-4DB5-9942-949730B2F9A3}"/>
              </a:ext>
            </a:extLst>
          </p:cNvPr>
          <p:cNvSpPr>
            <a:spLocks noGrp="1"/>
          </p:cNvSpPr>
          <p:nvPr/>
        </p:nvSpPr>
        <p:spPr>
          <a:xfrm>
            <a:off x="647700" y="5505450"/>
            <a:ext cx="2857500" cy="247650"/>
          </a:xfrm>
          <a:prstGeom prst="rect">
            <a:avLst/>
          </a:prstGeom>
          <a:noFill/>
        </p:spPr>
        <p:txBody>
          <a:bodyPr anchor="t"/>
          <a:lstStyle/>
          <a:p>
            <a:pPr algn="l">
              <a:buNone/>
              <a:defRPr sz="1050" b="1">
                <a:solidFill>
                  <a:srgbClr val="DDE8FF"/>
                </a:solidFill>
                <a:latin typeface="Aptos"/>
                <a:ea typeface="Aptos"/>
                <a:cs typeface="Aptos"/>
              </a:defRPr>
            </a:pPr>
            <a:r>
              <a:rPr sz="1050" b="1">
                <a:solidFill>
                  <a:srgbClr val="DDE8FF"/>
                </a:solidFill>
                <a:latin typeface="Aptos"/>
                <a:ea typeface="Aptos"/>
                <a:cs typeface="Aptos"/>
              </a:rPr>
              <a:t>NHÓM 4U  ·  P-217</a:t>
            </a:r>
          </a:p>
        </p:txBody>
      </p:sp>
      <p:sp>
        <p:nvSpPr>
          <p:cNvPr id="9" name="Rectangle 8">
            <a:extLst>
              <a:ext uri="{FF2B5EF4-FFF2-40B4-BE49-F238E27FC236}">
                <a16:creationId xmlns:a16="http://schemas.microsoft.com/office/drawing/2014/main" id="{FFC7638B-80FC-4D44-AFF7-5E734910499F}"/>
              </a:ext>
            </a:extLst>
          </p:cNvPr>
          <p:cNvSpPr>
            <a:spLocks noGrp="1"/>
          </p:cNvSpPr>
          <p:nvPr/>
        </p:nvSpPr>
        <p:spPr>
          <a:xfrm>
            <a:off x="9715500" y="5219700"/>
            <a:ext cx="1809750" cy="666750"/>
          </a:xfrm>
          <a:prstGeom prst="rect">
            <a:avLst/>
          </a:prstGeom>
          <a:noFill/>
        </p:spPr>
        <p:txBody>
          <a:bodyPr anchor="t"/>
          <a:lstStyle/>
          <a:p>
            <a:pPr algn="r">
              <a:buNone/>
              <a:defRPr sz="4050" b="1">
                <a:solidFill>
                  <a:srgbClr val="FFFFFF"/>
                </a:solidFill>
                <a:latin typeface="Aptos"/>
                <a:ea typeface="Aptos"/>
                <a:cs typeface="Aptos"/>
              </a:defRPr>
            </a:pPr>
            <a:r>
              <a:rPr sz="4050" b="1">
                <a:solidFill>
                  <a:srgbClr val="FFFFFF"/>
                </a:solidFill>
                <a:latin typeface="Aptos"/>
                <a:ea typeface="Aptos"/>
                <a:cs typeface="Aptos"/>
              </a:rPr>
              <a:t>Q&amp;A</a:t>
            </a:r>
          </a:p>
        </p:txBody>
      </p:sp>
    </p:spTree>
    <p:extLst>
      <p:ext uri="{BB962C8B-B14F-4D97-AF65-F5344CB8AC3E}">
        <p14:creationId xmlns:p14="http://schemas.microsoft.com/office/powerpoint/2010/main" val="17810903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1709</Words>
  <Application>Microsoft Office PowerPoint</Application>
  <DocSecurity>0</DocSecurity>
  <PresentationFormat>Widescreen</PresentationFormat>
  <Paragraphs>232</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Quang Minh Đinh</cp:lastModifiedBy>
  <cp:revision>1</cp:revision>
  <dcterms:created xsi:type="dcterms:W3CDTF">2026-08-24T19:30:25Z</dcterms:created>
  <dcterms:modified xsi:type="dcterms:W3CDTF">2026-08-24T19:36:46Z</dcterms:modified>
</cp:coreProperties>
</file>