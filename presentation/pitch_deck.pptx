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C64EB"/>
                </a:solidFill>
              </a:defRPr>
            </a:pPr>
            <a:r>
              <a:t>LinguaFlow (P-217)</a:t>
            </a:r>
          </a:p>
          <a:p>
            <a:pPr>
              <a:defRPr sz="2600" b="1">
                <a:solidFill>
                  <a:srgbClr val="0F173C"/>
                </a:solidFill>
              </a:defRPr>
            </a:pPr>
            <a:r>
              <a:t>AI Agent Dịch tin nhắn Real-time &amp; Trợ lý Hội thoại Thông minh</a:t>
            </a:r>
          </a:p>
          <a:p>
            <a:br/>
            <a:pPr>
              <a:defRPr sz="1800">
                <a:solidFill>
                  <a:srgbClr val="1E2637"/>
                </a:solidFill>
              </a:defRPr>
            </a:pPr>
            <a:r>
              <a:t>Nhóm 4U · VinUni AI20K Build Phase · Pitch Deck &amp; Báo cáo Nghiệm thu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1. Bài toán &amp; Pain Points Thực tế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Rào cản ngôn ngữ trong giao tiếp ba bên (PM ↔ Dev ↔ Khách hàng quốc tế)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37800"/>
                </a:solidFill>
              </a:defRPr>
            </a:pPr>
            <a:r>
              <a:t>❌ Hiểu sai Ngữ cảnh &amp; Thuật ngữ: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Từ viết tắt (API, DB, BE, FE, PR, deploy, hotfix) nếu dịch rời rạc theo nghĩa đen sẽ làm sai lệch specification.</a:t>
            </a:r>
          </a:p>
          <a:p>
            <a:pPr>
              <a:defRPr b="1" sz="1800">
                <a:solidFill>
                  <a:srgbClr val="C37800"/>
                </a:solidFill>
              </a:defRPr>
            </a:pPr>
            <a:r>
              <a:t>❌ Trải nghiệm Dịch bị đứt đoạn: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Công cụ ngoài (Google Translate / DeepL) bắt buộc copy-paste liên tục, gây đứt mạch thảo luận.</a:t>
            </a:r>
          </a:p>
          <a:p>
            <a:pPr>
              <a:defRPr b="1" sz="1800">
                <a:solidFill>
                  <a:srgbClr val="C37800"/>
                </a:solidFill>
              </a:defRPr>
            </a:pPr>
            <a:r>
              <a:t>❌ Bỏ sót Action Items &amp; Deadline: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Trong các phòng chat dài, cam kết và thời hạn dễ bị trôi mất mà không có trợ lý trích xuất tự động.</a:t>
            </a:r>
          </a:p>
          <a:p>
            <a:pPr>
              <a:defRPr b="1" sz="1800">
                <a:solidFill>
                  <a:srgbClr val="C37800"/>
                </a:solidFill>
              </a:defRPr>
            </a:pPr>
            <a:r>
              <a:t>❌ Rủi ro Bảo mật &amp; Quyền riêng tư (PII):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Nguy cơ rò rỉ dữ liệu cá nhân, mật khẩu, STK hoặc tin nhắn nội bộ khi sử dụng AI không có Guardrail.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2. Khảo sát Thị trường &amp; Khoảng trống (Market Gap)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Khoảng trống giữa công cụ truyền thống và nhu cầu làm việc doanh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C64EB"/>
                </a:solidFill>
              </a:defRPr>
            </a:pPr>
            <a:r>
              <a:t>🚀 Real-time WebSocket Streaming: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Google Translate / DeepL không tích hợp sẵn trong chat UI; LinguaFlow hỗ trợ streaming &lt; 1.5s.</a:t>
            </a:r>
          </a:p>
          <a:p>
            <a:pPr>
              <a:defRPr b="1" sz="1800">
                <a:solidFill>
                  <a:srgbClr val="0C64EB"/>
                </a:solidFill>
              </a:defRPr>
            </a:pPr>
            <a:r>
              <a:t>🎯 Glossary theo Đối tượng đọc (Internal vs Client):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Dịch linh hoạt theo vị thế đọc (Dev giữ 'deploy', Khách hàng đổi thành 'triển khai').</a:t>
            </a:r>
          </a:p>
          <a:p>
            <a:pPr>
              <a:defRPr b="1" sz="1800">
                <a:solidFill>
                  <a:srgbClr val="0C64EB"/>
                </a:solidFill>
              </a:defRPr>
            </a:pPr>
            <a:r>
              <a:t>🔄 Human-in-the-Loop Glossary Mining: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Tự động gom cụm phản hồi người dùng (Cosine &gt;= 0.85) -&gt; Đề xuất thuật ngữ mới có Admin duyệt.</a:t>
            </a:r>
          </a:p>
          <a:p>
            <a:pPr>
              <a:defRPr b="1" sz="1800">
                <a:solidFill>
                  <a:srgbClr val="0C64EB"/>
                </a:solidFill>
              </a:defRPr>
            </a:pPr>
            <a:r>
              <a:t>🔒 Song Agent &amp; Privacy Scope (ADR-30):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Assistant Agent tích hợp RAG, trích xuất Task &amp; Google Calendar với lớp bảo mật quyền riêng tư tuyệt đối.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3. Kiến trúc Song Agent (Dual-Agent Architecture)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Phân tách rõ ràng giữa Dịch thuật Real-time và Trợ lý Quản lý Tác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692DD2"/>
                </a:solidFill>
              </a:defRPr>
            </a:pPr>
            <a:r>
              <a:t>1️⃣ Translation Agent (Real-time LangGraph Flow):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Chạy tự động cho mọi tin nhắn; Tích hợp 2-tier detect (langdetect 2ms), context 3-5 tin, audience-aware glossary, và 2-level fallback.</a:t>
            </a:r>
          </a:p>
          <a:p>
            <a:pPr>
              <a:defRPr b="1" sz="1800">
                <a:solidFill>
                  <a:srgbClr val="692DD2"/>
                </a:solidFill>
              </a:defRPr>
            </a:pPr>
            <a:r>
              <a:t>2️⃣ Assistant Agent (Autonomous Planner &amp; RAG):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Kích hoạt khi @assistant hoặc chat riêng; Trả lời riêng tư (visibility = 'private'); Trích xuất Task, Reminder, đồng bộ 2 chiều với Google Calendar.</a:t>
            </a:r>
          </a:p>
          <a:p>
            <a:pPr>
              <a:defRPr b="1" sz="1800">
                <a:solidFill>
                  <a:srgbClr val="692DD2"/>
                </a:solidFill>
              </a:defRPr>
            </a:pPr>
            <a:r>
              <a:t>3️⃣ Hạ tầng dùng chung (Shared Infrastructure):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PostgreSQL + pgvector (RAG Memory), FastAPI WebSocket Gateway, Observability Tracing (Braintrust / Langfuse).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4. Kỹ thuật Xử lý các Case Khó (Advanced Edge Cases)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5 nhóm giải pháp kỹ thuật giải quyết trọn vẹn các thách thức thực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700">
                <a:solidFill>
                  <a:srgbClr val="0C64EB"/>
                </a:solidFill>
              </a:defRPr>
            </a:pPr>
            <a:r>
              <a:t>⚡ Case 1: Tối ưu Latency 2-tier Detect:</a:t>
            </a:r>
          </a:p>
          <a:p>
            <a:pPr>
              <a:defRPr sz="1500">
                <a:solidFill>
                  <a:srgbClr val="1E2637"/>
                </a:solidFill>
              </a:defRPr>
            </a:pPr>
            <a:r>
              <a:t>   Dùng langdetect cục bộ (~2ms). Bỏ bước LLM detect giảm latency từ 2610ms xuống 1501ms (~42.5%).</a:t>
            </a:r>
          </a:p>
          <a:p>
            <a:pPr>
              <a:defRPr b="1" sz="1700">
                <a:solidFill>
                  <a:srgbClr val="0C64EB"/>
                </a:solidFill>
              </a:defRPr>
            </a:pPr>
            <a:r>
              <a:t>👔 Case 2: Audience &amp; Honorific Sensitivity:</a:t>
            </a:r>
          </a:p>
          <a:p>
            <a:pPr>
              <a:defRPr sz="1500">
                <a:solidFill>
                  <a:srgbClr val="1E2637"/>
                </a:solidFill>
              </a:defRPr>
            </a:pPr>
            <a:r>
              <a:t>   Tra cứu Glossary theo đối tượng đọc (Internal vs Client) kết hợp Honorific Profile Fan-out.</a:t>
            </a:r>
          </a:p>
          <a:p>
            <a:pPr>
              <a:defRPr b="1" sz="1700">
                <a:solidFill>
                  <a:srgbClr val="0C64EB"/>
                </a:solidFill>
              </a:defRPr>
            </a:pPr>
            <a:r>
              <a:t>🤖 Case 3: Lọc nhiễu Glossary Mining:</a:t>
            </a:r>
          </a:p>
          <a:p>
            <a:pPr>
              <a:defRPr sz="1500">
                <a:solidFill>
                  <a:srgbClr val="1E2637"/>
                </a:solidFill>
              </a:defRPr>
            </a:pPr>
            <a:r>
              <a:t>   Gom cụm Semantic Embedding (Cosine &gt;= 0.85). Yêu cầu occurrence &gt;= 3 &amp; distinct_users &gt;= 2.</a:t>
            </a:r>
          </a:p>
          <a:p>
            <a:pPr>
              <a:defRPr b="1" sz="1700">
                <a:solidFill>
                  <a:srgbClr val="0C64EB"/>
                </a:solidFill>
              </a:defRPr>
            </a:pPr>
            <a:r>
              <a:t>🔐 Case 4: Bảo vệ PII &amp; Privacy Guardrails:</a:t>
            </a:r>
          </a:p>
          <a:p>
            <a:pPr>
              <a:defRPr sz="1500">
                <a:solidFill>
                  <a:srgbClr val="1E2637"/>
                </a:solidFill>
              </a:defRPr>
            </a:pPr>
            <a:r>
              <a:t>   Xác thực Consent Scope (ADR-30); Log telemetry (ADR-16) mask PII hoàn toàn.</a:t>
            </a:r>
          </a:p>
          <a:p>
            <a:pPr>
              <a:defRPr b="1" sz="1700">
                <a:solidFill>
                  <a:srgbClr val="0C64EB"/>
                </a:solidFill>
              </a:defRPr>
            </a:pPr>
            <a:r>
              <a:t>🛡️ Case 5: 2-Level Fallback chống sập Chat:</a:t>
            </a:r>
          </a:p>
          <a:p>
            <a:pPr>
              <a:defRPr sz="1500">
                <a:solidFill>
                  <a:srgbClr val="1E2637"/>
                </a:solidFill>
              </a:defRPr>
            </a:pPr>
            <a:r>
              <a:t>   Chuyển hướng deep-translator -&gt; Trả nguyên bản với is_fallback=true. Chat hoạt động 100%.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5. Hệ thống Chấm điểm &amp; Đánh giá (Evaluation Framework)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Kết hợp Automated Benchmarking, LLM-as-a-Judge và Human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37800"/>
                </a:solidFill>
              </a:defRPr>
            </a:pPr>
            <a:r>
              <a:t>📊 Golden Set Test Suite (eval/golden_set.jsonl):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62+ kịch bản kiểm thử có nhãn (viết tắt, từ lóng, code snippets, xưng hô).</a:t>
            </a:r>
          </a:p>
          <a:p>
            <a:pPr>
              <a:defRPr b="1" sz="1800">
                <a:solidFill>
                  <a:srgbClr val="C37800"/>
                </a:solidFill>
              </a:defRPr>
            </a:pPr>
            <a:r>
              <a:t>🎯 Bộ Chỉ số Đánh giá Toàn diện: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- BLEU &amp; ChrF Score: Đo độ chính xác n-gram từ vựng chuẩn.</a:t>
            </a:r>
            <a:br/>
            <a:r>
              <a:t>- LLM-as-a-Judge: Đánh giá Fidelity &amp; Completeness (thang điểm 1-5).</a:t>
            </a:r>
            <a:br/>
            <a:r>
              <a:t>- Telemetry 5 Exit Points: Ghi nhận tỷ lệ thành công &amp; fallback.</a:t>
            </a:r>
            <a:br/>
            <a:r>
              <a:t>- User Upvote/Downvote Ratio: Thống kê tỷ lệ hài lòng thực tế người dùng.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6. Kết quả Nghiệm thu Sản phẩm (Product Acceptance)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Hoàn thành 100% MVP &amp; Triển khai thực tế trên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C64EB"/>
                </a:solidFill>
              </a:defRPr>
            </a:pPr>
            <a:r>
              <a:t>✅ Mức độ Hoàn thiện Tính năng: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Đã hoàn thành toàn bộ F-01 -&gt; F-06 + F-07 (Glossary Mining &amp; Admin Panel) + F-08 (Assistant Agent &amp; RAG).</a:t>
            </a:r>
          </a:p>
          <a:p>
            <a:pPr>
              <a:defRPr b="1" sz="1800">
                <a:solidFill>
                  <a:srgbClr val="0C64EB"/>
                </a:solidFill>
              </a:defRPr>
            </a:pPr>
            <a:r>
              <a:t>🧪 Test Suite Pass Rate 100%: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- test_glossary_mining.py: 16/16 PASSED.</a:t>
            </a:r>
            <a:br/>
            <a:r>
              <a:t>- Full Glossary &amp; Admin Suite: 52/52 PASSED.</a:t>
            </a:r>
            <a:br/>
            <a:r>
              <a:t>- Unit &amp; Integration Test Suite: PASSED.</a:t>
            </a:r>
          </a:p>
          <a:p>
            <a:pPr>
              <a:defRPr b="1" sz="1800">
                <a:solidFill>
                  <a:srgbClr val="0C64EB"/>
                </a:solidFill>
              </a:defRPr>
            </a:pPr>
            <a:r>
              <a:t>🌐 Triển khai Thực tế (Live Deployment):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- Frontend: Vercel (linguaflow-4-u3.vercel.app)</a:t>
            </a:r>
            <a:br/>
            <a:r>
              <a:t>- Backend API: Railway (FastAPI + WebSocket Gateway)</a:t>
            </a:r>
            <a:br/>
            <a:r>
              <a:t>- Database: PostgreSQL + pgvector (Railway / Supabase Production DB)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3C"/>
                </a:solidFill>
              </a:defRPr>
            </a:pPr>
            <a:r>
              <a:t>7. Hướng Phát triển &amp; Lộ trình Doanh nghiệp (Roadmap)</a:t>
            </a:r>
          </a:p>
          <a:p>
            <a:pPr>
              <a:defRPr sz="1600" b="1">
                <a:solidFill>
                  <a:srgbClr val="0C64EB"/>
                </a:solidFill>
              </a:defRPr>
            </a:pPr>
            <a:r>
              <a:t>Tích hợp sâu vào quy trình công việc thực tế của Doanh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692DD2"/>
                </a:solidFill>
              </a:defRPr>
            </a:pPr>
            <a:r>
              <a:t>🔄 Đồng bộ 2 chiều Google Calendar &amp; Work Apps: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Tự động hóa Webhook 2 chiều với Google Calendar; Đóng gói Plugin cho Slack, MS Teams, Zalo Work.</a:t>
            </a:r>
          </a:p>
          <a:p>
            <a:pPr>
              <a:defRPr b="1" sz="1800">
                <a:solidFill>
                  <a:srgbClr val="692DD2"/>
                </a:solidFill>
              </a:defRPr>
            </a:pPr>
            <a:r>
              <a:t>🔒 Enterprise RBAC &amp; Phân quyền Bảo mật: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Ranh giới dữ liệu tuyệt đối: Admin quản lý chi phí/thuật ngữ nhưng KHÔNG CÓ QUYỀN đọc tin nhắn nội bộ của nhân viên.</a:t>
            </a:r>
          </a:p>
          <a:p>
            <a:pPr>
              <a:defRPr b="1" sz="1800">
                <a:solidFill>
                  <a:srgbClr val="692DD2"/>
                </a:solidFill>
              </a:defRPr>
            </a:pPr>
            <a:r>
              <a:t>📈 Admin Analytics Dashboard:</a:t>
            </a:r>
          </a:p>
          <a:p>
            <a:pPr>
              <a:defRPr sz="1600">
                <a:solidFill>
                  <a:srgbClr val="1E2637"/>
                </a:solidFill>
              </a:defRPr>
            </a:pPr>
            <a:r>
              <a:t>   Trực quan hóa xu hướng điểm BLEU, tỷ lệ Upvote/Downvote, và chi phí Token theo ngày/model.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