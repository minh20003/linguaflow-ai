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862597ada546a8" /><Relationship Type="http://schemas.openxmlformats.org/officeDocument/2006/relationships/extended-properties" Target="/docProps/app.xml" Id="Rbd68687fef524c7e" /><Relationship Type="http://schemas.openxmlformats.org/officeDocument/2006/relationships/officeDocument" Target="/ppt/presentation.xml" Id="Rc23222e7c22b4c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49dfaf74f84a00"/>
  </p:sldMasterIdLst>
  <p:notesMasterIdLst>
    <p:notesMasterId xmlns:r="http://schemas.openxmlformats.org/officeDocument/2006/relationships" r:id="R80bc7bc3ef3143d7"/>
  </p:notesMasterIdLst>
  <p:sldIdLst>
    <p:sldId xmlns:r="http://schemas.openxmlformats.org/officeDocument/2006/relationships" id="256" r:id="R00844acf14764e20"/>
    <p:sldId xmlns:r="http://schemas.openxmlformats.org/officeDocument/2006/relationships" id="257" r:id="Rafb8b917b3924c50"/>
    <p:sldId xmlns:r="http://schemas.openxmlformats.org/officeDocument/2006/relationships" id="258" r:id="Rb4b9109e43264c70"/>
    <p:sldId xmlns:r="http://schemas.openxmlformats.org/officeDocument/2006/relationships" id="259" r:id="R7f94ba02bda84279"/>
    <p:sldId xmlns:r="http://schemas.openxmlformats.org/officeDocument/2006/relationships" id="260" r:id="R0069bbf04d054e1c"/>
    <p:sldId xmlns:r="http://schemas.openxmlformats.org/officeDocument/2006/relationships" id="261" r:id="R19d5bf88f6174d9c"/>
    <p:sldId xmlns:r="http://schemas.openxmlformats.org/officeDocument/2006/relationships" id="262" r:id="Rd6d15e096be34277"/>
    <p:sldId xmlns:r="http://schemas.openxmlformats.org/officeDocument/2006/relationships" id="263" r:id="R6dd7620e6a324dea"/>
    <p:sldId xmlns:r="http://schemas.openxmlformats.org/officeDocument/2006/relationships" id="264" r:id="R6fd0edf68da24ba9"/>
    <p:sldId xmlns:r="http://schemas.openxmlformats.org/officeDocument/2006/relationships" id="265" r:id="R18d6fa106e5e47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a5218442674550" /><Relationship Type="http://schemas.openxmlformats.org/officeDocument/2006/relationships/slideMaster" Target="/ppt/slideMasters/slideMaster1.xml" Id="Rb149dfaf74f84a00" /><Relationship Type="http://schemas.openxmlformats.org/officeDocument/2006/relationships/notesMaster" Target="/ppt/notesMasters/notesMaster1.xml" Id="R80bc7bc3ef3143d7" /><Relationship Type="http://schemas.openxmlformats.org/officeDocument/2006/relationships/presProps" Target="/ppt/presProps.xml" Id="Rc699fc9271914ae8" /><Relationship Type="http://schemas.openxmlformats.org/officeDocument/2006/relationships/viewProps" Target="/ppt/viewProps.xml" Id="R7474adfc812c4ae5" /><Relationship Type="http://schemas.openxmlformats.org/officeDocument/2006/relationships/tableStyles" Target="/ppt/tableStyles.xml" Id="R76a7b799b6b64fa1" /><Relationship Type="http://schemas.openxmlformats.org/officeDocument/2006/relationships/slide" Target="/ppt/slides/slide1.xml" Id="R00844acf14764e20" /><Relationship Type="http://schemas.openxmlformats.org/officeDocument/2006/relationships/slide" Target="/ppt/slides/slide2.xml" Id="Rafb8b917b3924c50" /><Relationship Type="http://schemas.openxmlformats.org/officeDocument/2006/relationships/slide" Target="/ppt/slides/slide3.xml" Id="Rb4b9109e43264c70" /><Relationship Type="http://schemas.openxmlformats.org/officeDocument/2006/relationships/slide" Target="/ppt/slides/slide4.xml" Id="R7f94ba02bda84279" /><Relationship Type="http://schemas.openxmlformats.org/officeDocument/2006/relationships/slide" Target="/ppt/slides/slide5.xml" Id="R0069bbf04d054e1c" /><Relationship Type="http://schemas.openxmlformats.org/officeDocument/2006/relationships/slide" Target="/ppt/slides/slide6.xml" Id="R19d5bf88f6174d9c" /><Relationship Type="http://schemas.openxmlformats.org/officeDocument/2006/relationships/slide" Target="/ppt/slides/slide7.xml" Id="Rd6d15e096be34277" /><Relationship Type="http://schemas.openxmlformats.org/officeDocument/2006/relationships/slide" Target="/ppt/slides/slide8.xml" Id="R6dd7620e6a324dea" /><Relationship Type="http://schemas.openxmlformats.org/officeDocument/2006/relationships/slide" Target="/ppt/slides/slide9.xml" Id="R6fd0edf68da24ba9" /><Relationship Type="http://schemas.openxmlformats.org/officeDocument/2006/relationships/slide" Target="/ppt/slides/slide10.xml" Id="R18d6fa106e5e47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17818b4ccd48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27eeaa65f24673" /><Relationship Type="http://schemas.openxmlformats.org/officeDocument/2006/relationships/notesMaster" Target="/ppt/notesMasters/notesMaster1.xml" Id="R34d32807655041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99776f3a3f4023" /><Relationship Type="http://schemas.openxmlformats.org/officeDocument/2006/relationships/notesMaster" Target="/ppt/notesMasters/notesMaster1.xml" Id="Rec384db18a7a41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0414143c8441b6" /><Relationship Type="http://schemas.openxmlformats.org/officeDocument/2006/relationships/notesMaster" Target="/ppt/notesMasters/notesMaster1.xml" Id="R6ecc363979e94d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be5c4a9f744727" /><Relationship Type="http://schemas.openxmlformats.org/officeDocument/2006/relationships/notesMaster" Target="/ppt/notesMasters/notesMaster1.xml" Id="Rd2d0e8461b684c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2865cedb3a46a1" /><Relationship Type="http://schemas.openxmlformats.org/officeDocument/2006/relationships/notesMaster" Target="/ppt/notesMasters/notesMaster1.xml" Id="R088e048bca8d43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591c6d9d0142d0" /><Relationship Type="http://schemas.openxmlformats.org/officeDocument/2006/relationships/notesMaster" Target="/ppt/notesMasters/notesMaster1.xml" Id="Rb3b31c06f39f49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2b03eb09de4fb5" /><Relationship Type="http://schemas.openxmlformats.org/officeDocument/2006/relationships/notesMaster" Target="/ppt/notesMasters/notesMaster1.xml" Id="R512d16314c1c4a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11ba7fbb5c4678" /><Relationship Type="http://schemas.openxmlformats.org/officeDocument/2006/relationships/notesMaster" Target="/ppt/notesMasters/notesMaster1.xml" Id="Rabd0ab5c3b4147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1cb59bccd5406b" /><Relationship Type="http://schemas.openxmlformats.org/officeDocument/2006/relationships/notesMaster" Target="/ppt/notesMasters/notesMaster1.xml" Id="R79fc67d062624c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98076a02f343e9" /><Relationship Type="http://schemas.openxmlformats.org/officeDocument/2006/relationships/notesMaster" Target="/ppt/notesMasters/notesMaster1.xml" Id="R1765da140ab844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Visual reference: user-provided LinguaFlow login screenshot at C:/Users/Admin/AppData/Local/Temp/codex-clipboard-70609fe4-503a-451b-93eb-303a79884f27.png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Visual reference: user-provided LinguaFlow login screenshot at C:/Users/Admin/AppData/Local/Temp/codex-clipboard-70609fe4-503a-451b-93eb-303a79884f27.png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Problem statements are based on the mentor feedback and examples supplied by the user.</a:t>
            </a:r>
            <a:endParaRPr/>
          </a:p>
          <a:p xmlns:a="http://schemas.openxmlformats.org/drawingml/2006/main">
            <a:r>
              <a:t>- Project architecture reference: local P-217 translation pipeline and profile/glossary code.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Problem statements are based on the mentor feedback and examples supplied by the user.</a:t>
            </a:r>
            <a:endParaRPr/>
          </a:p>
          <a:p xmlns:a="http://schemas.openxmlformats.org/drawingml/2006/main">
            <a:r>
              <a:t>- Project architecture reference: local P-217 translation pipeline and profile/glossary code.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Market figures inherited from the user-provided deck E:/Downloads/LinguaFlow_Pitch.pptx.</a:t>
            </a:r>
            <a:endParaRPr/>
          </a:p>
          <a:p xmlns:a="http://schemas.openxmlformats.org/drawingml/2006/main">
            <a:r>
              <a:t>- These figures should be independently verified before an external investor or public presentation.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Market figures inherited from the user-provided deck E:/Downloads/LinguaFlow_Pitch.pptx.</a:t>
            </a:r>
            <a:endParaRPr/>
          </a:p>
          <a:p xmlns:a="http://schemas.openxmlformats.org/drawingml/2006/main">
            <a:r>
              <a:t>- These figures should be independently verified before an external investor or public presentation.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Product screenshot: C:/Users/Admin/AppData/Local/Temp/codex-clipboard-9b299762-a4a2-4844-89ef-982beb96bac8.png</a:t>
            </a:r>
            <a:endParaRPr/>
          </a:p>
          <a:p xmlns:a="http://schemas.openxmlformats.org/drawingml/2006/main">
            <a:r>
              <a:t>- Feature claims grounded in the local P-217 pipeline: recipient profiles, domain/audience glossary, and per-recipient translation fanout.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Product screenshot: C:/Users/Admin/AppData/Local/Temp/codex-clipboard-9b299762-a4a2-4844-89ef-982beb96bac8.png</a:t>
            </a:r>
            <a:endParaRPr/>
          </a:p>
          <a:p xmlns:a="http://schemas.openxmlformats.org/drawingml/2006/main">
            <a:r>
              <a:t>- Feature claims grounded in the local P-217 pipeline: recipient profiles, domain/audience glossary, and per-recipient translation fanout.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Microsoft Teams screenshot: C:/Users/Admin/AppData/Local/Temp/codex-clipboard-5814da10-c5f6-450c-987d-7d93c9461aab.png</a:t>
            </a:r>
            <a:endParaRPr/>
          </a:p>
          <a:p xmlns:a="http://schemas.openxmlformats.org/drawingml/2006/main">
            <a:r>
              <a:t>- LinguaFlow screenshot: C:/Users/Admin/AppData/Local/Temp/codex-clipboard-35b0e656-e5b4-4275-b023-cc68199e68bd.png</a:t>
            </a:r>
            <a:endParaRPr/>
          </a:p>
          <a:p xmlns:a="http://schemas.openxmlformats.org/drawingml/2006/main">
            <a:r>
              <a:t>- Claim scope: this specific IT-chat example only; not a universal benchmark against Microsoft Teams.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Microsoft Teams screenshot: C:/Users/Admin/AppData/Local/Temp/codex-clipboard-5814da10-c5f6-450c-987d-7d93c9461aab.png</a:t>
            </a:r>
            <a:endParaRPr/>
          </a:p>
          <a:p xmlns:a="http://schemas.openxmlformats.org/drawingml/2006/main">
            <a:r>
              <a:t>- LinguaFlow screenshot: C:/Users/Admin/AppData/Local/Temp/codex-clipboard-35b0e656-e5b4-4275-b023-cc68199e68bd.png</a:t>
            </a:r>
            <a:endParaRPr/>
          </a:p>
          <a:p xmlns:a="http://schemas.openxmlformats.org/drawingml/2006/main">
            <a:r>
              <a:t>- Claim scope: this specific IT-chat example only; not a universal benchmark against Microsoft Teams.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Local code: translation LangGraph pipeline (detect → context → customization → translate → validate → fallback).</a:t>
            </a:r>
            <a:endParaRPr/>
          </a:p>
          <a:p xmlns:a="http://schemas.openxmlformats.org/drawingml/2006/main">
            <a:r>
              <a:t>- Current settings: context window 5, semantic glossary enabled, fallback enabled, Gemini provider configured in local .env.</a:t>
            </a:r>
            <a:endParaRPr/>
          </a:p>
          <a:p xmlns:a="http://schemas.openxmlformats.org/drawingml/2006/main">
            <a:r>
              <a:t>- Per-recipient fanout groups by target language, honorific profile, and tone.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code: translation LangGraph pipeline (detect → context → customization → translate → validate → fallback).</a:t>
            </a:r>
            <a:endParaRPr/>
          </a:p>
          <a:p xmlns:a="http://schemas.openxmlformats.org/drawingml/2006/main">
            <a:r>
              <a:t>- Current settings: context window 5, semantic glossary enabled, fallback enabled, Gemini provider configured in local .env.</a:t>
            </a:r>
            <a:endParaRPr/>
          </a:p>
          <a:p xmlns:a="http://schemas.openxmlformats.org/drawingml/2006/main">
            <a:r>
              <a:t>- Per-recipient fanout groups by target language, honorific profile, and tone.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Local code: honorific profiles senior/peer/junior/client and relative-standing logic.</a:t>
            </a:r>
            <a:endParaRPr/>
          </a:p>
          <a:p xmlns:a="http://schemas.openxmlformats.org/drawingml/2006/main">
            <a:r>
              <a:t>- Local database inspection: 88 active glossary terms.</a:t>
            </a:r>
            <a:endParaRPr/>
          </a:p>
          <a:p xmlns:a="http://schemas.openxmlformats.org/drawingml/2006/main">
            <a:r>
              <a:t>- Glossary selection supports domain and audience scoping.</a:t>
            </a:r>
            <a:endParaRPr/>
          </a:p>
          <a:p xmlns:a="http://schemas.openxmlformats.org/drawingml/2006/main">
            <a:r>
              <a:t>- Current demo data has empty conversation domain/audience and peer profiles; automatic inference is implemented but should be demonstrated with seeded role/domain data.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code: honorific profiles senior/peer/junior/client and relative-standing logic.</a:t>
            </a:r>
            <a:endParaRPr/>
          </a:p>
          <a:p xmlns:a="http://schemas.openxmlformats.org/drawingml/2006/main">
            <a:r>
              <a:t>- Local database inspection: 88 active glossary terms.</a:t>
            </a:r>
            <a:endParaRPr/>
          </a:p>
          <a:p xmlns:a="http://schemas.openxmlformats.org/drawingml/2006/main">
            <a:r>
              <a:t>- Glossary selection supports domain and audience scoping.</a:t>
            </a:r>
            <a:endParaRPr/>
          </a:p>
          <a:p xmlns:a="http://schemas.openxmlformats.org/drawingml/2006/main">
            <a:r>
              <a:t>- Current demo data has empty conversation domain/audience and peer profiles; automatic inference is implemented but should be demonstrated with seeded role/domain data.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Local focused test run performed during this review: 43 passed, 1 warning.</a:t>
            </a:r>
            <a:endParaRPr/>
          </a:p>
          <a:p xmlns:a="http://schemas.openxmlformats.org/drawingml/2006/main">
            <a:r>
              <a:t>- Local eval report: eval/results/report.md — 62 samples, average judge score 0.912, target-language rate 96.6%.</a:t>
            </a:r>
            <a:endParaRPr/>
          </a:p>
          <a:p xmlns:a="http://schemas.openxmlformats.org/drawingml/2006/main">
            <a:r>
              <a:t>- Evaluation uses an LLM-as-judge, not human raters.</a:t>
            </a:r>
            <a:endParaRPr/>
          </a:p>
          <a:p xmlns:a="http://schemas.openxmlformats.org/drawingml/2006/main">
            <a:r>
              <a:t>- Production/deployment status inherited from the source deck and user-provided live-product screenshots.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focused test run performed during this review: 43 passed, 1 warning.</a:t>
            </a:r>
            <a:endParaRPr/>
          </a:p>
          <a:p xmlns:a="http://schemas.openxmlformats.org/drawingml/2006/main">
            <a:r>
              <a:t>- Local eval report: eval/results/report.md — 62 samples, average judge score 0.912, target-language rate 96.6%.</a:t>
            </a:r>
            <a:endParaRPr/>
          </a:p>
          <a:p xmlns:a="http://schemas.openxmlformats.org/drawingml/2006/main">
            <a:r>
              <a:t>- Evaluation uses an LLM-as-judge, not human raters.</a:t>
            </a:r>
            <a:endParaRPr/>
          </a:p>
          <a:p xmlns:a="http://schemas.openxmlformats.org/drawingml/2006/main">
            <a:r>
              <a:t>- Production/deployment status inherited from the source deck and user-provided live-product screenshots.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Roadmap re-prioritized from the user-provided source deck to deepen the translation moat: organization/domain glossary, human evaluation, then voice and integrations.</a:t>
            </a:r>
            <a:endParaRPr/>
          </a:p>
          <a:p xmlns:a="http://schemas.openxmlformats.org/drawingml/2006/main">
            <a:r>
              <a:t>- Teams/Slack names indicate future integrations only, not current availability.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Roadmap re-prioritized from the user-provided source deck to deepen the translation moat: organization/domain glossary, human evaluation, then voice and integrations.</a:t>
            </a:r>
            <a:endParaRPr/>
          </a:p>
          <a:p xmlns:a="http://schemas.openxmlformats.org/drawingml/2006/main">
            <a:r>
              <a:t>- Teams/Slack names indicate future integrations only, not current availability.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Closing message and project identity based on the user-provided LinguaFlow deck.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Closing message and project identity based on the user-provided LinguaFlow deck.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e5f1f5e56409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4d4f670d85412a" /><Relationship Type="http://schemas.openxmlformats.org/officeDocument/2006/relationships/slideLayout" Target="/ppt/slideLayouts/slideLayout1.xml" Id="R74743986c812456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743986c812456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8793f466f4d0b" /><Relationship Type="http://schemas.openxmlformats.org/officeDocument/2006/relationships/image" Target="/ppt/media/image.png" Id="Rcb4e249e1a824e6b" /><Relationship Type="http://schemas.openxmlformats.org/officeDocument/2006/relationships/image" Target="/ppt/media/image2.png" Id="R22be381deb3b455d" /><Relationship Type="http://schemas.openxmlformats.org/officeDocument/2006/relationships/notesSlide" Target="/ppt/notesSlides/notesSlide1.xml" Id="R9458a4344b6b42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175d12219405d" /><Relationship Type="http://schemas.openxmlformats.org/officeDocument/2006/relationships/image" Target="/ppt/media/image3.png" Id="R0e74f58735da42a6" /><Relationship Type="http://schemas.openxmlformats.org/officeDocument/2006/relationships/notesSlide" Target="/ppt/notesSlides/notesSlide2.xml" Id="Ra6454f1d48d949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b6155ac3545bc" /><Relationship Type="http://schemas.openxmlformats.org/officeDocument/2006/relationships/image" Target="/ppt/media/image4.png" Id="Rf0811f6923df4d4b" /><Relationship Type="http://schemas.openxmlformats.org/officeDocument/2006/relationships/notesSlide" Target="/ppt/notesSlides/notesSlide3.xml" Id="R43ac670cd5ad4c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c6d18e44c4a45" /><Relationship Type="http://schemas.openxmlformats.org/officeDocument/2006/relationships/image" Target="/ppt/media/image5.png" Id="Rfa5cb41452a14727" /><Relationship Type="http://schemas.openxmlformats.org/officeDocument/2006/relationships/image" Target="/ppt/media/image6.png" Id="R0030c2e3c31045fb" /><Relationship Type="http://schemas.openxmlformats.org/officeDocument/2006/relationships/notesSlide" Target="/ppt/notesSlides/notesSlide4.xml" Id="R8e45a585e61f42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0b15097b3406c" /><Relationship Type="http://schemas.openxmlformats.org/officeDocument/2006/relationships/image" Target="/ppt/media/image7.png" Id="R583a1ccacde1411a" /><Relationship Type="http://schemas.openxmlformats.org/officeDocument/2006/relationships/image" Target="/ppt/media/image8.png" Id="Rfe1d18b34fb14399" /><Relationship Type="http://schemas.openxmlformats.org/officeDocument/2006/relationships/image" Target="/ppt/media/image9.png" Id="R55710a61c7a747bc" /><Relationship Type="http://schemas.openxmlformats.org/officeDocument/2006/relationships/notesSlide" Target="/ppt/notesSlides/notesSlide5.xml" Id="R64c5c04ab87149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93410f17e4084" /><Relationship Type="http://schemas.openxmlformats.org/officeDocument/2006/relationships/image" Target="/ppt/media/image10.png" Id="R89d26ea9920c412a" /><Relationship Type="http://schemas.openxmlformats.org/officeDocument/2006/relationships/notesSlide" Target="/ppt/notesSlides/notesSlide6.xml" Id="Rfed8c1e6a5144b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32e18cd184c04" /><Relationship Type="http://schemas.openxmlformats.org/officeDocument/2006/relationships/image" Target="/ppt/media/image11.png" Id="R79c961cdbe6f4946" /><Relationship Type="http://schemas.openxmlformats.org/officeDocument/2006/relationships/notesSlide" Target="/ppt/notesSlides/notesSlide7.xml" Id="Rda7fdcfe9e3d46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287212d9844d7" /><Relationship Type="http://schemas.openxmlformats.org/officeDocument/2006/relationships/image" Target="/ppt/media/image12.png" Id="R928aca77bf054142" /><Relationship Type="http://schemas.openxmlformats.org/officeDocument/2006/relationships/notesSlide" Target="/ppt/notesSlides/notesSlide8.xml" Id="Rd04e2b53da0e42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28ea345ce43d4" /><Relationship Type="http://schemas.openxmlformats.org/officeDocument/2006/relationships/image" Target="/ppt/media/image13.png" Id="R311d8f5b714248ad" /><Relationship Type="http://schemas.openxmlformats.org/officeDocument/2006/relationships/notesSlide" Target="/ppt/notesSlides/notesSlide9.xml" Id="Rca9ce42e62d146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f7499850f4016" /><Relationship Type="http://schemas.openxmlformats.org/officeDocument/2006/relationships/image" Target="/ppt/media/image14.png" Id="R330b432eb25744bc" /><Relationship Type="http://schemas.openxmlformats.org/officeDocument/2006/relationships/notesSlide" Target="/ppt/notesSlides/notesSlide10.xml" Id="Rd156989348ca4c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3A973-7D2D-407C-9EA5-EFB301DB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2857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8DB11-AE70-4283-89E3-A526FA5A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54639-D794-41E5-B5A0-4854BBA4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LINGUAFLOW · P-217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362D2-E0BE-471E-939E-9DC1A3CD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Dịch đúng vai.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Đúng ngành.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19E6F-7609-4BBD-A9F4-3128E61C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D38F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D38F5"/>
                </a:solidFill>
                <a:latin typeface="Aptos"/>
                <a:ea typeface="Aptos"/>
                <a:cs typeface="Aptos"/>
              </a:rPr>
              <a:t>Ngay trong cuộc trò chuyện.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C6C6A-0E45-4E45-97C4-61E2C4A4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461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translation cho đội ngũ đa ngôn ngữ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20833-3285-4552-9D7C-4845D8CC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123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>
              <a:alpha val="10000"/>
            </a:srgbClr>
          </a:solidFill>
          <a:ln xmlns:a="http://schemas.openxmlformats.org/drawingml/2006/main" w="9525">
            <a:solidFill>
              <a:srgbClr val="246BFD">
                <a:alpha val="25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ROLE-AWARE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3B16D-62DC-4744-B4EF-0196E730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62450"/>
            <a:ext cx="1257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38F5">
              <a:alpha val="10000"/>
            </a:srgbClr>
          </a:solidFill>
          <a:ln xmlns:a="http://schemas.openxmlformats.org/drawingml/2006/main" w="9525">
            <a:solidFill>
              <a:srgbClr val="6D38F5">
                <a:alpha val="25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38F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38F5"/>
                </a:solidFill>
                <a:latin typeface="Aptos"/>
                <a:ea typeface="Aptos"/>
                <a:cs typeface="Aptos"/>
              </a:rPr>
              <a:t>DOMAIN-AWARE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CF99F-9F01-4708-A10A-92F3918E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6245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77E">
              <a:alpha val="10000"/>
            </a:srgbClr>
          </a:solidFill>
          <a:ln xmlns:a="http://schemas.openxmlformats.org/drawingml/2006/main" w="9525">
            <a:solidFill>
              <a:srgbClr val="15B77E">
                <a:alpha val="25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B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B77E"/>
                </a:solidFill>
                <a:latin typeface="Aptos"/>
                <a:ea typeface="Aptos"/>
                <a:cs typeface="Aptos"/>
              </a:rPr>
              <a:t>REAL-TIME CHAT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EA8F6-1EF7-4E75-8756-13464A1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52550"/>
            <a:ext cx="5429250" cy="33528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DFDFC"/>
          </a:solidFill>
          <a:ln xmlns:a="http://schemas.openxmlformats.org/drawingml/2006/main" w="19050">
            <a:solidFill>
              <a:srgbClr val="08BC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e249e1a824e6b"/>
          <a:stretch xmlns:a="http://schemas.openxmlformats.org/drawingml/2006/main"/>
        </p:blipFill>
        <p:spPr>
          <a:xfrm xmlns:a="http://schemas.openxmlformats.org/drawingml/2006/main">
            <a:off x="6286500" y="1525499"/>
            <a:ext cx="5086350" cy="2435401"/>
          </a:xfrm>
          <a:prstGeom xmlns:a="http://schemas.openxmlformats.org/drawingml/2006/main" prst="roundRect">
            <a:avLst>
              <a:gd name="adj" fmla="val 781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33F1A-2D36-472B-8637-4DB6FB95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Chat beyond language barriers.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6C080-8070-4421-A069-8CAEF737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0075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Visual system lấy trực tiếp từ web đang chạy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9B1D1-F86A-4550-A3FC-6845F31C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NHÓM 4U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033DB-BAEB-476D-AC42-7F09048B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1912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VINUNI AI20K BUILD PHASE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9A31C-99FF-4D2B-B77A-298D01C8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6725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e381deb3b455d"/>
          <a:stretch xmlns:a="http://schemas.openxmlformats.org/drawingml/2006/main"/>
        </p:blipFill>
        <p:spPr>
          <a:xfrm xmlns:a="http://schemas.openxmlformats.org/drawingml/2006/main">
            <a:off x="1154894" y="495300"/>
            <a:ext cx="947763" cy="533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4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714C1-B03F-4742-876C-B84ACD6D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oundRect">
            <a:avLst>
              <a:gd name="adj" fmla="val 29412"/>
            </a:avLst>
          </a:prstGeom>
          <a:gradFill xmlns:a="http://schemas.openxmlformats.org/drawingml/2006/main">
            <a:gsLst>
              <a:gs pos="0">
                <a:srgbClr val="246BFD"/>
              </a:gs>
              <a:gs pos="100000">
                <a:srgbClr val="6D38F5"/>
              </a:gs>
            </a:gsLst>
            <a:lin ang="81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E919A-4C35-479A-9900-2F45B6A7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84A2E-3606-4D36-9701-E96C17D4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LinguaFlow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1E23E-DF3D-4F84-9F54-E2989B5D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VẤN ĐỀ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26A20-4E2F-4C71-AF40-5E18F200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9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0431D-D491-4031-92A9-47DA69D6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FC1A8-F4FD-40F7-80C9-9F860EB6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Dịch đúng nghĩa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vẫn có thể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F85D6-50CD-4156-AA50-358D0F90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6D38F5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6D38F5"/>
                </a:solidFill>
                <a:latin typeface="Aptos"/>
                <a:ea typeface="Aptos"/>
                <a:cs typeface="Aptos"/>
              </a:rPr>
              <a:t>sai người, sai việc.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944ED-F1DF-4799-9A0D-029D2F1B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Trong chat công việc, một câu dịch máy có thể đúng từ — nhưng sai hoàn cảnh.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BBF09-523C-48B7-A41E-8E80D986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53340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7466B-EAA3-49F7-B18A-B388024F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287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A7E8D-9B2D-4D9E-BF40-8FC64E2F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62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SAI VAI VẾ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75DC6-436A-4CAC-BA49-1913208A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050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3F"/>
                </a:solidFill>
                <a:latin typeface="Aptos"/>
                <a:ea typeface="Aptos"/>
                <a:cs typeface="Aptos"/>
              </a:rPr>
              <a:t>Xưng hô không khớp senior · peer · 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46844-AEF9-4B9E-AC0D-734DC753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52725"/>
            <a:ext cx="53340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2ADB4-6A46-4A64-8387-CE153209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38F5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19A63-EEB0-404D-B065-A93B4D19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00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D38F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D38F5"/>
                </a:solidFill>
                <a:latin typeface="Aptos"/>
                <a:ea typeface="Aptos"/>
                <a:cs typeface="Aptos"/>
              </a:rPr>
              <a:t>SAI THUẬT NGỮ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CB129-BF35-403E-8EAA-8CE6B4C6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432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3F"/>
                </a:solidFill>
                <a:latin typeface="Aptos"/>
                <a:ea typeface="Aptos"/>
                <a:cs typeface="Aptos"/>
              </a:rPr>
              <a:t>fix · staging · endpoint bị dịch thô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AD79C-311F-4140-8000-16183119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334000" cy="1181100"/>
          </a:xfrm>
          <a:prstGeom xmlns:a="http://schemas.openxmlformats.org/drawingml/2006/main" prst="roundRect">
            <a:avLst>
              <a:gd name="adj" fmla="val 1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02A99-A3AC-4A7D-96E2-15DAF449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5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BAAF8E-C3E0-40F9-B9DD-CF59C835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F5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F5B5B"/>
                </a:solidFill>
                <a:latin typeface="Aptos"/>
                <a:ea typeface="Aptos"/>
                <a:cs typeface="Aptos"/>
              </a:rPr>
              <a:t>MẤT NGỮ CẢNH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E5A57-5DF4-4E27-AF50-720848A2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815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3F"/>
                </a:solidFill>
                <a:latin typeface="Aptos"/>
                <a:ea typeface="Aptos"/>
                <a:cs typeface="Aptos"/>
              </a:rPr>
              <a:t>Mỗi câu bị xử lý như một đoạn rời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59941-431D-40F4-A037-5D2E3CCA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5715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B3A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VẤN ĐỀ KHÔNG CHỈ LÀ NGÔN NGỮ — MÀ LÀ NGỮ CẢNH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217782-E048-4C59-A347-95EB20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4f58735da42a6"/>
          <a:stretch xmlns:a="http://schemas.openxmlformats.org/drawingml/2006/main"/>
        </p:blipFill>
        <p:spPr>
          <a:xfrm xmlns:a="http://schemas.openxmlformats.org/drawingml/2006/main">
            <a:off x="1106165" y="342900"/>
            <a:ext cx="778519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65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914AEC-F19C-4D67-9063-C47551B2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oundRect">
            <a:avLst>
              <a:gd name="adj" fmla="val 29412"/>
            </a:avLst>
          </a:prstGeom>
          <a:gradFill xmlns:a="http://schemas.openxmlformats.org/drawingml/2006/main">
            <a:gsLst>
              <a:gs pos="0">
                <a:srgbClr val="246BFD"/>
              </a:gs>
              <a:gs pos="100000">
                <a:srgbClr val="6D38F5"/>
              </a:gs>
            </a:gsLst>
            <a:lin ang="81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3186C-6444-4990-BEF9-4423A3C4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57E82-932A-44C7-9A35-834504BC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LinguaFlow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C166F-958B-463C-9D87-1D801014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KHÁCH HÀNG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6DD9D-2E5D-410F-B7F1-3456C053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9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3D79D-E9CD-468E-A5FA-8830EB50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FF48C-6F94-4D18-9801-341FD4CF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NGƯỜI DÙNG ĐẦU TIÊN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22D42-7FD6-46FA-B881-438971C0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Một luồng chat. Ba góc nhìn. Một mục tiêu chung.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AA0DC-3185-4FB9-AADF-DC5B961A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Đội dự án đa ngôn ngữ cần giữ đúng ý, đúng vai và đúng tiến độ — trong cùng một cuộc trò chuyện.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B6529-33F5-4592-944D-08467B40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390900" cy="214312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22FD8-F492-4800-B0FE-92655CCA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3909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3F26C-03D6-4D0A-A5B7-25165F20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BA8C6-F883-4A9C-BDAE-C83EB169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NGƯỜI GIỮ TIẾN ĐỘ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9604B-469C-48A6-92B3-137CA6C3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gom yêu cầu · phân công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F5A5D-5B0F-458A-95E6-94C7EEBA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90900" cy="214312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44762-4573-4A56-A18F-8877621D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909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38F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3F4C7-8B1E-43F2-8E9C-0D8B19A3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5755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DEV / DESIGNER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E7F09C-1879-4C93-B6A0-BEB1209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624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D38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38F5"/>
                </a:solidFill>
                <a:latin typeface="Aptos"/>
                <a:ea typeface="Aptos"/>
                <a:cs typeface="Aptos"/>
              </a:rPr>
              <a:t>NGƯỜI TRIỂN KHAI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90E35-575D-4468-B0F0-D6C2A0BC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434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giữ thuật ngữ · tránh hiểu sai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793CA-F472-4998-AD0E-D0C9EAB2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3390900" cy="214312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E9E35-D600-49A2-B28E-12D2B047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33909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77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1B45F-675B-4EEC-941C-A1AC9D5A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CLIENT QUỐC TẾ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17384-9D9D-42F8-A1A0-661F10FF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B7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B77E"/>
                </a:solidFill>
                <a:latin typeface="Aptos"/>
                <a:ea typeface="Aptos"/>
                <a:cs typeface="Aptos"/>
              </a:rPr>
              <a:t>NGƯỜI PHÊ DUYỆT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2D8BD7-832A-4CE8-B72B-80C7BADA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nhận bản dịch rõ · đúng ngữ cảnh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E10A5C-91E2-4D50-8B5B-B941D981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782300" cy="800100"/>
          </a:xfrm>
          <a:prstGeom xmlns:a="http://schemas.openxmlformats.org/drawingml/2006/main" prst="roundRect">
            <a:avLst>
              <a:gd name="adj" fmla="val 23810"/>
            </a:avLst>
          </a:prstGeom>
          <a:gradFill xmlns:a="http://schemas.openxmlformats.org/drawingml/2006/main">
            <a:gsLst>
              <a:gs pos="0">
                <a:srgbClr val="246BFD"/>
              </a:gs>
              <a:gs pos="100000">
                <a:srgbClr val="6D38F5"/>
              </a:gs>
            </a:gsLst>
            <a:lin ang="5400000"/>
          </a:gra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92250-C1E2-4855-8588-FF037234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05450"/>
            <a:ext cx="1028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LinguaFlow bắt đầu ở nơi sai một câu chat có thể kéo lệch cả một hạng mục.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20981C-62D2-4205-AA33-576671E6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11f6923df4d4b"/>
          <a:stretch xmlns:a="http://schemas.openxmlformats.org/drawingml/2006/main"/>
        </p:blipFill>
        <p:spPr>
          <a:xfrm xmlns:a="http://schemas.openxmlformats.org/drawingml/2006/main">
            <a:off x="1106165" y="342900"/>
            <a:ext cx="778519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86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D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993C1-B0F8-4CE4-A314-19565C37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oundRect">
            <a:avLst>
              <a:gd name="adj" fmla="val 29412"/>
            </a:avLst>
          </a:prstGeom>
          <a:gradFill xmlns:a="http://schemas.openxmlformats.org/drawingml/2006/main">
            <a:gsLst>
              <a:gs pos="0">
                <a:srgbClr val="246BFD"/>
              </a:gs>
              <a:gs pos="100000">
                <a:srgbClr val="6D38F5"/>
              </a:gs>
            </a:gsLst>
            <a:lin ang="81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64835-2A25-44E2-8EEC-421D6BC6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F3678-F5EE-46AF-8CB3-481C9127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LinguaFlow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B5EA9-CF38-4CFA-85C9-5C31C040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SẢN PHẨM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A899A-BA9A-4BC5-BD9A-8044F65D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9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09A99-3F75-4BCC-99D5-5CE5F5A8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826CB-6C7F-4ECF-AF70-A2C7CE0C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162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A82A4-42CD-47AC-B6A7-919B1ECF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5286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Không chỉ dịch câu chữ.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LinguaFlow hiểu người nhận và lĩnh vực.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924BD-C7B6-42C4-8E27-E8D05254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2F740-C871-4446-94FB-A193EDC2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ĐÚNG VAI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B912E-0290-4C65-8290-1227F9F8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0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3F"/>
                </a:solidFill>
                <a:latin typeface="Aptos"/>
                <a:ea typeface="Aptos"/>
                <a:cs typeface="Aptos"/>
              </a:rPr>
              <a:t>Tự điều chỉnh cách xưng hô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4B877-99BC-4EAE-9D28-88886E81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2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38F5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01DC6-5E1D-404F-9AE4-CDC6BF3E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D38F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38F5"/>
                </a:solidFill>
                <a:latin typeface="Aptos"/>
                <a:ea typeface="Aptos"/>
                <a:cs typeface="Aptos"/>
              </a:rPr>
              <a:t>ĐÚNG NGÀNH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86EE9-ACF7-415C-8923-0E25592B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814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3F"/>
                </a:solidFill>
                <a:latin typeface="Aptos"/>
                <a:ea typeface="Aptos"/>
                <a:cs typeface="Aptos"/>
              </a:rPr>
              <a:t>Giữ thuật ngữ theo lĩnh vực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AB131-C056-4079-A527-FAD5BC1E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77E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E8E51-F0EF-4D47-BCA9-7D408925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5B7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B77E"/>
                </a:solidFill>
                <a:latin typeface="Aptos"/>
                <a:ea typeface="Aptos"/>
                <a:cs typeface="Aptos"/>
              </a:rPr>
              <a:t>ĐÚNG NGƯỜI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9E4AC-DD2C-49A3-AE51-72FDEF9D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625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3F"/>
                </a:solidFill>
                <a:latin typeface="Aptos"/>
                <a:ea typeface="Aptos"/>
                <a:cs typeface="Aptos"/>
              </a:rPr>
              <a:t>Mỗi thành viên một ngôn ngữ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D0F9E-259A-4888-B8FB-B95E1C20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52525"/>
            <a:ext cx="5619750" cy="4762500"/>
          </a:xfrm>
          <a:prstGeom xmlns:a="http://schemas.openxmlformats.org/drawingml/2006/main" prst="roundRect">
            <a:avLst>
              <a:gd name="adj" fmla="val 5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BCF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cb41452a14727"/>
          <a:srcRect xmlns:a="http://schemas.openxmlformats.org/drawingml/2006/main" l="22500" t="0" r="2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323975"/>
            <a:ext cx="5276850" cy="4419600"/>
          </a:xfrm>
          <a:prstGeom xmlns:a="http://schemas.openxmlformats.org/drawingml/2006/main" prst="roundRect">
            <a:avLst>
              <a:gd name="adj" fmla="val 431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10E5E-A843-449D-B903-9FC64231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72125"/>
            <a:ext cx="1952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DỊCH NGAY TRONG CHAT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FC6880-9BD8-4E72-A3EA-30D58607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0c2e3c31045fb"/>
          <a:stretch xmlns:a="http://schemas.openxmlformats.org/drawingml/2006/main"/>
        </p:blipFill>
        <p:spPr>
          <a:xfrm xmlns:a="http://schemas.openxmlformats.org/drawingml/2006/main">
            <a:off x="1106165" y="342900"/>
            <a:ext cx="778519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731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D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03070B-945C-4943-AC96-12F34347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oundRect">
            <a:avLst>
              <a:gd name="adj" fmla="val 29412"/>
            </a:avLst>
          </a:prstGeom>
          <a:gradFill xmlns:a="http://schemas.openxmlformats.org/drawingml/2006/main">
            <a:gsLst>
              <a:gs pos="0">
                <a:srgbClr val="246BFD"/>
              </a:gs>
              <a:gs pos="100000">
                <a:srgbClr val="6D38F5"/>
              </a:gs>
            </a:gsLst>
            <a:lin ang="81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7D0EB-0DED-4C74-8DD3-501869D8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4BDB4-90AB-4CDF-941E-462297DF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LinguaFlow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3972D-8F99-456F-B580-35B4AA40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SO SÁNH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8B77C-4B82-4D64-A4DB-40E169F4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9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FAAF6-D31F-4181-9938-48DB9415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01516-614B-44D8-9FF7-313B549D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BEFORE / AFTER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EEF69-DDC7-4282-A937-541A6603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Cùng một đoạn chat IT — khác biệt nằm ở ngữ cảnh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69488-13DF-4BD0-8458-53D487D8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 sánh giới hạn trong ví dụ thực tế do nhóm cung cấp.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9016A-659F-4C1A-85AD-AA3CDDA3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5219700" cy="27241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D2514-2935-43F8-807F-75000877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5448300" cy="27241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24B9D-F4B8-42C5-9609-CC7956D5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562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9525">
            <a:solidFill>
              <a:srgbClr val="46464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6C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6C8FF"/>
                </a:solidFill>
                <a:latin typeface="Aptos"/>
                <a:ea typeface="Aptos"/>
                <a:cs typeface="Aptos"/>
              </a:rPr>
              <a:t>MICROSOFT 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60357-3D42-4BC0-845B-691CCB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1314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4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LINGUAFLOW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a1ccacde1411a"/>
          <a:srcRect xmlns:a="http://schemas.openxmlformats.org/drawingml/2006/main" l="0" t="23146" r="0" b="231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200400"/>
            <a:ext cx="4876800" cy="20002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d18b34fb14399"/>
          <a:srcRect xmlns:a="http://schemas.openxmlformats.org/drawingml/2006/main" l="0" t="8169" r="0" b="81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3200400"/>
            <a:ext cx="5105400" cy="20002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985E5-1E31-482E-A7D3-432C6610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9050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1F1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6353B-F411-4672-A6B0-88FD1D41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9050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1F1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17FCD-B1E0-4F36-A684-EADD7674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21907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1F1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9B07CC-8107-49BC-86BE-BE17B560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228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5B5B">
              <a:alpha val="10000"/>
            </a:srgbClr>
          </a:solidFill>
          <a:ln xmlns:a="http://schemas.openxmlformats.org/drawingml/2006/main" w="9525">
            <a:solidFill>
              <a:srgbClr val="EF5B5B">
                <a:alpha val="25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EF5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5B5B"/>
                </a:solidFill>
                <a:latin typeface="Aptos"/>
                <a:ea typeface="Aptos"/>
                <a:cs typeface="Aptos"/>
              </a:rPr>
              <a:t>“đẩy việc sửa sang giai đoạn”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22906-F404-4F9E-9441-263CEFD1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76875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5B5B">
              <a:alpha val="10000"/>
            </a:srgbClr>
          </a:solidFill>
          <a:ln xmlns:a="http://schemas.openxmlformats.org/drawingml/2006/main" w="9525">
            <a:solidFill>
              <a:srgbClr val="EF5B5B">
                <a:alpha val="25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EF5B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5B5B"/>
                </a:solidFill>
                <a:latin typeface="Aptos"/>
                <a:ea typeface="Aptos"/>
                <a:cs typeface="Aptos"/>
              </a:rPr>
              <a:t>“nhắn nhé nhé”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A9EA4-2ABE-4E00-9915-C95854D7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76875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77E">
              <a:alpha val="10000"/>
            </a:srgbClr>
          </a:solidFill>
          <a:ln xmlns:a="http://schemas.openxmlformats.org/drawingml/2006/main" w="9525">
            <a:solidFill>
              <a:srgbClr val="15B77E">
                <a:alpha val="25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B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B77E"/>
                </a:solidFill>
                <a:latin typeface="Aptos"/>
                <a:ea typeface="Aptos"/>
                <a:cs typeface="Aptos"/>
              </a:rPr>
              <a:t>push · fix · staging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D29841-2529-4900-95F9-8EDCD714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76875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77E">
              <a:alpha val="10000"/>
            </a:srgbClr>
          </a:solidFill>
          <a:ln xmlns:a="http://schemas.openxmlformats.org/drawingml/2006/main" w="9525">
            <a:solidFill>
              <a:srgbClr val="15B77E">
                <a:alpha val="25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B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B77E"/>
                </a:solidFill>
                <a:latin typeface="Aptos"/>
                <a:ea typeface="Aptos"/>
                <a:cs typeface="Aptos"/>
              </a:rPr>
              <a:t>ping mình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B5759-E965-4C3B-91D4-79A21129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896600" cy="476250"/>
          </a:xfrm>
          <a:prstGeom xmlns:a="http://schemas.openxmlformats.org/drawingml/2006/main" prst="roundRect">
            <a:avLst>
              <a:gd name="adj" fmla="val 36000"/>
            </a:avLst>
          </a:prstGeom>
          <a:gradFill xmlns:a="http://schemas.openxmlformats.org/drawingml/2006/main">
            <a:gsLst>
              <a:gs pos="0">
                <a:srgbClr val="EEF4FF"/>
              </a:gs>
              <a:gs pos="100000">
                <a:srgbClr val="F3EEFF"/>
              </a:gs>
            </a:gsLst>
            <a:lin ang="5400000"/>
          </a:gra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68C243-4C9D-4289-B6DD-F1D370EE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48375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Trong ví dụ này, LinguaFlow giữ thuật ngữ IT và diễn đạt tự nhiên hơn Teams.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4C90DC-8803-4EBD-B548-41B2A51C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10a61c7a747bc"/>
          <a:stretch xmlns:a="http://schemas.openxmlformats.org/drawingml/2006/main"/>
        </p:blipFill>
        <p:spPr>
          <a:xfrm xmlns:a="http://schemas.openxmlformats.org/drawingml/2006/main">
            <a:off x="1106165" y="342900"/>
            <a:ext cx="778519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69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D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DE907C-37BF-4BAF-938E-5B14B23B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oundRect">
            <a:avLst>
              <a:gd name="adj" fmla="val 29412"/>
            </a:avLst>
          </a:prstGeom>
          <a:gradFill xmlns:a="http://schemas.openxmlformats.org/drawingml/2006/main">
            <a:gsLst>
              <a:gs pos="0">
                <a:srgbClr val="246BFD"/>
              </a:gs>
              <a:gs pos="100000">
                <a:srgbClr val="6D38F5"/>
              </a:gs>
            </a:gsLst>
            <a:lin ang="81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46A8E-A095-4FEC-8183-0CF4E8CB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C0FCF-49F1-4D09-8321-3F9F92D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LinguaFlow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3BDE7-09A6-4018-9316-320984EB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LÕI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E8EBE-9612-424F-A453-BA96945A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9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05353-E780-42FD-A5FB-24A2CFF7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92F8D-57DA-4F37-93D0-366BD074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E91CB-80D6-4A8C-A1B4-8E97451B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Mỗi người nhận một bản dịch được dựng theo ngữ cảnh riêng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5A9D6-4C13-45BA-8FDE-327D9E5F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Pipeline LangGraph — không gửi thẳng một câu chat vào LLM.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A44DC-D5B8-4E37-A42A-A6ECACFA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9431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060B4-2EDB-4822-B7FF-A621DA1D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67050"/>
            <a:ext cx="19431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25FC9-C5D7-49F8-89F5-7B3CDA8B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7050"/>
            <a:ext cx="19431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88711-C002-4BD9-81A7-877C4CDE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19431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8B54A-D50C-4B18-8094-867BB2F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67050"/>
            <a:ext cx="19431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10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14600" y="3924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F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24400" y="3924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F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34200" y="3924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FD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144000" y="3924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6BFD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E80A8-DD08-4451-8562-06F3C321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86125"/>
            <a:ext cx="5524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23B67-FF76-4654-8F89-B1FE4D08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6002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5 TIN GẦN NHẤT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F1805-27D7-4D4B-9172-1381A621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957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Giữ mạch hội thoại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EEF41-FA23-4160-94D3-2E1F2822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286125"/>
            <a:ext cx="5524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38F5"/>
          </a:solidFill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8233F-91BC-4A31-9A04-0CA62937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16002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D38F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38F5"/>
                </a:solidFill>
                <a:latin typeface="Aptos"/>
                <a:ea typeface="Aptos"/>
                <a:cs typeface="Aptos"/>
              </a:rPr>
              <a:t>HỒ SƠ NGƯỜI NHẬN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CA4FA7-2610-4021-BEF2-B7D7431D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957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vai vế · tone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3D6C1-C910-4F83-AAEA-189C2A17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86125"/>
            <a:ext cx="5524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77E"/>
          </a:solidFill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73E48-8F95-4814-8C85-C16ADAD2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19525"/>
            <a:ext cx="16002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5B77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B77E"/>
                </a:solidFill>
                <a:latin typeface="Aptos"/>
                <a:ea typeface="Aptos"/>
                <a:cs typeface="Aptos"/>
              </a:rPr>
              <a:t>GLOSSARY PHÙ HỢP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00A7CC-342D-4AC5-A209-B24B6CD0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957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domain · audience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7B84F3-40A4-4CF0-9769-DDAD5185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286125"/>
            <a:ext cx="5524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CFF"/>
          </a:solidFill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0A0788-C28E-4E94-AC30-2588CD1E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19525"/>
            <a:ext cx="16002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D8C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D8CFF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C5E2FC-F805-49FD-97A1-106DF92C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957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dịch theo 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63906E-9908-4B71-A77E-ABF2F120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86125"/>
            <a:ext cx="5524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0"/>
          </a:solidFill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A8B25B-C007-448E-B2A0-2E1C6F48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19525"/>
            <a:ext cx="16002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020"/>
                </a:solidFill>
                <a:latin typeface="Aptos"/>
                <a:ea typeface="Aptos"/>
                <a:cs typeface="Aptos"/>
              </a:rPr>
              <a:t>VALIDATE + FALLBACK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626218-A957-46D3-80AF-D911B16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957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không đứt luồng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CCD390-3188-4673-B171-06DA0C14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91125"/>
            <a:ext cx="86868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09182A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4EE37E-E944-4879-A161-116F5799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62575"/>
            <a:ext cx="803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tin nhắn  →  fan-out theo ngôn ngữ + vai vế + giọng điệu của từng người nhận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BD8C66B-8C22-4A53-8D60-9F491FE9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26ea9920c412a"/>
          <a:stretch xmlns:a="http://schemas.openxmlformats.org/drawingml/2006/main"/>
        </p:blipFill>
        <p:spPr>
          <a:xfrm xmlns:a="http://schemas.openxmlformats.org/drawingml/2006/main">
            <a:off x="1106165" y="342900"/>
            <a:ext cx="778519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978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17A1EF-B49E-4CCE-879C-364170F5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oundRect">
            <a:avLst>
              <a:gd name="adj" fmla="val 29412"/>
            </a:avLst>
          </a:prstGeom>
          <a:gradFill xmlns:a="http://schemas.openxmlformats.org/drawingml/2006/main">
            <a:gsLst>
              <a:gs pos="0">
                <a:srgbClr val="246BFD"/>
              </a:gs>
              <a:gs pos="100000">
                <a:srgbClr val="6D38F5"/>
              </a:gs>
            </a:gsLst>
            <a:lin ang="81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CC5C9-6092-4A7B-B758-D4AB0762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C984F-3948-42C5-A053-1AB71887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LinguaFlow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023B2-ABE7-4657-BE17-10C42CB1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KHÁC BIỆT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C35AE-977B-42A0-9744-E123FE8B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9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2B4F6-F992-48F6-8E9A-66B9C9D4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5BDCD-F51C-4713-9A70-4BE3ED96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MOAT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ED61A-B091-4877-82C7-03A9E4EB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96600" cy="895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Hai lớp tối ưu làm bản dịch “đúng người, đúng việc”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48C85-9278-4D18-BEE6-9CEA158E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5238750" cy="2857500"/>
          </a:xfrm>
          <a:prstGeom xmlns:a="http://schemas.openxmlformats.org/drawingml/2006/main" prst="roundRect">
            <a:avLst>
              <a:gd name="adj" fmla="val 8667"/>
            </a:avLst>
          </a:prstGeom>
          <a:gradFill xmlns:a="http://schemas.openxmlformats.org/drawingml/2006/main">
            <a:gsLst>
              <a:gs pos="0">
                <a:srgbClr val="EDF4FF"/>
              </a:gs>
              <a:gs pos="100000">
                <a:srgbClr val="FFFFFF"/>
              </a:gs>
            </a:gsLst>
            <a:lin ang="8100000"/>
          </a:gradFill>
          <a:ln xmlns:a="http://schemas.openxmlformats.org/drawingml/2006/main" w="9525">
            <a:solidFill>
              <a:srgbClr val="CFE0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972A6-0CEC-471D-B85D-10F3C8B4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5429250" cy="2857500"/>
          </a:xfrm>
          <a:prstGeom xmlns:a="http://schemas.openxmlformats.org/drawingml/2006/main" prst="roundRect">
            <a:avLst>
              <a:gd name="adj" fmla="val 8667"/>
            </a:avLst>
          </a:prstGeom>
          <a:gradFill xmlns:a="http://schemas.openxmlformats.org/drawingml/2006/main">
            <a:gsLst>
              <a:gs pos="0">
                <a:srgbClr val="F4EEFF"/>
              </a:gs>
              <a:gs pos="100000">
                <a:srgbClr val="FFFFFF"/>
              </a:gs>
            </a:gsLst>
            <a:lin ang="8100000"/>
          </a:gradFill>
          <a:ln xmlns:a="http://schemas.openxmlformats.org/drawingml/2006/main" w="9525">
            <a:solidFill>
              <a:srgbClr val="E1D4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2F0EE-DEE8-4648-8BB0-59BE56F2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78A2D-26EF-4840-9B3E-09EADFDC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71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ROLE-AWARE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A7EEF-5794-4494-AB61-492F7B49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422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Xưng hô theo quan hệ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8C516-CF7C-4554-864B-E44E569B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3F"/>
                </a:solidFill>
                <a:latin typeface="Aptos"/>
                <a:ea typeface="Aptos"/>
                <a:cs typeface="Aptos"/>
              </a:rPr>
              <a:t>senior · peer · junior · 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396B5-E64B-415B-9274-DF56C532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Tính theo vị thế tương đối giữa người gửi và người đọc.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C6935-EB11-42AB-8E43-C9327FE5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38F5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04987-A71C-45AD-B74B-90B200E0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17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38F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38F5"/>
                </a:solidFill>
                <a:latin typeface="Aptos"/>
                <a:ea typeface="Aptos"/>
                <a:cs typeface="Aptos"/>
              </a:rPr>
              <a:t>DOMAIN-AWARE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89314-F5CF-4B81-8CF3-1E9647DB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242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Thuật ngữ theo lĩnh vực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AD6C5-2F73-4B41-823C-636EFCC9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8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33F"/>
                </a:solidFill>
                <a:latin typeface="Aptos"/>
                <a:ea typeface="Aptos"/>
                <a:cs typeface="Aptos"/>
              </a:rPr>
              <a:t>88 glossary terms đang active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68A27-CD05-40C4-8C40-DDB239A5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3387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Lọc theo domain và audience trước khi đưa vào prompt.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51D66F-C1C1-4285-A922-85EA3029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108966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61CF3-17B2-4E1F-9CAE-2EDEABA5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00725"/>
            <a:ext cx="1040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Mỗi người nhận một bản dịch riêng — cùng ý nghĩa, khác cách diễn đạt phù hợp.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51AD4-C907-48B7-903F-F744C5CA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961cdbe6f4946"/>
          <a:stretch xmlns:a="http://schemas.openxmlformats.org/drawingml/2006/main"/>
        </p:blipFill>
        <p:spPr>
          <a:xfrm xmlns:a="http://schemas.openxmlformats.org/drawingml/2006/main">
            <a:off x="1106165" y="342900"/>
            <a:ext cx="778519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69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D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532AD8-C30B-48FD-8B53-ECB7E859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oundRect">
            <a:avLst>
              <a:gd name="adj" fmla="val 29412"/>
            </a:avLst>
          </a:prstGeom>
          <a:gradFill xmlns:a="http://schemas.openxmlformats.org/drawingml/2006/main">
            <a:gsLst>
              <a:gs pos="0">
                <a:srgbClr val="246BFD"/>
              </a:gs>
              <a:gs pos="100000">
                <a:srgbClr val="6D38F5"/>
              </a:gs>
            </a:gsLst>
            <a:lin ang="81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3F804-372D-4FC0-81F1-BC58F6AF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2039F-EB73-438B-871B-9CF98593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LinguaFlow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CB494-36DE-435B-83F7-C834B96A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BẰNG CHỨNG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F4F6B-B178-44BB-BC68-7276EEE2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9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5A90-9B7A-4DBC-8846-5E8C7FA2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2BEF9-99C0-4C9D-995C-2E743F9F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BUILT &amp; TESTED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E340C-77A1-4D81-8A95-1669A058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Đã chạy end-to-end — không phải mockup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A6197-7665-4582-9FD2-D28CAAB4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Backend, frontend, database, observability và pipeline dịch đã kết nối.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C84FA-1B4A-4C09-9016-4721EC9D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2476500" cy="1952625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2C00A-99C0-4639-8E3F-77E20E90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2476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9FA8C-3A0C-4ABF-9707-92508931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43/43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1C0A7-D585-46A6-975A-E7C48FCC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TEST CỐT LÕI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74C2A-44CE-4918-A256-7585D6A8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E60C1-3032-446E-B622-E9AB5868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76550"/>
            <a:ext cx="2476500" cy="1952625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066D4-3B26-470C-B632-4C0BAD4F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76550"/>
            <a:ext cx="2476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38F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C0E3B-12F6-4C92-BBD6-403505F7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F8CE8-CAB2-4006-BF87-0253AC4B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38F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38F5"/>
                </a:solidFill>
                <a:latin typeface="Aptos"/>
                <a:ea typeface="Aptos"/>
                <a:cs typeface="Aptos"/>
              </a:rPr>
              <a:t>MẪU 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1DEBE-78D5-40B6-B188-0D622445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95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Gemini 3.7 Flash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749EB-29A8-413B-9D38-89188374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476500" cy="1952625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9B14BD-3FE5-4512-932B-5757E759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476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77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888E9-7D37-4E36-874E-D237948D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0.912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380473-00F2-4AB7-9BAC-0BDA2672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5B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B77E"/>
                </a:solidFill>
                <a:latin typeface="Aptos"/>
                <a:ea typeface="Aptos"/>
                <a:cs typeface="Aptos"/>
              </a:rPr>
              <a:t>JUDGE 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E4130-56A6-4299-BA0E-6B9EB2E6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trung bình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B4CD30-E758-40F3-8EBD-89DD133A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76550"/>
            <a:ext cx="2476500" cy="1952625"/>
          </a:xfrm>
          <a:prstGeom xmlns:a="http://schemas.openxmlformats.org/drawingml/2006/main" prst="roundRect">
            <a:avLst>
              <a:gd name="adj" fmla="val 117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C8F4A2-E18C-4BAB-91B1-5A73FCC1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76550"/>
            <a:ext cx="2476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732254-C035-4D41-BD95-AD082D7C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96.6%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931C2-619A-4D6F-829F-43A66D91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B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020"/>
                </a:solidFill>
                <a:latin typeface="Aptos"/>
                <a:ea typeface="Aptos"/>
                <a:cs typeface="Aptos"/>
              </a:rPr>
              <a:t>ĐÚNG NGÔN NGỮ ĐÍCH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2850F5-34E1-4261-AFD6-E51FB6C0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95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trên eval 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76695B-50E9-4289-A4AB-9C2A7A88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10782300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9182A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D03BBF-F296-48F6-AEA2-7B343798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340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Lưu ý: eval hiện dùng LLM-as-judge — bước tiếp theo là human evaluation theo domain.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79844F-28EA-406F-9E07-9B439B3C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095375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77E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5009F9-DDCD-4988-AC34-6E897FC6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aca77bf054142"/>
          <a:stretch xmlns:a="http://schemas.openxmlformats.org/drawingml/2006/main"/>
        </p:blipFill>
        <p:spPr>
          <a:xfrm xmlns:a="http://schemas.openxmlformats.org/drawingml/2006/main">
            <a:off x="1106165" y="342900"/>
            <a:ext cx="778519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264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D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A1621B-D1E8-4ED9-8030-6BFFA082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oundRect">
            <a:avLst>
              <a:gd name="adj" fmla="val 29412"/>
            </a:avLst>
          </a:prstGeom>
          <a:gradFill xmlns:a="http://schemas.openxmlformats.org/drawingml/2006/main">
            <a:gsLst>
              <a:gs pos="0">
                <a:srgbClr val="246BFD"/>
              </a:gs>
              <a:gs pos="100000">
                <a:srgbClr val="6D38F5"/>
              </a:gs>
            </a:gsLst>
            <a:lin ang="8100000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828B8-5022-4194-8645-A79FE019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C0707-EBBC-4262-80B5-DF13E9E2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LinguaFlow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27DB9-BE63-4DD9-B939-D0C8B922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1CF16-694B-47CE-9C42-119AB74D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95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38F01-43FA-48A5-9FD6-19D6C6BF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E38C8-249B-408E-936F-3B23462E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PILOT TO 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84DB5-4787-4BBC-86C8-591CEA1D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81B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81B3A"/>
                </a:solidFill>
                <a:latin typeface="Aptos"/>
                <a:ea typeface="Aptos"/>
                <a:cs typeface="Aptos"/>
              </a:rPr>
              <a:t>Bắt đầu với team dự án đa ngôn ngữ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948BD-455C-47A8-BA2E-E3E90D1A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Lộ trình đề xuất: xác thực workflow, đóng gói theo workspace, rồi mở rộng qua tích hợp.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92D88-CD31-4561-BB72-0A2C1CD2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3622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A47B8-DD49-46C6-A0DB-2CDC9EEF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23622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79A37-8FA8-47CF-8A47-829897FE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23622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0357C-5B06-483C-8351-A29439F2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23622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cxnSp>
        <p:nvCxnSpPr>
          <p:cNvPr id="9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48000" y="4000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8CFF"/>
            </a:solidFill>
            <a:prstDash val="dash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53100" y="4000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8CFF"/>
            </a:solidFill>
            <a:prstDash val="dash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458200" y="4000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8CFF"/>
            </a:solidFill>
            <a:prstDash val="dash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8E2E2-B457-474B-BD0C-109CB83D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742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C8B3A-1E8E-4AF3-A9F3-903956D6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SẢN PHẨM ĐÃ SẴN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73452-08A1-4E9C-AEDB-70958737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2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33F"/>
                </a:solidFill>
                <a:latin typeface="Aptos"/>
                <a:ea typeface="Aptos"/>
                <a:cs typeface="Aptos"/>
              </a:rPr>
              <a:t>role · domain · fallback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519FB-C971-4DF6-9C3F-624BFC3E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76600"/>
            <a:ext cx="742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38F5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A5205-3961-4E28-A108-0962FD73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D38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38F5"/>
                </a:solidFill>
                <a:latin typeface="Aptos"/>
                <a:ea typeface="Aptos"/>
                <a:cs typeface="Aptos"/>
              </a:rPr>
              <a:t>PILOT TEAMS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1C513-0EFE-4CF8-B305-11107EF5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338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2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33F"/>
                </a:solidFill>
                <a:latin typeface="Aptos"/>
                <a:ea typeface="Aptos"/>
                <a:cs typeface="Aptos"/>
              </a:rPr>
              <a:t>xác thực workflow · 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AA74B-979D-482D-B79F-226917A0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742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B77E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66A0A6-D616-4D42-BC6C-BB7E34B2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B77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B77E"/>
                </a:solidFill>
                <a:latin typeface="Aptos"/>
                <a:ea typeface="Aptos"/>
                <a:cs typeface="Aptos"/>
              </a:rPr>
              <a:t>WORKSPACE SaaS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4164F2-8F8A-458E-8D79-03114727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338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2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33F"/>
                </a:solidFill>
                <a:latin typeface="Aptos"/>
                <a:ea typeface="Aptos"/>
                <a:cs typeface="Aptos"/>
              </a:rPr>
              <a:t>gói theo team · theo nhu cầu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D5E2F-5861-47FB-9736-BFDAEA15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76600"/>
            <a:ext cx="742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20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86B758-8317-48D0-AA26-C34BB243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0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020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4AC2B0-2D6D-4E91-A3FB-EB7B3BD6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3387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2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33F"/>
                </a:solidFill>
                <a:latin typeface="Aptos"/>
                <a:ea typeface="Aptos"/>
                <a:cs typeface="Aptos"/>
              </a:rPr>
              <a:t>Teams · Slack · chat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FE5D57-CCAB-4FB0-9E40-3A9719D0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19725"/>
            <a:ext cx="87630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AFBFF"/>
          </a:solidFill>
          <a:ln xmlns:a="http://schemas.openxmlformats.org/drawingml/2006/main" w="9525">
            <a:solidFill>
              <a:srgbClr val="DCE6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FD1169-DDAF-4429-B0F6-14BB9F88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81650"/>
            <a:ext cx="815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918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9182A"/>
                </a:solidFill>
                <a:latin typeface="Aptos"/>
                <a:ea typeface="Aptos"/>
                <a:cs typeface="Aptos"/>
              </a:rPr>
              <a:t>Kế hoạch: biến dịch có ngữ cảnh thành một quy trình làm việc hằng ngày.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E63B59-6520-4E09-BA57-8EBF1E68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d8f5b714248ad"/>
          <a:stretch xmlns:a="http://schemas.openxmlformats.org/drawingml/2006/main"/>
        </p:blipFill>
        <p:spPr>
          <a:xfrm xmlns:a="http://schemas.openxmlformats.org/drawingml/2006/main">
            <a:off x="1106165" y="342900"/>
            <a:ext cx="778519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869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53647-A53A-417C-8985-39A52592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2385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16000"/>
                </a:srgbClr>
              </a:gs>
              <a:gs pos="72000">
                <a:srgbClr val="FFFFFF">
                  <a:alpha val="0"/>
                </a:srgbClr>
              </a:gs>
            </a:gsLst>
            <a:path path="shape"/>
          </a:gra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51DC8-A6FA-4458-A47C-C96432F3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857500" cy="209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6BFD">
                  <a:alpha val="34000"/>
                </a:srgbClr>
              </a:gs>
              <a:gs pos="72000">
                <a:srgbClr val="246BFD">
                  <a:alpha val="0"/>
                </a:srgbClr>
              </a:gs>
            </a:gsLst>
            <a:path path="shape"/>
          </a:gra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41315-C124-4CAE-92E3-31B9E269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352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46BF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BFD"/>
                </a:solidFill>
                <a:latin typeface="Aptos"/>
                <a:ea typeface="Aptos"/>
                <a:cs typeface="Aptos"/>
              </a:rPr>
              <a:t>LINGUAFLOW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351ED-EBC1-4769-AE50-13DD64E6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Mỗi người một ngôn ngữ.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Cả nhóm một ngữ cảnh.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7993F-F46F-4889-B6FC-FF9EF4EF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DE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DE8FF"/>
                </a:solidFill>
                <a:latin typeface="Aptos"/>
                <a:ea typeface="Aptos"/>
                <a:cs typeface="Aptos"/>
              </a:rPr>
              <a:t>Cùng biến giao tiếp đa ngôn ngữ thành lợi thế làm việc.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B4F22-D12E-485E-9F58-EB6E50CA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FF991-0DA0-470B-9149-B7B01F04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CẦN: ĐỘI PILOT + MENTOR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0D3C8-CD0D-4DB5-9942-949730B2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DE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8FF"/>
                </a:solidFill>
                <a:latin typeface="Aptos"/>
                <a:ea typeface="Aptos"/>
                <a:cs typeface="Aptos"/>
              </a:rPr>
              <a:t>NHÓM 4U  ·  P-217  ·  LINGUAFLOW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7638B-80FC-4D44-AFF7-5E734910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197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06C9E-A7E4-406B-9478-1683D40B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4825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b432eb25744bc"/>
          <a:stretch xmlns:a="http://schemas.openxmlformats.org/drawingml/2006/main"/>
        </p:blipFill>
        <p:spPr>
          <a:xfrm xmlns:a="http://schemas.openxmlformats.org/drawingml/2006/main">
            <a:off x="1154894" y="533400"/>
            <a:ext cx="947763" cy="533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903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2026-09-01T16:46:40.0130000Z</dcterms:created>
  <dcterms:modified xsi:type="dcterms:W3CDTF">2026-09-01T16:46:40.0140000Z</dcterms:modified>
</coreProperties>
</file>